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e448fab8-2025-44bb-0fe9-d3b78d94f240}">
          <p14:sldIdLst>
            <p14:sldId id="257"/>
          </p14:sldIdLst>
        </p14:section>
        <p14:section name="Pipeline" id="{92ab296a-62a7-4e33-ef17-1fbe706e55ef}">
          <p14:sldIdLst>
            <p14:sldId id="258"/>
          </p14:sldIdLst>
        </p14:section>
        <p14:section name="Model" id="{0e802d9e-ed66-0fc4-419a-ccb58e1bb9cc}">
          <p14:sldIdLst>
            <p14:sldId id="259"/>
            <p14:sldId id="260"/>
            <p14:sldId id="261"/>
          </p14:sldIdLst>
        </p14:section>
        <p14:section name="Serving" id="{a4110ffc-2b05-f5c8-84c1-1db9426916ce}">
          <p14:sldIdLst>
            <p14:sldId id="262"/>
          </p14:sldIdLst>
        </p14:section>
        <p14:section name="Advisor" id="{72bc23f3-f4e2-f6b9-021d-b092f1f7e9f6}">
          <p14:sldIdLst>
            <p14:sldId id="263"/>
          </p14:sldIdLst>
        </p14:section>
        <p14:section name="Security" id="{2adbfe78-fd6d-47ee-5156-4ab37fe49652}">
          <p14:sldIdLst>
            <p14:sldId id="264"/>
          </p14:sldIdLst>
        </p14:section>
        <p14:section name="Run" id="{22aad1a6-d03c-f0d0-a5dc-e1edfd913cbc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B2430"/>
                </a:solidFill>
                <a:latin typeface="+mn-lt"/>
              </a:rPr>
              <a:t>5-fold cross-validated ROC-AUC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ROC-AUC</c:v>
                </c:pt>
              </c:strCache>
            </c:strRef>
          </c:tx>
          <c:spPr>
            <a:solidFill>
              <a:srgbClr val="7A5CC4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gradient boosting</c:v>
                  </c:pt>
                  <c:pt idx="3">
                    <c:v>svm rbf</c:v>
                  </c:pt>
                  <c:pt idx="4">
                    <c:v>logistic regression tuned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0.8374</c:v>
                </c:pt>
                <c:pt idx="1">
                  <c:v>0.8233</c:v>
                </c:pt>
                <c:pt idx="2">
                  <c:v>0.8203</c:v>
                </c:pt>
                <c:pt idx="3">
                  <c:v>0.814</c:v>
                </c:pt>
                <c:pt idx="4">
                  <c:v>0.8405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6"/>
          <c:min val="0.75"/>
        </c:scaling>
        <c:delete val="0"/>
        <c:axPos val="b"/>
        <c:majorGridlines>
          <c:spPr>
            <a:ln w="6350" cap="flat">
              <a:solidFill>
                <a:srgbClr val="D9DEE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8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Project Feasibility Prediction | portfolio prototype on synthetic data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Project Feasibility Prediction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accent1"/>
                </a:solidFill>
              </a:rPr>
              <a:t>scikit-learn pipeline, interpretable logistic regression, drift monitoring and a LangGraph advisor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Why: consistent, explainable intake decisions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178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45034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Inconsistent reviews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Similar projects get different verdicts depending on who reviews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5060" y="1325880"/>
            <a:ext cx="54178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77940" y="15087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779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972300" y="1463040"/>
            <a:ext cx="45034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Opaque reasoning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Boards need to know which factors drive risk, not just a score.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54178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291840"/>
            <a:ext cx="45034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Dirty data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Missing fields, unit errors, invalid codes and duplicates in the intake history.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95060" y="3154680"/>
            <a:ext cx="54178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77940" y="3337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79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72300" y="3291840"/>
            <a:ext cx="45034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Goal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Calibrated probability + drivers + mitigations, monitored for drift, behind an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End-to-end ML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Validate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duplicates, missing, ranges, categories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8236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3840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9326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Clean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unit fix, normalise, null impossible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7212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32816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8302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Features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budget/week, staffing pressure, ...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6188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7278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Preprocess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median impute, scale, one-hot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85164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10768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6254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Compare + tune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5-fold CV, GridSearchCV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741408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997440" y="1463040"/>
            <a:ext cx="161544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2304" y="1463040"/>
            <a:ext cx="1505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Evaluate + card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hold-out, calibration, model card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1546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scikit-learn Pipeline object holds feature engineering, preprocessing and the model, so serving uses exactly the training code. The data-validation report found the planted problems: 12 duplicates, ~50 missing values per field, 7 budget unit errors, 6 invalid TRL codes, upper-case category drift.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Model selection: interpretability within 0.02 AUC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6583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58952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0.8737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758952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ROC-AUC (hold-out)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601200" y="14630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0.8365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9601200" y="2194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PR-AUC (hold-out)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0.7389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F1 (hold-out)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60120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0.1443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9601200" y="3566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Brier (hold-out)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38912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Chosen: logistic regression tuned - best cross-validated AUC and the most interpretable model. Tuned over C and l1_ratio (L2 / elastic net / L1).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What drives feasibility (standardised coefficients)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0"/>
                <a:gridCol w="292608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Coefficient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Odds ratio per SD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tech readiness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0.874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2.396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complexity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-0.543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0.581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log budget per week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0.4798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1.616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staffing pressure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-0.3986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0.671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team experience years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0.3735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1.453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project type ai ml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-0.3712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resource availability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0.3132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1.368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project type application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0.2902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1.337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readiness_gap (= 9 - TRL) was removed: perfectly collinear with TRL, it split one effect into two opposite coefficients.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Decision threshold is a business choice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2860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Threshold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Precision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Recall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Share approved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0.3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0.662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0.885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0.757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0.579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0.35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0.677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0.846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0.752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0.542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0.4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0.726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0.817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0.769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0.487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0.45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0.748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0.772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0.463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0.5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0.721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0.739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0.412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0.55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0.798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0.683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0.736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0.371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0.6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0.808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0.606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0.692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0.325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0.65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0.853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0.558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0.674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0.283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</a:rPr>
                        <a:t>0.7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0.87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0.452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0.595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0.225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Default 0.5; 0.45 maximises F1; 0.65 gives precision ~0.85 for a conservative board.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Serving: explanation, OOD and drift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3716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Explanation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contribution = coefficient x standardised value -&gt; top positive / negative drivers in business language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46888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Input guardrails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pydantic types, categories and ranges (422); out-of-distribution warnings vs training range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11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5661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Drift (PSI)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rolling window vs training histogram in the model card: stable &lt; 0.1 &lt; moderate &lt; 0.25 &lt; significant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46634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 training sample PSI ~0.02; complexity +3 -&gt; 2.39 (significant)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LangGraph advisor: LLM only where it adds value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99339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03504" y="146304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guard_notes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prompt-injection check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560320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16352" y="1463040"/>
            <a:ext cx="199339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71216" y="146304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predict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sklearn model as a tool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28032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84064" y="1463040"/>
            <a:ext cx="199339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38928" y="146304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retrieve_playbook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BM25 by negative drivers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095744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51776" y="1463040"/>
            <a:ext cx="199339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06640" y="146304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advise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LLM: why + 2-4 mitigations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363456" y="2148840"/>
            <a:ext cx="237744" cy="914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619488" y="1463040"/>
            <a:ext cx="1993392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74352" y="1463040"/>
            <a:ext cx="18836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guard_output</a:t>
            </a:r>
            <a:endParaRPr lang="en-US" sz="14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numeric grounding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1546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probability comes from the model, never from the LLM. The playbook has 7 sections, so keyword retrieval is enough - no vector store. Without Ollama the advisor falls back to drivers + playbook text. RAGAS is not used here: there is no retrieval-augmented generation in the decision path.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Sample roles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72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Capabilities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project_manager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predict, advise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portfolio_director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predict, advise, batch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data_scientist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predict, batch, model card, drift, retrain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</a:rPr>
                        <a:t>stakeholder_viewer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</a:rPr>
                        <a:t>predict (score only, no drivers)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Run, test and monitor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2604668"/>
          </a:xfrm>
          <a:prstGeom prst="roundRect">
            <a:avLst>
              <a:gd name="adj" fmla="val 280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90472"/>
            <a:ext cx="10607040" cy="2275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04-project-feasibility-ml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feasibility.train                       # compare, tune, evaluate, save model + card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feasibility.cli score data/raw/new_projects.csv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feasibility.api:app --port 8004           # http://localhost:8004/docs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ui/streamlit_app.py --server.port 8504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localhost:8004/drift -H "X-API-Key: ds-demo-key"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localhost:8004/metrics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-q                                         # 11 tests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eval.run_eval                           # metrics + threshold sweep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Next steps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2103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Calibrate with real intake outcomes; add isotonic calibration if needed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Scheduled retraining with champion / challenger comparison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5661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566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Alert on PSI &gt; 0.25 and on OOD rate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Advisor feedback loop into the playbook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folio">
  <a:themeElements>
    <a:clrScheme name="Portfolio">
      <a:dk1>
        <a:srgbClr val="1B2430"/>
      </a:dk1>
      <a:lt1>
        <a:srgbClr val="FFFFFF"/>
      </a:lt1>
      <a:dk2>
        <a:srgbClr val="24303D"/>
      </a:dk2>
      <a:lt2>
        <a:srgbClr val="EEF1F4"/>
      </a:lt2>
      <a:accent1>
        <a:srgbClr val="7A5CC4"/>
      </a:accent1>
      <a:accent2>
        <a:srgbClr val="D64933"/>
      </a:accent2>
      <a:accent3>
        <a:srgbClr val="2D7DD2"/>
      </a:accent3>
      <a:accent4>
        <a:srgbClr val="2E9E6B"/>
      </a:accent4>
      <a:accent5>
        <a:srgbClr val="6B7785"/>
      </a:accent5>
      <a:accent6>
        <a:srgbClr val="7A5CC4"/>
      </a:accent6>
      <a:hlink>
        <a:srgbClr val="2D7DD2"/>
      </a:hlink>
      <a:folHlink>
        <a:srgbClr val="7A5CC4"/>
      </a:folHlink>
    </a:clrScheme>
    <a:fontScheme name="Portfoli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Feasibility Prediction</dc:title>
  <dc:subject>PptxGenJS Presentation</dc:subject>
  <dc:creator>PptxGenJS</dc:creator>
  <cp:lastModifiedBy>PptxGenJS</cp:lastModifiedBy>
  <cp:revision>1</cp:revision>
  <dcterms:created xsi:type="dcterms:W3CDTF">2026-10-11T15:00:23Z</dcterms:created>
  <dcterms:modified xsi:type="dcterms:W3CDTF">2026-10-11T15:00:23Z</dcterms:modified>
</cp:coreProperties>
</file>