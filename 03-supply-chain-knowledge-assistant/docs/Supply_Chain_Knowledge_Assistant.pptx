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" id="{9a71b637-e855-685f-eef2-c217df423794}">
          <p14:sldIdLst>
            <p14:sldId id="257"/>
          </p14:sldIdLst>
        </p14:section>
        <p14:section name="RAG pipeline" id="{9e3f5571-e522-5345-c850-65a67f8be2d5}">
          <p14:sldIdLst>
            <p14:sldId id="258"/>
            <p14:sldId id="259"/>
          </p14:sldIdLst>
        </p14:section>
        <p14:section name="Architecture" id="{59fbbe7a-ac42-dde5-9686-6e8d419321b4}">
          <p14:sldIdLst>
            <p14:sldId id="260"/>
          </p14:sldIdLst>
        </p14:section>
        <p14:section name="Security" id="{af2e4ce8-6339-b41a-ef64-c64b7cfd1304}">
          <p14:sldIdLst>
            <p14:sldId id="261"/>
            <p14:sldId id="262"/>
          </p14:sldIdLst>
        </p14:section>
        <p14:section name="Quality" id="{af97c41b-32d3-4f11-dd88-4ec74286af3a}">
          <p14:sldIdLst>
            <p14:sldId id="263"/>
          </p14:sldIdLst>
        </p14:section>
        <p14:section name="Operations" id="{1d19498d-9b7c-4b83-3014-34d7651f600f}">
          <p14:sldIdLst>
            <p14:sldId id="264"/>
          </p14:sldIdLst>
        </p14:section>
        <p14:section name="Run" id="{345b31ea-516b-2bc3-b0d2-2a7641a205e4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Supply Chain Knowledge Assistant | portfolio prototype on synthetic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Supply Chain Knowledge Assistant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Multimodal RAG over PDF, Word, HTML, CSV and extracted figures - Llama over REST, LangGraph, ChromaDB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Why: controlled knowledge is locked in documents and figures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630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Many formats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SOPs as PDF, deviations in Word, supplier status in HTML, lot data in CSV.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12920" y="13258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9580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958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090160" y="14630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Answers hide in figures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Decision flowcharts, network maps and logger charts carry facts found nowhere in text.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77200" y="13258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008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6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854440" y="14630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Access is regulated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Confidential deviations must not reach partners or the wrong teams.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337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2918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Slow root-cause work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Investigators read whole documents to find one excursion rule or lot status.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12920" y="31546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95800" y="3337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958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090160" y="32918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Goal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Ask, summarise or search across all formats - with citations, figures and clearance enforced.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77200" y="31546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60080" y="3337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6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854440" y="32918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Integration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Llama-based model behind REST APIs so enterprise apps can call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Ingestion: every format to Markdown, figures to captions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6154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3504" y="1463040"/>
            <a:ext cx="15057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PDF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pdfplumber text + tables, font-size headings; PyMuPDF images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182368" y="2148840"/>
            <a:ext cx="237744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438400" y="1463040"/>
            <a:ext cx="16154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93264" y="1463040"/>
            <a:ext cx="15057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Word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heading styles, tables, inline pictures in order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72128" y="2148840"/>
            <a:ext cx="237744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28160" y="1463040"/>
            <a:ext cx="16154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83024" y="1463040"/>
            <a:ext cx="15057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HTML / MD / CSV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BeautifulSoup; rows -&gt; records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61888" y="2148840"/>
            <a:ext cx="237744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17920" y="1463040"/>
            <a:ext cx="16154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72784" y="1463040"/>
            <a:ext cx="15057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Image markers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[[IMAGE:id]] kept where the figure appears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51648" y="2148840"/>
            <a:ext cx="237744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07680" y="1463040"/>
            <a:ext cx="16154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62544" y="1463040"/>
            <a:ext cx="15057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Vision captions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gemma3:4b transcribes + describes; cached by hash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741408" y="2148840"/>
            <a:ext cx="237744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997440" y="1463040"/>
            <a:ext cx="16154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2304" y="1463040"/>
            <a:ext cx="15057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Chunks + embed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text | table | image | record -&gt; nomic -&gt; ChromaDB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15468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Each figure becomes its own 'image' chunk under the section heading where it appeared, so a question about the excursion flowchart cites 'SOP-CC-001 &gt; Monitoring' and the UI shows the figure. Chunks never cross sections; tables stay whole up to 2,500 chars; CSV rows are one chunk each; every chunk carries its document classification.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389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50 chunks: 14 text, 2 table, 1 mixed, 3 image, 30 record.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Image extraction: a figure becomes searchable</a:t>
            </a:r>
            <a:endParaRPr lang="en-US" sz="3400" dirty="0"/>
          </a:p>
        </p:txBody>
      </p:sp>
      <p:pic>
        <p:nvPicPr>
          <p:cNvPr id="3" name="Image 0" descr="C:\AI\ai-engineering-portfolio\03-supply-chain-knowledge-assistant\data\extracted\images\SOP-CC-001_p1_im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669280" cy="392277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92240" y="1325880"/>
            <a:ext cx="5120640" cy="3931920"/>
          </a:xfrm>
          <a:prstGeom prst="roundRect">
            <a:avLst>
              <a:gd name="adj" fmla="val 186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675120" y="146304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Vision caption (gemma3:4b, cached)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Text: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Figure 1 - Temperature Excursion Decision Flow (2-8 C products)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Data logger alarm: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temperature outside 2-8 C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Excursion above 8 C for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more than 2 hours cumulative?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YES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Quarantine (HOLD)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notify QA within 4 hours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Any reading above 25 C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or frozen (below 0 C)?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YES: reject lot | NO: stability review by QA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Description: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The figure illustrates a decision flow for managing temperature excursions affecting 2-8°C products within 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Extracted from page 1 of SOP-CC-001 (PDF) with PyMuPDF, captioned once, embedded as an 'image' chunk. Question: 'What should happen if a 2-8 C product is above 8 C for more than 2 hours?' is answered from this figure.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Single-agent RAG workflow (LangGraph)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4173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3504" y="1554480"/>
            <a:ext cx="1307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guard_input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injection, medical, actions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984248" y="2057400"/>
            <a:ext cx="146304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148840" y="1554480"/>
            <a:ext cx="14173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03704" y="1554480"/>
            <a:ext cx="1307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classify_task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qa | summarize | search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84448" y="2057400"/>
            <a:ext cx="146304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749040" y="1554480"/>
            <a:ext cx="14173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03904" y="1554480"/>
            <a:ext cx="1307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authorize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task + clearance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84648" y="2057400"/>
            <a:ext cx="146304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349240" y="1554480"/>
            <a:ext cx="14173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04104" y="1554480"/>
            <a:ext cx="1307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retrieve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clearance filter first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84848" y="2057400"/>
            <a:ext cx="146304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949440" y="1554480"/>
            <a:ext cx="14173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04304" y="1554480"/>
            <a:ext cx="1307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grade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relevance floor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385048" y="2057400"/>
            <a:ext cx="146304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549640" y="1554480"/>
            <a:ext cx="14173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04504" y="1554480"/>
            <a:ext cx="1307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generate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prompt template v1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985248" y="2057400"/>
            <a:ext cx="146304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149840" y="1554480"/>
            <a:ext cx="14173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204704" y="1554480"/>
            <a:ext cx="1307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verify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numbers + IDs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29260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Why a single agent: one knowledge domain and three tasks - a multi-agent design would add LLM calls and nondeterminism without new capability. Search needs no LLM at all; QA and summaries use one call each with versioned ChatPromptTemplates (qa/v1, summarize/v1 brief | detailed | executive).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114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REST endpoints for enterprise integration: POST /ask, /summarize, /search; GET /documents (clearance-filtered), /images/{id} (403 if not cleared), /metrics, /roles.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Sample roles and document clearance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51206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Clearance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Tasks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supply_planner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internal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qa, search, summarize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quality_assurance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confidential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qa, search, summarize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regulatory_affairs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confidential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qa, search, summarize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logistics_partner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public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qa, search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Classification (public &lt; internal &lt; confidential) is applied as a retrieval filter before ranking - restricted text never reaches the prompt.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Guardrails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630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Medical advice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Dosing / patient-use questions refused - supply-chain answers only.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12920" y="13258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9580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958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090160" y="14630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QA decisions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Release / reject / quarantine / recall commands refused; procedures explained.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77200" y="13258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008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6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854440" y="14630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Access control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Clearance filter before retrieval; image and summary endpoints check classification.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337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2918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Grounding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Numbers and LOT- / SHP- / DEV- / SOP- / CAPA- IDs must appear in retrieved context.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12920" y="31546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95800" y="3337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958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090160" y="32918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Injection + PII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Override attempts blocked; emails / phones redacted.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77200" y="31546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60080" y="3337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6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854440" y="32918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 guessing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Nothing relevant -&gt; 'The documents I can access do not cover this.'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Evaluation results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6949440"/>
                <a:gridCol w="411480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Retrieval hit@6 / MRR (10 questions)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1 / 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hit rate - table questions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hit rate - text questions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hit rate - image questions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hit rate - record questions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Image chunk retrieved for figure questions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Restricted chunks returned to logistics_partner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Guardrails precision / recall (11)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1 / 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RAGAS non-LLM context precision / recall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0.888 / 0.625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RAGAS LLM-judged: Which packaging configuration is used for lane 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faith n/a | grounded 0.75 | recall 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RAGAS LLM-judged: How often does the data logger record temperatur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faith n/a | grounded 0.75 | recall 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Monitoring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356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63040"/>
            <a:ext cx="2621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LangSmith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traces of retrieval and generation; tags role / channel; feedback as user_rating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12920" y="1325880"/>
            <a:ext cx="35356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9580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958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090160" y="1463040"/>
            <a:ext cx="2621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/metrics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supplykb_requests_total{intent,role,outcome}, latency histogram, guardrail blocks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77200" y="1325880"/>
            <a:ext cx="35356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008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6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854440" y="1463040"/>
            <a:ext cx="2621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Audit log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logs/audit.jsonl - question, task, citations, guardrails, latency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Run and test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64240" cy="2604668"/>
          </a:xfrm>
          <a:prstGeom prst="roundRect">
            <a:avLst>
              <a:gd name="adj" fmla="val 280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90472"/>
            <a:ext cx="10607040" cy="2275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03-supply-chain-knowledge-assistant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gemma3:4b                       # vision model for captions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supplykb.vision                   # caption extracted figures (cached)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supplykb.ingest                   # 50 chunks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supplykb.api:app --port 8003        # http://localhost:8003/docs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ui/streamlit_app.py --server.port 8503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-q                                   # 18 tests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eval.run_eval                     # hit@k by source type, leakage, guardrails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eval.ragas_eval --optimize --llm 2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Next steps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2103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Connect to the document management system with revision-aware re-ingestion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834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OCR for scanned PDFs; richer chart extraction (data series)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566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566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Department-level access groups on top of clearance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2976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Stronger judge model for LLM-judged RAGAS in CI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rtfolio">
  <a:themeElements>
    <a:clrScheme name="Portfolio">
      <a:dk1>
        <a:srgbClr val="1B2430"/>
      </a:dk1>
      <a:lt1>
        <a:srgbClr val="FFFFFF"/>
      </a:lt1>
      <a:dk2>
        <a:srgbClr val="24303D"/>
      </a:dk2>
      <a:lt2>
        <a:srgbClr val="EEF1F4"/>
      </a:lt2>
      <a:accent1>
        <a:srgbClr val="2E9E6B"/>
      </a:accent1>
      <a:accent2>
        <a:srgbClr val="D64933"/>
      </a:accent2>
      <a:accent3>
        <a:srgbClr val="2D7DD2"/>
      </a:accent3>
      <a:accent4>
        <a:srgbClr val="2E9E6B"/>
      </a:accent4>
      <a:accent5>
        <a:srgbClr val="6B7785"/>
      </a:accent5>
      <a:accent6>
        <a:srgbClr val="7A5CC4"/>
      </a:accent6>
      <a:hlink>
        <a:srgbClr val="2D7DD2"/>
      </a:hlink>
      <a:folHlink>
        <a:srgbClr val="7A5CC4"/>
      </a:folHlink>
    </a:clrScheme>
    <a:fontScheme name="Portfoli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Knowledge Assistant</dc:title>
  <dc:subject>PptxGenJS Presentation</dc:subject>
  <dc:creator>PptxGenJS</dc:creator>
  <cp:lastModifiedBy>PptxGenJS</cp:lastModifiedBy>
  <cp:revision>1</cp:revision>
  <dcterms:created xsi:type="dcterms:W3CDTF">2026-10-11T15:00:40Z</dcterms:created>
  <dcterms:modified xsi:type="dcterms:W3CDTF">2026-10-11T15:00:40Z</dcterms:modified>
</cp:coreProperties>
</file>