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6B7785"/>
                </a:solidFill>
                <a:latin typeface="Arial"/>
              </a:defRPr>
            </a:pPr>
            <a:r>
              <a:rPr sz="950" b="0" i="0" u="none" strike="noStrike">
                <a:solidFill>
                  <a:srgbClr val="6B7785"/>
                </a:solidFill>
                <a:latin typeface="Arial"/>
              </a:rPr>
              <a:t>NWRB weekly close - 52 weeks (synthetic demo company)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NWRB</c:v>
                </c:pt>
              </c:strCache>
            </c:strRef>
          </c:tx>
          <c:spPr>
            <a:solidFill>
              <a:srgbClr val="2D7DD2"/>
            </a:solidFill>
            <a:ln w="25400" cap="flat">
              <a:solidFill>
                <a:srgbClr val="2D7DD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D7DD2"/>
              </a:solidFill>
              <a:ln w="9525" cap="flat">
                <a:solidFill>
                  <a:srgbClr val="2D7DD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Sheet1!$A$2:$A$53</c:f>
              <c:multiLvlStrCache>
                <c:ptCount val="52"/>
                <c:lvl>
                  <c:pt idx="0">
                    <c:v>2025-10-17</c:v>
                  </c:pt>
                  <c:pt idx="1">
                    <c:v>2025-10-24</c:v>
                  </c:pt>
                  <c:pt idx="2">
                    <c:v>2025-10-31</c:v>
                  </c:pt>
                  <c:pt idx="3">
                    <c:v>2025-11-07</c:v>
                  </c:pt>
                  <c:pt idx="4">
                    <c:v>2025-11-14</c:v>
                  </c:pt>
                  <c:pt idx="5">
                    <c:v>2025-11-21</c:v>
                  </c:pt>
                  <c:pt idx="6">
                    <c:v>2025-11-28</c:v>
                  </c:pt>
                  <c:pt idx="7">
                    <c:v>2025-12-05</c:v>
                  </c:pt>
                  <c:pt idx="8">
                    <c:v>2025-12-12</c:v>
                  </c:pt>
                  <c:pt idx="9">
                    <c:v>2025-12-19</c:v>
                  </c:pt>
                  <c:pt idx="10">
                    <c:v>2025-12-26</c:v>
                  </c:pt>
                  <c:pt idx="11">
                    <c:v>2026-01-02</c:v>
                  </c:pt>
                  <c:pt idx="12">
                    <c:v>2026-01-09</c:v>
                  </c:pt>
                  <c:pt idx="13">
                    <c:v>2026-01-16</c:v>
                  </c:pt>
                  <c:pt idx="14">
                    <c:v>2026-01-23</c:v>
                  </c:pt>
                  <c:pt idx="15">
                    <c:v>2026-01-30</c:v>
                  </c:pt>
                  <c:pt idx="16">
                    <c:v>2026-02-06</c:v>
                  </c:pt>
                  <c:pt idx="17">
                    <c:v>2026-02-13</c:v>
                  </c:pt>
                  <c:pt idx="18">
                    <c:v>2026-02-20</c:v>
                  </c:pt>
                  <c:pt idx="19">
                    <c:v>2026-02-27</c:v>
                  </c:pt>
                  <c:pt idx="20">
                    <c:v>2026-03-06</c:v>
                  </c:pt>
                  <c:pt idx="21">
                    <c:v>2026-03-13</c:v>
                  </c:pt>
                  <c:pt idx="22">
                    <c:v>2026-03-20</c:v>
                  </c:pt>
                  <c:pt idx="23">
                    <c:v>2026-03-27</c:v>
                  </c:pt>
                  <c:pt idx="24">
                    <c:v>2026-04-03</c:v>
                  </c:pt>
                  <c:pt idx="25">
                    <c:v>2026-04-10</c:v>
                  </c:pt>
                  <c:pt idx="26">
                    <c:v>2026-04-17</c:v>
                  </c:pt>
                  <c:pt idx="27">
                    <c:v>2026-04-24</c:v>
                  </c:pt>
                  <c:pt idx="28">
                    <c:v>2026-05-01</c:v>
                  </c:pt>
                  <c:pt idx="29">
                    <c:v>2026-05-08</c:v>
                  </c:pt>
                  <c:pt idx="30">
                    <c:v>2026-05-15</c:v>
                  </c:pt>
                  <c:pt idx="31">
                    <c:v>2026-05-22</c:v>
                  </c:pt>
                  <c:pt idx="32">
                    <c:v>2026-05-29</c:v>
                  </c:pt>
                  <c:pt idx="33">
                    <c:v>2026-06-05</c:v>
                  </c:pt>
                  <c:pt idx="34">
                    <c:v>2026-06-12</c:v>
                  </c:pt>
                  <c:pt idx="35">
                    <c:v>2026-06-19</c:v>
                  </c:pt>
                  <c:pt idx="36">
                    <c:v>2026-06-26</c:v>
                  </c:pt>
                  <c:pt idx="37">
                    <c:v>2026-07-03</c:v>
                  </c:pt>
                  <c:pt idx="38">
                    <c:v>2026-07-10</c:v>
                  </c:pt>
                  <c:pt idx="39">
                    <c:v>2026-07-17</c:v>
                  </c:pt>
                  <c:pt idx="40">
                    <c:v>2026-07-24</c:v>
                  </c:pt>
                  <c:pt idx="41">
                    <c:v>2026-07-31</c:v>
                  </c:pt>
                  <c:pt idx="42">
                    <c:v>2026-08-07</c:v>
                  </c:pt>
                  <c:pt idx="43">
                    <c:v>2026-08-14</c:v>
                  </c:pt>
                  <c:pt idx="44">
                    <c:v>2026-08-21</c:v>
                  </c:pt>
                  <c:pt idx="45">
                    <c:v>2026-08-28</c:v>
                  </c:pt>
                  <c:pt idx="46">
                    <c:v>2026-09-04</c:v>
                  </c:pt>
                  <c:pt idx="47">
                    <c:v>2026-09-11</c:v>
                  </c:pt>
                  <c:pt idx="48">
                    <c:v>2026-09-18</c:v>
                  </c:pt>
                  <c:pt idx="49">
                    <c:v>2026-09-25</c:v>
                  </c:pt>
                  <c:pt idx="50">
                    <c:v>2026-10-02</c:v>
                  </c:pt>
                  <c:pt idx="51">
                    <c:v>2026-10-09</c:v>
                  </c:pt>
                </c:lvl>
              </c:multiLvlStrCache>
            </c:multiLvlStrRef>
          </c:cat>
          <c:val>
            <c:numRef>
              <c:f>Sheet1!$B$2:$B$53</c:f>
              <c:numCache>
                <c:formatCode>General</c:formatCode>
                <c:ptCount val="52"/>
                <c:pt idx="0">
                  <c:v>49.77</c:v>
                </c:pt>
                <c:pt idx="1">
                  <c:v>52.03</c:v>
                </c:pt>
                <c:pt idx="2">
                  <c:v>51.82</c:v>
                </c:pt>
                <c:pt idx="3">
                  <c:v>53.06</c:v>
                </c:pt>
                <c:pt idx="4">
                  <c:v>54.16</c:v>
                </c:pt>
                <c:pt idx="5">
                  <c:v>52.34</c:v>
                </c:pt>
                <c:pt idx="6">
                  <c:v>51.01</c:v>
                </c:pt>
                <c:pt idx="7">
                  <c:v>46.77</c:v>
                </c:pt>
                <c:pt idx="8">
                  <c:v>48.17</c:v>
                </c:pt>
                <c:pt idx="9">
                  <c:v>48.98</c:v>
                </c:pt>
                <c:pt idx="10">
                  <c:v>48.57</c:v>
                </c:pt>
                <c:pt idx="11">
                  <c:v>50.06</c:v>
                </c:pt>
                <c:pt idx="12">
                  <c:v>50.72</c:v>
                </c:pt>
                <c:pt idx="13">
                  <c:v>49.09</c:v>
                </c:pt>
                <c:pt idx="14">
                  <c:v>48.89</c:v>
                </c:pt>
                <c:pt idx="15">
                  <c:v>49.69</c:v>
                </c:pt>
                <c:pt idx="16">
                  <c:v>51.38</c:v>
                </c:pt>
                <c:pt idx="17">
                  <c:v>52.46</c:v>
                </c:pt>
                <c:pt idx="18">
                  <c:v>56.06</c:v>
                </c:pt>
                <c:pt idx="19">
                  <c:v>56.3</c:v>
                </c:pt>
                <c:pt idx="20">
                  <c:v>56.93</c:v>
                </c:pt>
                <c:pt idx="21">
                  <c:v>59.03</c:v>
                </c:pt>
                <c:pt idx="22">
                  <c:v>56.12</c:v>
                </c:pt>
                <c:pt idx="23">
                  <c:v>56.29</c:v>
                </c:pt>
                <c:pt idx="24">
                  <c:v>54.26</c:v>
                </c:pt>
                <c:pt idx="25">
                  <c:v>53.78</c:v>
                </c:pt>
                <c:pt idx="26">
                  <c:v>53.33</c:v>
                </c:pt>
                <c:pt idx="27">
                  <c:v>54.63</c:v>
                </c:pt>
                <c:pt idx="28">
                  <c:v>56.07</c:v>
                </c:pt>
                <c:pt idx="29">
                  <c:v>56.53</c:v>
                </c:pt>
                <c:pt idx="30">
                  <c:v>56.28</c:v>
                </c:pt>
                <c:pt idx="31">
                  <c:v>57.05</c:v>
                </c:pt>
                <c:pt idx="32">
                  <c:v>56.29</c:v>
                </c:pt>
                <c:pt idx="33">
                  <c:v>55.79</c:v>
                </c:pt>
                <c:pt idx="34">
                  <c:v>54.74</c:v>
                </c:pt>
                <c:pt idx="35">
                  <c:v>55.22</c:v>
                </c:pt>
                <c:pt idx="36">
                  <c:v>55.81</c:v>
                </c:pt>
                <c:pt idx="37">
                  <c:v>57.71</c:v>
                </c:pt>
                <c:pt idx="38">
                  <c:v>56.52</c:v>
                </c:pt>
                <c:pt idx="39">
                  <c:v>58.44</c:v>
                </c:pt>
                <c:pt idx="40">
                  <c:v>58.68</c:v>
                </c:pt>
                <c:pt idx="41">
                  <c:v>59.63</c:v>
                </c:pt>
                <c:pt idx="42">
                  <c:v>60.72</c:v>
                </c:pt>
                <c:pt idx="43">
                  <c:v>60.93</c:v>
                </c:pt>
                <c:pt idx="44">
                  <c:v>63.15</c:v>
                </c:pt>
                <c:pt idx="45">
                  <c:v>62.42</c:v>
                </c:pt>
                <c:pt idx="46">
                  <c:v>61.54</c:v>
                </c:pt>
                <c:pt idx="47">
                  <c:v>62.63</c:v>
                </c:pt>
                <c:pt idx="48">
                  <c:v>65.55</c:v>
                </c:pt>
                <c:pt idx="49">
                  <c:v>67.54</c:v>
                </c:pt>
                <c:pt idx="50">
                  <c:v>65.84</c:v>
                </c:pt>
                <c:pt idx="51">
                  <c:v>64.82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40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brief NWRB as financial_advisor (snapshot, financials, cited bullets); show the compliance-removed statement list; ask 'Should my client buy HLXB?' (refused); quote-only as client_service_associate; live mode: brief MSFT (real 10-K parsed from EDGAR). Trade-offs: Yahoo chart API is unofficial (swap for a licensed feed), live mode indexes the first 15k characters per section on CPU, 3B model is slow.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1554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Speed on Any Stock in Minutes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Quote, key financials and a cited summary of the latest SEC filings - ready before the client call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326880" y="228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Wealth management firm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Prototype - live or synthetic 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520440" cy="2514600"/>
          </a:xfrm>
          <a:prstGeom prst="roundRect">
            <a:avLst>
              <a:gd name="adj" fmla="val 2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THE PROBLEM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64792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Before a client call an advisor needs the price, the trend and the risks - buried in a 100-page 10-K, a 10-Q and recent 8-Ks.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Few advisors have the time to read them, so preparation is uneven.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Anything said to a client must stay factual - no unsanctioned recommendations.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3977640"/>
            <a:ext cx="352044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114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WHO USES IT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1655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Financial advisors and research analysts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Compliance officers (review + audit trail)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Client-service associates (quote look-ups only)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325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HOW IT WORKS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0" y="1645920"/>
            <a:ext cx="4069080" cy="475488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737360"/>
            <a:ext cx="292608" cy="29260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167335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Resolve the company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Ticker or name, any US issuer via the SEC list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2249424"/>
            <a:ext cx="4069080" cy="475488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2340864"/>
            <a:ext cx="292608" cy="29260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06240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227685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Three agents in parallel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Quote (market data) | financials (XBRL) | filings (RAG)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0" y="2852928"/>
            <a:ext cx="4069080" cy="475488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2944368"/>
            <a:ext cx="292608" cy="29260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288036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Read the filings properly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10-K / 10-Q / 8-K HTML to Item sections; TOC and page noise removed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0" y="3456432"/>
            <a:ext cx="4069080" cy="475488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3547872"/>
            <a:ext cx="292608" cy="29260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06240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348386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Numbers computed in code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Growth, margins, P/E, 52-week position - never by the LLM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0" y="4059936"/>
            <a:ext cx="4069080" cy="475488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4151376"/>
            <a:ext cx="292608" cy="29260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0624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5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617720" y="408736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Write, then compliance review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Cited bullets; recommendation language removed; data timestamps</a:t>
            </a:r>
            <a:endParaRPr lang="en-US" sz="12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023360" y="4663440"/>
          <a:ext cx="425196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 txBox="1"/>
          <p:nvPr/>
        </p:nvSpPr>
        <p:spPr>
          <a:xfrm>
            <a:off x="8412480" y="1325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PROOF FROM THE PROTOTYPE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412480" y="16459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2100" dirty="0"/>
          </a:p>
        </p:txBody>
      </p:sp>
      <p:sp>
        <p:nvSpPr>
          <p:cNvPr id="36" name="Text 33"/>
          <p:cNvSpPr txBox="1"/>
          <p:nvPr/>
        </p:nvSpPr>
        <p:spPr>
          <a:xfrm>
            <a:off x="9784080" y="1645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filings parsed into the right sections (also tested on a real 8.5 MB 10-K)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8412480" y="224942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38" name="Text 35"/>
          <p:cNvSpPr txBox="1"/>
          <p:nvPr/>
        </p:nvSpPr>
        <p:spPr>
          <a:xfrm>
            <a:off x="9784080" y="22494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of 10 test questions found the right filing passage; 0 cross-company mix-ups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8412480" y="285292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2100" dirty="0"/>
          </a:p>
        </p:txBody>
      </p:sp>
      <p:sp>
        <p:nvSpPr>
          <p:cNvPr id="40" name="Text 37"/>
          <p:cNvSpPr txBox="1"/>
          <p:nvPr/>
        </p:nvSpPr>
        <p:spPr>
          <a:xfrm>
            <a:off x="9784080" y="28529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advice statements removed by the compliance filter; 4 / 4 facts kept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8412480" y="34564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+0.05</a:t>
            </a:r>
            <a:endParaRPr lang="en-US" sz="2100" dirty="0"/>
          </a:p>
        </p:txBody>
      </p:sp>
      <p:sp>
        <p:nvSpPr>
          <p:cNvPr id="42" name="Text 39"/>
          <p:cNvSpPr txBox="1"/>
          <p:nvPr/>
        </p:nvSpPr>
        <p:spPr>
          <a:xfrm>
            <a:off x="9784080" y="34564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retrieval F1 after a RAGAS-driven tuning of the search (0.934 to 0.986)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412480" y="4151376"/>
            <a:ext cx="3429000" cy="1609344"/>
          </a:xfrm>
          <a:prstGeom prst="roundRect">
            <a:avLst>
              <a:gd name="adj" fmla="val 34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595360" y="4261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BUILT TO BE TRUSTED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8595360" y="4562856"/>
            <a:ext cx="3154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No buy / sell / hold, price targets or MNPI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Every figure from a filing or a data feed, with its timestamp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Role-based access; audit log for compliance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LangSmith tracing, metrics, evaluation suite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0" y="5897880"/>
            <a:ext cx="12188952" cy="9601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11480" y="6016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VALUE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411480" y="627278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Preparation per stock from ~30-60 minutes to a few, consistent coverage of risks and events, and supervised, traceable output.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7498080" y="6016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NEXT STEP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7498080" y="627278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20-advisor pilot: licensed quotes, firm research notes, Claude on Amazon Bedrock; measure prep time and compliance edits.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 Pitch">
  <a:themeElements>
    <a:clrScheme name="Portfolio Pitch">
      <a:dk1>
        <a:srgbClr val="1B2430"/>
      </a:dk1>
      <a:lt1>
        <a:srgbClr val="FFFFFF"/>
      </a:lt1>
      <a:dk2>
        <a:srgbClr val="24303D"/>
      </a:dk2>
      <a:lt2>
        <a:srgbClr val="EEF1F4"/>
      </a:lt2>
      <a:accent1>
        <a:srgbClr val="2D7DD2"/>
      </a:accent1>
      <a:accent2>
        <a:srgbClr val="D64933"/>
      </a:accent2>
      <a:accent3>
        <a:srgbClr val="2D7DD2"/>
      </a:accent3>
      <a:accent4>
        <a:srgbClr val="2E9E6B"/>
      </a:accent4>
      <a:accent5>
        <a:srgbClr val="6B7785"/>
      </a:accent5>
      <a:accent6>
        <a:srgbClr val="7A5CC4"/>
      </a:accent6>
      <a:hlink>
        <a:srgbClr val="2D7DD2"/>
      </a:hlink>
      <a:folHlink>
        <a:srgbClr val="7A5CC4"/>
      </a:folHlink>
    </a:clrScheme>
    <a:fontScheme name="Portfolio Pit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 to Speed on Any Stock in Minutes</dc:title>
  <dc:subject>PptxGenJS Presentation</dc:subject>
  <dc:creator>PptxGenJS</dc:creator>
  <cp:lastModifiedBy>PptxGenJS</cp:lastModifiedBy>
  <cp:revision>1</cp:revision>
  <dcterms:created xsi:type="dcterms:W3CDTF">2026-10-11T20:41:33Z</dcterms:created>
  <dcterms:modified xsi:type="dcterms:W3CDTF">2026-10-11T20:41:33Z</dcterms:modified>
</cp:coreProperties>
</file>