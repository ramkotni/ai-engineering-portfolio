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text" id="{545f4856-14ad-bd8a-693d-3581ccf7d2b8}">
          <p14:sldIdLst>
            <p14:sldId id="256"/>
            <p14:sldId id="257"/>
            <p14:sldId id="258"/>
            <p14:sldId id="259"/>
          </p14:sldIdLst>
        </p14:section>
        <p14:section name="Architecture" id="{4528b764-6c57-0205-3567-0dc1c6377cfb}">
          <p14:sldIdLst>
            <p14:sldId id="260"/>
            <p14:sldId id="261"/>
            <p14:sldId id="262"/>
            <p14:sldId id="263"/>
            <p14:sldId id="264"/>
            <p14:sldId id="265"/>
            <p14:sldId id="266"/>
            <p14:sldId id="267"/>
          </p14:sldIdLst>
        </p14:section>
        <p14:section name="Code walkthrough" id="{67e19452-e2b5-5fbd-be63-b1f1dd4d2700}">
          <p14:sldIdLst>
            <p14:sldId id="268"/>
            <p14:sldId id="269"/>
            <p14:sldId id="270"/>
          </p14:sldIdLst>
        </p14:section>
        <p14:section name="Behaviour" id="{dacd6204-5e5b-a8ba-eef8-bbff8149e183}">
          <p14:sldIdLst>
            <p14:sldId id="271"/>
            <p14:sldId id="272"/>
            <p14:sldId id="273"/>
            <p14:sldId id="274"/>
            <p14:sldId id="275"/>
          </p14:sldIdLst>
        </p14:section>
        <p14:section name="Deployment" id="{f6572430-bdd6-e277-f569-7f2a557ded6a}">
          <p14:sldIdLst>
            <p14:sldId id="276"/>
            <p14:sldId id="277"/>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PlantAssist is a prototype assistant that lets floor supervisors ask plain-language questions and get cited answers from the right documentation set: safety procedures, maintenance manuals or quality control standards. It runs fully locally on Ollama and moves to AWS Bedrock with a configuration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plant keeps three bodies of documentation, each owned by a different team. Supervisors know their question, not which binder holds the answer. A wrong source is not just inconvenient: a maintenance answer that omits lockout/tagout is a safety risk. These four needs became the design requirements.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business case is time and risk. Supervisors make dozens of procedural decisions per shift; today the answer lives in one of three document sets owned by different teams. The pilot targets are time to the right procedure, a full citation trail for audits, and fewer routine calls to engineers. These are targets to measure in a pilot, not results from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to end, a question passes through six stages. The important design choice is that routing and retrieval are separate: the router decides where to look, hybrid search decides what to return, and two checks (grading and grounding) decide whether the system has earned the right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 interfaces call one service. The service is a compiled LangGraph whose nodes receive the chat model and retrievers by injection, which is why the same graph runs against Ollama on a laptop, Bedrock in AWS, or fakes in unit tests. Each knowledge source has its own Chroma collection, so routing maps directly to which index is searched. Ingestion parses YAML front matter for document IDs and revisions, splits on markdown headers and prefixes each chunk with its document title and section before embedding.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compiled graph. route_question returns a list of Send objects, one per target source, so retrieval runs in parallel and results merge through a reducer on the documents channel. grade_documents decides between three exits: generate, rewrite the query and re-route (once), or escalate. After generation an LLM grounding check either finalizes or sends the answer back once with the unsupported claims as feedback. Terminal nodes are finalize, no_answer, out_of_scope and guardrail_block: unsafe requests and prompt injection are stopped in analyze_query before any LLM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question: is this multi-agent? No. It is an agentic RAG workflow: an LLM decides the route, generates and verifies, but the control flow is a fixed LangGraph with bounded loops. The parallel branches are retrievers, not autonomous agents. That was deliberate for a safety-critical, CPU-constrained prototype. The design upgrades cleanly: each retrieve branch can become a LangGraph sub-agent with its own tools, and route_question becomes the supervisor.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a deliberate trade-off. The common thread: in a safety-critical setting, prefer deterministic, testable structure (fixed workflow, per-source indexes, structure-aware chunks, rule guardrails) and use the LLM only where judgement is needed - routing, writing, verifying.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Routing is two-stage. The LLM classifies the question into a typed RouteDecision using descriptions generated from the source registry. Deterministic policy then turns that decision into retrieval targets, and dispatch fans out one parallel retrieve branch per target. Because each source has its own Chroma collection, a maintenance question can never be answered from a quality document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classifier is an LLM with structured output: Ollama uses native JSON-schema decoding, Bedrock uses tool calling. Its decision is advisory. Deterministic plant policy then decides what is actually searched. Low confidence widens the search instead of guessing, and safety is added whenever the question is an emergency or describes hands-on work on equipment, because the maintenance manual alone is not a safe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Fixed-size windows cut procedures mid-step and tables mid-row. Here every format is first normalised to Markdown, so tables survive as tables, then chunked by structure. 900 characters is roughly one procedure section; tables stay whole up to 2,500 characters and are otherwise split by rows with the header repeated. The contextual header puts the document and section into every chunk so both embeddings and BM25 can match a bare table 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 embedding models compress similarity scores: on this corpus relevant chunks score 0.62 to 0.85 and unrelated chunks 0.48 to 0.65. BM25 fixes ranking for exact terminology, and the cosine floor of 0.55 is what lets the graph detect that a question is not covered and escalate instead of answering.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package is plant_assist. Config and model factories are the only place that knows about Ollama or Bedrock. The registry in sources.py drives the router prompt, the routing schema and the keyword fallback, so adding a fourth source is one entry plus a docs folder. nodes.py holds the node logic, graph.py only wires it, and service.py is the single entry point every interface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graph.py only wires nodes. The key LangGraph features are conditional edges and Send. dispatch turns the router's targets into Send objects, one per source, which LangGraph runs in parallel; the documents channel has a custom reducer so the parallel outputs merge, and returning None resets it before a corrective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router has two layers. llm_route asks the model for a typed RouteDecision; if anything fails, keyword_route produces the same type from the registry keywords. plan_retrieval is deterministic and unit-tested: it is where plant policy lives, for example adding a lockout/tagout-focused safety search to every hands-on maintenance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question that a supervisor would phrase as a maintenance question. The router correctly says maintenance; the policy layer adds a lockout/tagout search because the question describes hands-on work. The answer leads with the safety prerequisites and every step is cited to a document, revision and section.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Guardrails are layered and deterministic first, so they work even when the small local model's verifier is switched off. The unsafe-request rule blocks how-to requests for defeating light curtains, interlocks or lockout, but deliberately allows reports such as 'the interlock was bypassed by night shift, what do I do?'. The numeric rule is exact for the facts that matter most on the floor: torques, pressures, limits and extensions. In AWS, Bedrock Guardrails add managed content filters and PII masking on every Claude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four live questions run end to end on the laptop. Routing was right every time, including the policy-added safety search. The weak spot is the small local model: answers are slow on CPU and its grounding checker flags almost everything, so locally it is switched off and the CPU is capped. With Claude on Bedrock both problems go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labelled sets: 28 questions with expected source, acceptable documents and key facts (including table-only facts), and 16 guardrail cases. The cheap mode needs only embeddings and runs in about 20 seconds, so it can gate every change. The full mode and the LangSmith experiment score answers end to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LangSmith gives full traces of each graph run with no extra code beyond configuration; the service adds a run_id, tags and metadata, and posts supervisor feedback to the run. The JSONL audit log is the plant's own offline record of every answer, which matters for safety audits regardless of any SaaS. The line shown is a real record from the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open source or AWS-managed. The only change between the laptop and AWS is the model provider and, at scale, the vector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factory chooses Ollama or Bedrock from environment variables. The index records which embedding model built it, so switching to Titan triggers an automatic rebuild instead of a dimension-mismatch error. For a pilot, the container builds its small Chroma index at start-up; for production the vector store moves to a managed service. The README has step-by-step AgentCore and App Runner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is ready for a pilot. The highest-value next step is connecting real, revision-controlled documents and putting the assistant in front of a few supervisors to collect feedback, which then becomes the evaluation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endParaRPr lang="en-US" sz="5400" dirty="0"/>
          </a:p>
        </p:txBody>
      </p:sp>
      <p:sp>
        <p:nvSpPr>
          <p:cNvPr id="3" name="Text 0"/>
          <p:cNvSpPr/>
          <p:nvPr>
            <p:ph idx="101" type="body" hasCustomPrompt="1"/>
          </p:nvPr>
        </p:nvSpPr>
        <p:spPr>
          <a:xfrm>
            <a:off x="731520" y="3429000"/>
            <a:ext cx="10698480" cy="822960"/>
          </a:xfrm>
          <a:prstGeom prst="rect">
            <a:avLst/>
          </a:prstGeom>
          <a:noFill/>
          <a:ln/>
        </p:spPr>
        <p:txBody>
          <a:bodyPr wrap="square" rtlCol="0"/>
          <a:lstStyle>
            <a:lvl1pPr algn="l" indent="0" marL="0">
              <a:buNone/>
              <a:defRPr lang="en-US" sz="2400" dirty="0">
                <a:solidFill>
                  <a:schemeClr val="accent1"/>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1737360"/>
            <a:ext cx="10698480" cy="548640"/>
          </a:xfrm>
          <a:prstGeom prst="rect">
            <a:avLst/>
          </a:prstGeom>
          <a:noFill/>
          <a:ln/>
        </p:spPr>
        <p:txBody>
          <a:bodyPr wrap="square" rtlCol="0"/>
          <a:lstStyle>
            <a:lvl1pPr algn="l" indent="0" marL="0">
              <a:buNone/>
              <a:defRPr lang="en-US" sz="2200" dirty="0">
                <a:solidFill>
                  <a:schemeClr val="accent1"/>
                </a:solidFill>
              </a:defRPr>
            </a:lvl1pPr>
          </a:lstStyle>
          <a:p>
            <a:pPr algn="l" indent="0" marL="0">
              <a:buNone/>
            </a:pPr>
            <a:endParaRPr lang="en-US" sz="22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PlantAssist prototype  |  Architecture and flow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280160"/>
          </a:xfrm>
          <a:prstGeom prst="rect">
            <a:avLst/>
          </a:prstGeom>
          <a:noFill/>
          <a:ln/>
        </p:spPr>
        <p:txBody>
          <a:bodyPr wrap="square" lIns="0" tIns="0" rIns="0" bIns="0" rtlCol="0" anchor="b"/>
          <a:lstStyle/>
          <a:p>
            <a:pPr algn="l" indent="0" marL="0">
              <a:buNone/>
            </a:pPr>
            <a:r>
              <a:rPr lang="en-US" sz="5400" b="1" dirty="0">
                <a:solidFill>
                  <a:schemeClr val="bg1"/>
                </a:solidFill>
              </a:rPr>
              <a:t>PlantAssist</a:t>
            </a:r>
            <a:endParaRPr lang="en-US" sz="5400" dirty="0"/>
          </a:p>
        </p:txBody>
      </p:sp>
      <p:sp>
        <p:nvSpPr>
          <p:cNvPr id="3" name="Text 0"/>
          <p:cNvSpPr/>
          <p:nvPr>
            <p:ph idx="101" type="body" hasCustomPrompt="1"/>
          </p:nvPr>
        </p:nvSpPr>
        <p:spPr>
          <a:xfrm>
            <a:off x="731520" y="3429000"/>
            <a:ext cx="10698480" cy="822960"/>
          </a:xfrm>
          <a:prstGeom prst="rect">
            <a:avLst/>
          </a:prstGeom>
          <a:noFill/>
          <a:ln/>
        </p:spPr>
        <p:txBody>
          <a:bodyPr wrap="square" lIns="0" tIns="0" rIns="0" bIns="0" rtlCol="0" anchor="t"/>
          <a:lstStyle/>
          <a:p>
            <a:pPr algn="l" indent="0" marL="0">
              <a:buNone/>
            </a:pPr>
            <a:r>
              <a:rPr lang="en-US" sz="2400" dirty="0">
                <a:solidFill>
                  <a:schemeClr val="accent1"/>
                </a:solidFill>
              </a:rPr>
              <a:t>Routing floor-supervisor questions to the right plant documentation</a:t>
            </a:r>
            <a:endParaRPr lang="en-US" sz="2400" dirty="0"/>
          </a:p>
        </p:txBody>
      </p:sp>
      <p:sp>
        <p:nvSpPr>
          <p:cNvPr id="4" name="Shape 2"/>
          <p:cNvSpPr/>
          <p:nvPr/>
        </p:nvSpPr>
        <p:spPr>
          <a:xfrm>
            <a:off x="731520" y="4572000"/>
            <a:ext cx="2514600" cy="502920"/>
          </a:xfrm>
          <a:prstGeom prst="roundRect">
            <a:avLst>
              <a:gd name="adj" fmla="val 49091"/>
            </a:avLst>
          </a:prstGeom>
          <a:solidFill>
            <a:schemeClr val="accent2"/>
          </a:solidFill>
          <a:ln w="12700">
            <a:solidFill>
              <a:schemeClr val="accent2"/>
            </a:solidFill>
            <a:prstDash val="solid"/>
          </a:ln>
        </p:spPr>
      </p:sp>
      <p:sp>
        <p:nvSpPr>
          <p:cNvPr id="5" name="Text 3"/>
          <p:cNvSpPr txBox="1"/>
          <p:nvPr/>
        </p:nvSpPr>
        <p:spPr>
          <a:xfrm>
            <a:off x="731520" y="4572000"/>
            <a:ext cx="2514600" cy="502920"/>
          </a:xfrm>
          <a:prstGeom prst="rect">
            <a:avLst/>
          </a:prstGeom>
          <a:noFill/>
          <a:ln/>
        </p:spPr>
        <p:txBody>
          <a:bodyPr wrap="square" lIns="0" tIns="0" rIns="0" bIns="0" rtlCol="0" anchor="ctr"/>
          <a:lstStyle/>
          <a:p>
            <a:pPr algn="ctr" indent="0" marL="0">
              <a:buNone/>
            </a:pPr>
            <a:r>
              <a:rPr lang="en-US" sz="1500" b="1" dirty="0">
                <a:solidFill>
                  <a:schemeClr val="bg1"/>
                </a:solidFill>
              </a:rPr>
              <a:t>Safety procedures</a:t>
            </a:r>
            <a:endParaRPr lang="en-US" sz="1500" dirty="0"/>
          </a:p>
        </p:txBody>
      </p:sp>
      <p:sp>
        <p:nvSpPr>
          <p:cNvPr id="6" name="Shape 4"/>
          <p:cNvSpPr/>
          <p:nvPr/>
        </p:nvSpPr>
        <p:spPr>
          <a:xfrm>
            <a:off x="3429000" y="4572000"/>
            <a:ext cx="2514600" cy="502920"/>
          </a:xfrm>
          <a:prstGeom prst="roundRect">
            <a:avLst>
              <a:gd name="adj" fmla="val 49091"/>
            </a:avLst>
          </a:prstGeom>
          <a:solidFill>
            <a:schemeClr val="accent3"/>
          </a:solidFill>
          <a:ln w="12700">
            <a:solidFill>
              <a:schemeClr val="accent3"/>
            </a:solidFill>
            <a:prstDash val="solid"/>
          </a:ln>
        </p:spPr>
      </p:sp>
      <p:sp>
        <p:nvSpPr>
          <p:cNvPr id="7" name="Text 5"/>
          <p:cNvSpPr txBox="1"/>
          <p:nvPr/>
        </p:nvSpPr>
        <p:spPr>
          <a:xfrm>
            <a:off x="3429000" y="4572000"/>
            <a:ext cx="2514600" cy="502920"/>
          </a:xfrm>
          <a:prstGeom prst="rect">
            <a:avLst/>
          </a:prstGeom>
          <a:noFill/>
          <a:ln/>
        </p:spPr>
        <p:txBody>
          <a:bodyPr wrap="square" lIns="0" tIns="0" rIns="0" bIns="0" rtlCol="0" anchor="ctr"/>
          <a:lstStyle/>
          <a:p>
            <a:pPr algn="ctr" indent="0" marL="0">
              <a:buNone/>
            </a:pPr>
            <a:r>
              <a:rPr lang="en-US" sz="1500" b="1" dirty="0">
                <a:solidFill>
                  <a:schemeClr val="bg1"/>
                </a:solidFill>
              </a:rPr>
              <a:t>Maintenance manuals</a:t>
            </a:r>
            <a:endParaRPr lang="en-US" sz="1500" dirty="0"/>
          </a:p>
        </p:txBody>
      </p:sp>
      <p:sp>
        <p:nvSpPr>
          <p:cNvPr id="8" name="Shape 6"/>
          <p:cNvSpPr/>
          <p:nvPr/>
        </p:nvSpPr>
        <p:spPr>
          <a:xfrm>
            <a:off x="6126480" y="4572000"/>
            <a:ext cx="2514600" cy="502920"/>
          </a:xfrm>
          <a:prstGeom prst="roundRect">
            <a:avLst>
              <a:gd name="adj" fmla="val 49091"/>
            </a:avLst>
          </a:prstGeom>
          <a:solidFill>
            <a:schemeClr val="accent4"/>
          </a:solidFill>
          <a:ln w="12700">
            <a:solidFill>
              <a:schemeClr val="accent4"/>
            </a:solidFill>
            <a:prstDash val="solid"/>
          </a:ln>
        </p:spPr>
      </p:sp>
      <p:sp>
        <p:nvSpPr>
          <p:cNvPr id="9" name="Text 7"/>
          <p:cNvSpPr txBox="1"/>
          <p:nvPr/>
        </p:nvSpPr>
        <p:spPr>
          <a:xfrm>
            <a:off x="6126480" y="4572000"/>
            <a:ext cx="2514600" cy="502920"/>
          </a:xfrm>
          <a:prstGeom prst="rect">
            <a:avLst/>
          </a:prstGeom>
          <a:noFill/>
          <a:ln/>
        </p:spPr>
        <p:txBody>
          <a:bodyPr wrap="square" lIns="0" tIns="0" rIns="0" bIns="0" rtlCol="0" anchor="ctr"/>
          <a:lstStyle/>
          <a:p>
            <a:pPr algn="ctr" indent="0" marL="0">
              <a:buNone/>
            </a:pPr>
            <a:r>
              <a:rPr lang="en-US" sz="1500" b="1" dirty="0">
                <a:solidFill>
                  <a:schemeClr val="bg1"/>
                </a:solidFill>
              </a:rPr>
              <a:t>Quality standards</a:t>
            </a:r>
            <a:endParaRPr lang="en-US" sz="1500" dirty="0"/>
          </a:p>
        </p:txBody>
      </p:sp>
      <p:sp>
        <p:nvSpPr>
          <p:cNvPr id="10" name="Text 8"/>
          <p:cNvSpPr txBox="1"/>
          <p:nvPr/>
        </p:nvSpPr>
        <p:spPr>
          <a:xfrm>
            <a:off x="731520" y="5760720"/>
            <a:ext cx="10698480" cy="365760"/>
          </a:xfrm>
          <a:prstGeom prst="rect">
            <a:avLst/>
          </a:prstGeom>
          <a:noFill/>
          <a:ln/>
        </p:spPr>
        <p:txBody>
          <a:bodyPr wrap="square" lIns="0" tIns="0" rIns="0" bIns="0" rtlCol="0" anchor="t"/>
          <a:lstStyle/>
          <a:p>
            <a:pPr indent="0" marL="0">
              <a:buNone/>
            </a:pPr>
            <a:r>
              <a:rPr lang="en-US" sz="1400" dirty="0">
                <a:solidFill>
                  <a:schemeClr val="bg2"/>
                </a:solidFill>
              </a:rPr>
              <a:t>Prototype architecture and flow  |  Python, LangGraph, LangChain  |  Ollama locally, AWS Bedrock in production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Supervisors need one trusted answer, fast</a:t>
            </a:r>
            <a:endParaRPr lang="en-US" sz="3600" dirty="0"/>
          </a:p>
        </p:txBody>
      </p:sp>
      <p:sp>
        <p:nvSpPr>
          <p:cNvPr id="3" name="Text 1"/>
          <p:cNvSpPr txBox="1"/>
          <p:nvPr/>
        </p:nvSpPr>
        <p:spPr>
          <a:xfrm>
            <a:off x="548640" y="1325880"/>
            <a:ext cx="5394960" cy="365760"/>
          </a:xfrm>
          <a:prstGeom prst="rect">
            <a:avLst/>
          </a:prstGeom>
          <a:noFill/>
          <a:ln/>
        </p:spPr>
        <p:txBody>
          <a:bodyPr wrap="square" lIns="0" tIns="0" rIns="0" bIns="0" rtlCol="0" anchor="t"/>
          <a:lstStyle/>
          <a:p>
            <a:pPr indent="0" marL="0">
              <a:buNone/>
            </a:pPr>
            <a:r>
              <a:rPr lang="en-US" sz="1800" b="1" dirty="0">
                <a:solidFill>
                  <a:schemeClr val="accent5"/>
                </a:solidFill>
              </a:rPr>
              <a:t>Today: three separate documentation silos</a:t>
            </a:r>
            <a:endParaRPr lang="en-US" sz="1800" dirty="0"/>
          </a:p>
        </p:txBody>
      </p:sp>
      <p:sp>
        <p:nvSpPr>
          <p:cNvPr id="4" name="Shape 2"/>
          <p:cNvSpPr/>
          <p:nvPr/>
        </p:nvSpPr>
        <p:spPr>
          <a:xfrm>
            <a:off x="548640" y="1828800"/>
            <a:ext cx="5394960" cy="1280160"/>
          </a:xfrm>
          <a:prstGeom prst="roundRect">
            <a:avLst>
              <a:gd name="adj" fmla="val 5714"/>
            </a:avLst>
          </a:prstGeom>
          <a:solidFill>
            <a:schemeClr val="bg2"/>
          </a:solidFill>
          <a:ln w="12700">
            <a:solidFill>
              <a:schemeClr val="bg2"/>
            </a:solidFill>
            <a:prstDash val="solid"/>
          </a:ln>
        </p:spPr>
      </p:sp>
      <p:sp>
        <p:nvSpPr>
          <p:cNvPr id="5" name="Shape 3"/>
          <p:cNvSpPr/>
          <p:nvPr/>
        </p:nvSpPr>
        <p:spPr>
          <a:xfrm>
            <a:off x="777240" y="2121408"/>
            <a:ext cx="685800" cy="685800"/>
          </a:xfrm>
          <a:prstGeom prst="ellipse">
            <a:avLst/>
          </a:prstGeom>
          <a:solidFill>
            <a:schemeClr val="accent2"/>
          </a:solidFill>
          <a:ln w="12700">
            <a:solidFill>
              <a:schemeClr val="accent2"/>
            </a:solidFill>
            <a:prstDash val="solid"/>
          </a:ln>
        </p:spPr>
      </p:sp>
      <p:sp>
        <p:nvSpPr>
          <p:cNvPr id="6" name="Text 4"/>
          <p:cNvSpPr txBox="1"/>
          <p:nvPr/>
        </p:nvSpPr>
        <p:spPr>
          <a:xfrm>
            <a:off x="777240" y="2121408"/>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S</a:t>
            </a:r>
            <a:endParaRPr lang="en-US" sz="2200" dirty="0"/>
          </a:p>
        </p:txBody>
      </p:sp>
      <p:sp>
        <p:nvSpPr>
          <p:cNvPr id="7" name="Text 5"/>
          <p:cNvSpPr txBox="1"/>
          <p:nvPr/>
        </p:nvSpPr>
        <p:spPr>
          <a:xfrm>
            <a:off x="1691640" y="1965960"/>
            <a:ext cx="4114800" cy="1051560"/>
          </a:xfrm>
          <a:prstGeom prst="rect">
            <a:avLst/>
          </a:prstGeom>
          <a:noFill/>
          <a:ln/>
        </p:spPr>
        <p:txBody>
          <a:bodyPr wrap="square" lIns="0" tIns="0" rIns="0" bIns="0" rtlCol="0" anchor="ctr"/>
          <a:lstStyle/>
          <a:p>
            <a:pPr indent="0" marL="0">
              <a:buNone/>
            </a:pPr>
            <a:r>
              <a:rPr lang="en-US" sz="1700" b="1" dirty="0">
                <a:solidFill>
                  <a:schemeClr val="tx1"/>
                </a:solidFill>
              </a:rPr>
              <a:t>Safety procedures</a:t>
            </a:r>
            <a:endParaRPr lang="en-US" sz="1400" dirty="0"/>
          </a:p>
          <a:p>
            <a:pPr indent="0" marL="0">
              <a:buNone/>
            </a:pPr>
            <a:r>
              <a:rPr lang="en-US" sz="1400" dirty="0">
                <a:solidFill>
                  <a:schemeClr val="accent5"/>
                </a:solidFill>
              </a:rPr>
              <a:t>LOTO, PPE, chemical spills, emergency response</a:t>
            </a:r>
            <a:endParaRPr lang="en-US" sz="1400" dirty="0"/>
          </a:p>
          <a:p>
            <a:pPr indent="0" marL="0">
              <a:buNone/>
            </a:pPr>
            <a:r>
              <a:rPr lang="en-US" sz="1400" i="1" dirty="0">
                <a:solidFill>
                  <a:schemeClr val="tx1"/>
                </a:solidFill>
              </a:rPr>
              <a:t>"Someone spilled solvent near line 3 - what now?"</a:t>
            </a:r>
            <a:endParaRPr lang="en-US" sz="1400" dirty="0"/>
          </a:p>
        </p:txBody>
      </p:sp>
      <p:sp>
        <p:nvSpPr>
          <p:cNvPr id="8" name="Shape 6"/>
          <p:cNvSpPr/>
          <p:nvPr/>
        </p:nvSpPr>
        <p:spPr>
          <a:xfrm>
            <a:off x="548640" y="3291840"/>
            <a:ext cx="5394960" cy="1280160"/>
          </a:xfrm>
          <a:prstGeom prst="roundRect">
            <a:avLst>
              <a:gd name="adj" fmla="val 5714"/>
            </a:avLst>
          </a:prstGeom>
          <a:solidFill>
            <a:schemeClr val="bg2"/>
          </a:solidFill>
          <a:ln w="12700">
            <a:solidFill>
              <a:schemeClr val="bg2"/>
            </a:solidFill>
            <a:prstDash val="solid"/>
          </a:ln>
        </p:spPr>
      </p:sp>
      <p:sp>
        <p:nvSpPr>
          <p:cNvPr id="9" name="Shape 7"/>
          <p:cNvSpPr/>
          <p:nvPr/>
        </p:nvSpPr>
        <p:spPr>
          <a:xfrm>
            <a:off x="777240" y="3584448"/>
            <a:ext cx="685800" cy="685800"/>
          </a:xfrm>
          <a:prstGeom prst="ellipse">
            <a:avLst/>
          </a:prstGeom>
          <a:solidFill>
            <a:schemeClr val="accent3"/>
          </a:solidFill>
          <a:ln w="12700">
            <a:solidFill>
              <a:schemeClr val="accent3"/>
            </a:solidFill>
            <a:prstDash val="solid"/>
          </a:ln>
        </p:spPr>
      </p:sp>
      <p:sp>
        <p:nvSpPr>
          <p:cNvPr id="10" name="Text 8"/>
          <p:cNvSpPr txBox="1"/>
          <p:nvPr/>
        </p:nvSpPr>
        <p:spPr>
          <a:xfrm>
            <a:off x="777240" y="3584448"/>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M</a:t>
            </a:r>
            <a:endParaRPr lang="en-US" sz="2200" dirty="0"/>
          </a:p>
        </p:txBody>
      </p:sp>
      <p:sp>
        <p:nvSpPr>
          <p:cNvPr id="11" name="Text 9"/>
          <p:cNvSpPr txBox="1"/>
          <p:nvPr/>
        </p:nvSpPr>
        <p:spPr>
          <a:xfrm>
            <a:off x="1691640" y="3429000"/>
            <a:ext cx="4114800" cy="1051560"/>
          </a:xfrm>
          <a:prstGeom prst="rect">
            <a:avLst/>
          </a:prstGeom>
          <a:noFill/>
          <a:ln/>
        </p:spPr>
        <p:txBody>
          <a:bodyPr wrap="square" lIns="0" tIns="0" rIns="0" bIns="0" rtlCol="0" anchor="ctr"/>
          <a:lstStyle/>
          <a:p>
            <a:pPr indent="0" marL="0">
              <a:buNone/>
            </a:pPr>
            <a:r>
              <a:rPr lang="en-US" sz="1700" b="1" dirty="0">
                <a:solidFill>
                  <a:schemeClr val="tx1"/>
                </a:solidFill>
              </a:rPr>
              <a:t>Maintenance manuals</a:t>
            </a:r>
            <a:endParaRPr lang="en-US" sz="1400" dirty="0"/>
          </a:p>
          <a:p>
            <a:pPr indent="0" marL="0">
              <a:buNone/>
            </a:pPr>
            <a:r>
              <a:rPr lang="en-US" sz="1400" dirty="0">
                <a:solidFill>
                  <a:schemeClr val="accent5"/>
                </a:solidFill>
              </a:rPr>
              <a:t>Hydraulic press, CNC, conveyor, compressor</a:t>
            </a:r>
            <a:endParaRPr lang="en-US" sz="1400" dirty="0"/>
          </a:p>
          <a:p>
            <a:pPr indent="0" marL="0">
              <a:buNone/>
            </a:pPr>
            <a:r>
              <a:rPr lang="en-US" sz="1400" i="1" dirty="0">
                <a:solidFill>
                  <a:schemeClr val="tx1"/>
                </a:solidFill>
              </a:rPr>
              <a:t>"What torque for the press gland bolts?"</a:t>
            </a:r>
            <a:endParaRPr lang="en-US" sz="1400" dirty="0"/>
          </a:p>
        </p:txBody>
      </p:sp>
      <p:sp>
        <p:nvSpPr>
          <p:cNvPr id="12" name="Shape 10"/>
          <p:cNvSpPr/>
          <p:nvPr/>
        </p:nvSpPr>
        <p:spPr>
          <a:xfrm>
            <a:off x="548640" y="4754880"/>
            <a:ext cx="5394960" cy="1280160"/>
          </a:xfrm>
          <a:prstGeom prst="roundRect">
            <a:avLst>
              <a:gd name="adj" fmla="val 5714"/>
            </a:avLst>
          </a:prstGeom>
          <a:solidFill>
            <a:schemeClr val="bg2"/>
          </a:solidFill>
          <a:ln w="12700">
            <a:solidFill>
              <a:schemeClr val="bg2"/>
            </a:solidFill>
            <a:prstDash val="solid"/>
          </a:ln>
        </p:spPr>
      </p:sp>
      <p:sp>
        <p:nvSpPr>
          <p:cNvPr id="13" name="Shape 11"/>
          <p:cNvSpPr/>
          <p:nvPr/>
        </p:nvSpPr>
        <p:spPr>
          <a:xfrm>
            <a:off x="777240" y="5047488"/>
            <a:ext cx="685800" cy="685800"/>
          </a:xfrm>
          <a:prstGeom prst="ellipse">
            <a:avLst/>
          </a:prstGeom>
          <a:solidFill>
            <a:schemeClr val="accent4"/>
          </a:solidFill>
          <a:ln w="12700">
            <a:solidFill>
              <a:schemeClr val="accent4"/>
            </a:solidFill>
            <a:prstDash val="solid"/>
          </a:ln>
        </p:spPr>
      </p:sp>
      <p:sp>
        <p:nvSpPr>
          <p:cNvPr id="14" name="Text 12"/>
          <p:cNvSpPr txBox="1"/>
          <p:nvPr/>
        </p:nvSpPr>
        <p:spPr>
          <a:xfrm>
            <a:off x="777240" y="5047488"/>
            <a:ext cx="685800" cy="685800"/>
          </a:xfrm>
          <a:prstGeom prst="rect">
            <a:avLst/>
          </a:prstGeom>
          <a:noFill/>
          <a:ln/>
        </p:spPr>
        <p:txBody>
          <a:bodyPr wrap="square" lIns="0" tIns="0" rIns="0" bIns="0" rtlCol="0" anchor="ctr"/>
          <a:lstStyle/>
          <a:p>
            <a:pPr algn="ctr" indent="0" marL="0">
              <a:buNone/>
            </a:pPr>
            <a:r>
              <a:rPr lang="en-US" sz="2200" b="1" dirty="0">
                <a:solidFill>
                  <a:schemeClr val="bg1"/>
                </a:solidFill>
              </a:rPr>
              <a:t>Q</a:t>
            </a:r>
            <a:endParaRPr lang="en-US" sz="2200" dirty="0"/>
          </a:p>
        </p:txBody>
      </p:sp>
      <p:sp>
        <p:nvSpPr>
          <p:cNvPr id="15" name="Text 13"/>
          <p:cNvSpPr txBox="1"/>
          <p:nvPr/>
        </p:nvSpPr>
        <p:spPr>
          <a:xfrm>
            <a:off x="1691640" y="4892040"/>
            <a:ext cx="4114800" cy="1051560"/>
          </a:xfrm>
          <a:prstGeom prst="rect">
            <a:avLst/>
          </a:prstGeom>
          <a:noFill/>
          <a:ln/>
        </p:spPr>
        <p:txBody>
          <a:bodyPr wrap="square" lIns="0" tIns="0" rIns="0" bIns="0" rtlCol="0" anchor="ctr"/>
          <a:lstStyle/>
          <a:p>
            <a:pPr indent="0" marL="0">
              <a:buNone/>
            </a:pPr>
            <a:r>
              <a:rPr lang="en-US" sz="1700" b="1" dirty="0">
                <a:solidFill>
                  <a:schemeClr val="tx1"/>
                </a:solidFill>
              </a:rPr>
              <a:t>Quality control standards</a:t>
            </a:r>
            <a:endParaRPr lang="en-US" sz="1400" dirty="0"/>
          </a:p>
          <a:p>
            <a:pPr indent="0" marL="0">
              <a:buNone/>
            </a:pPr>
            <a:r>
              <a:rPr lang="en-US" sz="1400" dirty="0">
                <a:solidFill>
                  <a:schemeClr val="accent5"/>
                </a:solidFill>
              </a:rPr>
              <a:t>Sampling, SPC / Cpk, NCR and CAPA, calibration</a:t>
            </a:r>
            <a:endParaRPr lang="en-US" sz="1400" dirty="0"/>
          </a:p>
          <a:p>
            <a:pPr indent="0" marL="0">
              <a:buNone/>
            </a:pPr>
            <a:r>
              <a:rPr lang="en-US" sz="1400" i="1" dirty="0">
                <a:solidFill>
                  <a:schemeClr val="tx1"/>
                </a:solidFill>
              </a:rPr>
              <a:t>"Eight points above the center line - problem?"</a:t>
            </a:r>
            <a:endParaRPr lang="en-US" sz="1400" dirty="0"/>
          </a:p>
        </p:txBody>
      </p:sp>
      <p:sp>
        <p:nvSpPr>
          <p:cNvPr id="16" name="Text 14"/>
          <p:cNvSpPr txBox="1"/>
          <p:nvPr/>
        </p:nvSpPr>
        <p:spPr>
          <a:xfrm>
            <a:off x="6492240" y="1325880"/>
            <a:ext cx="5120640" cy="365760"/>
          </a:xfrm>
          <a:prstGeom prst="rect">
            <a:avLst/>
          </a:prstGeom>
          <a:noFill/>
          <a:ln/>
        </p:spPr>
        <p:txBody>
          <a:bodyPr wrap="square" lIns="0" tIns="0" rIns="0" bIns="0" rtlCol="0" anchor="t"/>
          <a:lstStyle/>
          <a:p>
            <a:pPr indent="0" marL="0">
              <a:buNone/>
            </a:pPr>
            <a:r>
              <a:rPr lang="en-US" sz="1800" b="1" dirty="0">
                <a:solidFill>
                  <a:schemeClr val="accent5"/>
                </a:solidFill>
              </a:rPr>
              <a:t>What supervisors need</a:t>
            </a:r>
            <a:endParaRPr lang="en-US" sz="1800" dirty="0"/>
          </a:p>
        </p:txBody>
      </p:sp>
      <p:sp>
        <p:nvSpPr>
          <p:cNvPr id="17" name="Shape 15"/>
          <p:cNvSpPr/>
          <p:nvPr/>
        </p:nvSpPr>
        <p:spPr>
          <a:xfrm>
            <a:off x="6492240" y="1920240"/>
            <a:ext cx="502920" cy="502920"/>
          </a:xfrm>
          <a:prstGeom prst="ellipse">
            <a:avLst/>
          </a:prstGeom>
          <a:solidFill>
            <a:schemeClr val="accent1"/>
          </a:solidFill>
          <a:ln w="12700">
            <a:solidFill>
              <a:schemeClr val="accent1"/>
            </a:solidFill>
            <a:prstDash val="solid"/>
          </a:ln>
        </p:spPr>
      </p:sp>
      <p:sp>
        <p:nvSpPr>
          <p:cNvPr id="18" name="Text 16"/>
          <p:cNvSpPr txBox="1"/>
          <p:nvPr/>
        </p:nvSpPr>
        <p:spPr>
          <a:xfrm>
            <a:off x="6492240" y="192024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9" name="Text 17"/>
          <p:cNvSpPr txBox="1"/>
          <p:nvPr/>
        </p:nvSpPr>
        <p:spPr>
          <a:xfrm>
            <a:off x="7223760" y="1874520"/>
            <a:ext cx="4389120" cy="960120"/>
          </a:xfrm>
          <a:prstGeom prst="rect">
            <a:avLst/>
          </a:prstGeom>
          <a:noFill/>
          <a:ln/>
        </p:spPr>
        <p:txBody>
          <a:bodyPr wrap="square" lIns="0" tIns="0" rIns="0" bIns="0" rtlCol="0" anchor="t"/>
          <a:lstStyle/>
          <a:p>
            <a:pPr indent="0" marL="0">
              <a:buNone/>
            </a:pPr>
            <a:r>
              <a:rPr lang="en-US" sz="1700" b="1" dirty="0">
                <a:solidFill>
                  <a:schemeClr val="tx1"/>
                </a:solidFill>
              </a:rPr>
              <a:t>Right source</a:t>
            </a:r>
            <a:endParaRPr lang="en-US" sz="1400" dirty="0"/>
          </a:p>
          <a:p>
            <a:pPr indent="0" marL="0">
              <a:buNone/>
            </a:pPr>
            <a:r>
              <a:rPr lang="en-US" sz="1400" dirty="0">
                <a:solidFill>
                  <a:schemeClr val="tx1"/>
                </a:solidFill>
              </a:rPr>
              <a:t>Each question routed to safety, maintenance or quality - or several when it spans domains.</a:t>
            </a:r>
            <a:endParaRPr lang="en-US" sz="1400" dirty="0"/>
          </a:p>
        </p:txBody>
      </p:sp>
      <p:sp>
        <p:nvSpPr>
          <p:cNvPr id="20" name="Shape 18"/>
          <p:cNvSpPr/>
          <p:nvPr/>
        </p:nvSpPr>
        <p:spPr>
          <a:xfrm>
            <a:off x="6492240" y="3017520"/>
            <a:ext cx="502920" cy="502920"/>
          </a:xfrm>
          <a:prstGeom prst="ellipse">
            <a:avLst/>
          </a:prstGeom>
          <a:solidFill>
            <a:schemeClr val="accent1"/>
          </a:solidFill>
          <a:ln w="12700">
            <a:solidFill>
              <a:schemeClr val="accent1"/>
            </a:solidFill>
            <a:prstDash val="solid"/>
          </a:ln>
        </p:spPr>
      </p:sp>
      <p:sp>
        <p:nvSpPr>
          <p:cNvPr id="21" name="Text 19"/>
          <p:cNvSpPr txBox="1"/>
          <p:nvPr/>
        </p:nvSpPr>
        <p:spPr>
          <a:xfrm>
            <a:off x="6492240" y="301752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2" name="Text 20"/>
          <p:cNvSpPr txBox="1"/>
          <p:nvPr/>
        </p:nvSpPr>
        <p:spPr>
          <a:xfrm>
            <a:off x="7223760" y="2971800"/>
            <a:ext cx="4389120" cy="960120"/>
          </a:xfrm>
          <a:prstGeom prst="rect">
            <a:avLst/>
          </a:prstGeom>
          <a:noFill/>
          <a:ln/>
        </p:spPr>
        <p:txBody>
          <a:bodyPr wrap="square" lIns="0" tIns="0" rIns="0" bIns="0" rtlCol="0" anchor="t"/>
          <a:lstStyle/>
          <a:p>
            <a:pPr indent="0" marL="0">
              <a:buNone/>
            </a:pPr>
            <a:r>
              <a:rPr lang="en-US" sz="1700" b="1" dirty="0">
                <a:solidFill>
                  <a:schemeClr val="tx1"/>
                </a:solidFill>
              </a:rPr>
              <a:t>Grounded and cited</a:t>
            </a:r>
            <a:endParaRPr lang="en-US" sz="1400" dirty="0"/>
          </a:p>
          <a:p>
            <a:pPr indent="0" marL="0">
              <a:buNone/>
            </a:pPr>
            <a:r>
              <a:rPr lang="en-US" sz="1400" dirty="0">
                <a:solidFill>
                  <a:schemeClr val="tx1"/>
                </a:solidFill>
              </a:rPr>
              <a:t>Every fact traceable to a document ID, revision and section.</a:t>
            </a:r>
            <a:endParaRPr lang="en-US" sz="1400" dirty="0"/>
          </a:p>
        </p:txBody>
      </p:sp>
      <p:sp>
        <p:nvSpPr>
          <p:cNvPr id="23" name="Shape 21"/>
          <p:cNvSpPr/>
          <p:nvPr/>
        </p:nvSpPr>
        <p:spPr>
          <a:xfrm>
            <a:off x="6492240" y="4114800"/>
            <a:ext cx="502920" cy="502920"/>
          </a:xfrm>
          <a:prstGeom prst="ellipse">
            <a:avLst/>
          </a:prstGeom>
          <a:solidFill>
            <a:schemeClr val="accent1"/>
          </a:solidFill>
          <a:ln w="12700">
            <a:solidFill>
              <a:schemeClr val="accent1"/>
            </a:solidFill>
            <a:prstDash val="solid"/>
          </a:ln>
        </p:spPr>
      </p:sp>
      <p:sp>
        <p:nvSpPr>
          <p:cNvPr id="24" name="Text 22"/>
          <p:cNvSpPr txBox="1"/>
          <p:nvPr/>
        </p:nvSpPr>
        <p:spPr>
          <a:xfrm>
            <a:off x="6492240" y="41148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 23"/>
          <p:cNvSpPr txBox="1"/>
          <p:nvPr/>
        </p:nvSpPr>
        <p:spPr>
          <a:xfrm>
            <a:off x="7223760" y="4069080"/>
            <a:ext cx="4389120" cy="960120"/>
          </a:xfrm>
          <a:prstGeom prst="rect">
            <a:avLst/>
          </a:prstGeom>
          <a:noFill/>
          <a:ln/>
        </p:spPr>
        <p:txBody>
          <a:bodyPr wrap="square" lIns="0" tIns="0" rIns="0" bIns="0" rtlCol="0" anchor="t"/>
          <a:lstStyle/>
          <a:p>
            <a:pPr indent="0" marL="0">
              <a:buNone/>
            </a:pPr>
            <a:r>
              <a:rPr lang="en-US" sz="1700" b="1" dirty="0">
                <a:solidFill>
                  <a:schemeClr val="tx1"/>
                </a:solidFill>
              </a:rPr>
              <a:t>Safety first</a:t>
            </a:r>
            <a:endParaRPr lang="en-US" sz="1400" dirty="0"/>
          </a:p>
          <a:p>
            <a:pPr indent="0" marL="0">
              <a:buNone/>
            </a:pPr>
            <a:r>
              <a:rPr lang="en-US" sz="1400" dirty="0">
                <a:solidFill>
                  <a:schemeClr val="tx1"/>
                </a:solidFill>
              </a:rPr>
              <a:t>Hands-on work always pulls lockout/tagout and PPE requirements.</a:t>
            </a:r>
            <a:endParaRPr lang="en-US" sz="1400" dirty="0"/>
          </a:p>
        </p:txBody>
      </p:sp>
      <p:sp>
        <p:nvSpPr>
          <p:cNvPr id="26" name="Shape 24"/>
          <p:cNvSpPr/>
          <p:nvPr/>
        </p:nvSpPr>
        <p:spPr>
          <a:xfrm>
            <a:off x="6492240" y="5212080"/>
            <a:ext cx="502920" cy="502920"/>
          </a:xfrm>
          <a:prstGeom prst="ellipse">
            <a:avLst/>
          </a:prstGeom>
          <a:solidFill>
            <a:schemeClr val="accent1"/>
          </a:solidFill>
          <a:ln w="12700">
            <a:solidFill>
              <a:schemeClr val="accent1"/>
            </a:solidFill>
            <a:prstDash val="solid"/>
          </a:ln>
        </p:spPr>
      </p:sp>
      <p:sp>
        <p:nvSpPr>
          <p:cNvPr id="27" name="Text 25"/>
          <p:cNvSpPr txBox="1"/>
          <p:nvPr/>
        </p:nvSpPr>
        <p:spPr>
          <a:xfrm>
            <a:off x="6492240" y="52120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8" name="Text 26"/>
          <p:cNvSpPr txBox="1"/>
          <p:nvPr/>
        </p:nvSpPr>
        <p:spPr>
          <a:xfrm>
            <a:off x="7223760" y="5166360"/>
            <a:ext cx="4389120" cy="960120"/>
          </a:xfrm>
          <a:prstGeom prst="rect">
            <a:avLst/>
          </a:prstGeom>
          <a:noFill/>
          <a:ln/>
        </p:spPr>
        <p:txBody>
          <a:bodyPr wrap="square" lIns="0" tIns="0" rIns="0" bIns="0" rtlCol="0" anchor="t"/>
          <a:lstStyle/>
          <a:p>
            <a:pPr indent="0" marL="0">
              <a:buNone/>
            </a:pPr>
            <a:r>
              <a:rPr lang="en-US" sz="1700" b="1" dirty="0">
                <a:solidFill>
                  <a:schemeClr val="tx1"/>
                </a:solidFill>
              </a:rPr>
              <a:t>Never guess</a:t>
            </a:r>
            <a:endParaRPr lang="en-US" sz="1400" dirty="0"/>
          </a:p>
          <a:p>
            <a:pPr indent="0" marL="0">
              <a:buNone/>
            </a:pPr>
            <a:r>
              <a:rPr lang="en-US" sz="1400" dirty="0">
                <a:solidFill>
                  <a:schemeClr val="tx1"/>
                </a:solidFill>
              </a:rPr>
              <a:t>If the documents do not cover it, say so and name the owner to call.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Business case: faster, safer floor decisions</a:t>
            </a:r>
            <a:endParaRPr lang="en-US" sz="3600" dirty="0"/>
          </a:p>
        </p:txBody>
      </p:sp>
      <p:sp>
        <p:nvSpPr>
          <p:cNvPr id="3" name="Text 1"/>
          <p:cNvSpPr txBox="1"/>
          <p:nvPr/>
        </p:nvSpPr>
        <p:spPr>
          <a:xfrm>
            <a:off x="548640" y="1280160"/>
            <a:ext cx="11064240" cy="365760"/>
          </a:xfrm>
          <a:prstGeom prst="rect">
            <a:avLst/>
          </a:prstGeom>
          <a:noFill/>
          <a:ln/>
        </p:spPr>
        <p:txBody>
          <a:bodyPr wrap="square" lIns="0" tIns="0" rIns="0" bIns="0" rtlCol="0" anchor="t"/>
          <a:lstStyle/>
          <a:p>
            <a:pPr indent="0" marL="0">
              <a:buNone/>
            </a:pPr>
            <a:r>
              <a:rPr lang="en-US" sz="1800" b="1" dirty="0">
                <a:solidFill>
                  <a:schemeClr val="accent5"/>
                </a:solidFill>
              </a:rPr>
              <a:t>Target outcomes for a pilot</a:t>
            </a:r>
            <a:endParaRPr lang="en-US" sz="1800" dirty="0"/>
          </a:p>
        </p:txBody>
      </p:sp>
      <p:sp>
        <p:nvSpPr>
          <p:cNvPr id="4" name="Text 2"/>
          <p:cNvSpPr txBox="1"/>
          <p:nvPr/>
        </p:nvSpPr>
        <p:spPr>
          <a:xfrm>
            <a:off x="548640" y="1691640"/>
            <a:ext cx="3566160" cy="777240"/>
          </a:xfrm>
          <a:prstGeom prst="rect">
            <a:avLst/>
          </a:prstGeom>
          <a:noFill/>
          <a:ln/>
        </p:spPr>
        <p:txBody>
          <a:bodyPr wrap="square" lIns="0" tIns="0" rIns="0" bIns="0" rtlCol="0" anchor="t"/>
          <a:lstStyle/>
          <a:p>
            <a:pPr indent="0" marL="0">
              <a:buNone/>
            </a:pPr>
            <a:r>
              <a:rPr lang="en-US" sz="4400" b="1" dirty="0">
                <a:solidFill>
                  <a:schemeClr val="accent1"/>
                </a:solidFill>
                <a:latin typeface="Arial" pitchFamily="34" charset="0"/>
                <a:ea typeface="Arial" pitchFamily="34" charset="-122"/>
                <a:cs typeface="Arial" pitchFamily="34" charset="-120"/>
              </a:rPr>
              <a:t>Seconds</a:t>
            </a:r>
            <a:endParaRPr lang="en-US" sz="4400" dirty="0"/>
          </a:p>
        </p:txBody>
      </p:sp>
      <p:sp>
        <p:nvSpPr>
          <p:cNvPr id="5" name="Text 3"/>
          <p:cNvSpPr txBox="1"/>
          <p:nvPr/>
        </p:nvSpPr>
        <p:spPr>
          <a:xfrm>
            <a:off x="548640" y="2468880"/>
            <a:ext cx="3383280" cy="685800"/>
          </a:xfrm>
          <a:prstGeom prst="rect">
            <a:avLst/>
          </a:prstGeom>
          <a:noFill/>
          <a:ln/>
        </p:spPr>
        <p:txBody>
          <a:bodyPr wrap="square" lIns="0" tIns="0" rIns="0" bIns="0" rtlCol="0" anchor="t"/>
          <a:lstStyle/>
          <a:p>
            <a:pPr indent="0" marL="0">
              <a:buNone/>
            </a:pPr>
            <a:r>
              <a:rPr lang="en-US" sz="1400" dirty="0">
                <a:solidFill>
                  <a:schemeClr val="tx1"/>
                </a:solidFill>
              </a:rPr>
              <a:t>to the right procedure, instead of searching three binders or calling an engineer</a:t>
            </a:r>
            <a:endParaRPr lang="en-US" sz="1400" dirty="0"/>
          </a:p>
        </p:txBody>
      </p:sp>
      <p:sp>
        <p:nvSpPr>
          <p:cNvPr id="6" name="Text 4"/>
          <p:cNvSpPr txBox="1"/>
          <p:nvPr/>
        </p:nvSpPr>
        <p:spPr>
          <a:xfrm>
            <a:off x="4297680" y="1691640"/>
            <a:ext cx="3566160" cy="777240"/>
          </a:xfrm>
          <a:prstGeom prst="rect">
            <a:avLst/>
          </a:prstGeom>
          <a:noFill/>
          <a:ln/>
        </p:spPr>
        <p:txBody>
          <a:bodyPr wrap="square" lIns="0" tIns="0" rIns="0" bIns="0" rtlCol="0" anchor="t"/>
          <a:lstStyle/>
          <a:p>
            <a:pPr indent="0" marL="0">
              <a:buNone/>
            </a:pPr>
            <a:r>
              <a:rPr lang="en-US" sz="4400" b="1" dirty="0">
                <a:solidFill>
                  <a:schemeClr val="accent6"/>
                </a:solidFill>
                <a:latin typeface="Arial" pitchFamily="34" charset="0"/>
                <a:ea typeface="Arial" pitchFamily="34" charset="-122"/>
                <a:cs typeface="Arial" pitchFamily="34" charset="-120"/>
              </a:rPr>
              <a:t>100%</a:t>
            </a:r>
            <a:endParaRPr lang="en-US" sz="4400" dirty="0"/>
          </a:p>
        </p:txBody>
      </p:sp>
      <p:sp>
        <p:nvSpPr>
          <p:cNvPr id="7" name="Text 5"/>
          <p:cNvSpPr txBox="1"/>
          <p:nvPr/>
        </p:nvSpPr>
        <p:spPr>
          <a:xfrm>
            <a:off x="4297680" y="2468880"/>
            <a:ext cx="3383280" cy="685800"/>
          </a:xfrm>
          <a:prstGeom prst="rect">
            <a:avLst/>
          </a:prstGeom>
          <a:noFill/>
          <a:ln/>
        </p:spPr>
        <p:txBody>
          <a:bodyPr wrap="square" lIns="0" tIns="0" rIns="0" bIns="0" rtlCol="0" anchor="t"/>
          <a:lstStyle/>
          <a:p>
            <a:pPr indent="0" marL="0">
              <a:buNone/>
            </a:pPr>
            <a:r>
              <a:rPr lang="en-US" sz="1400" dirty="0">
                <a:solidFill>
                  <a:schemeClr val="tx1"/>
                </a:solidFill>
              </a:rPr>
              <a:t>of answers cite document ID, revision and section - an audit trail for every decision</a:t>
            </a:r>
            <a:endParaRPr lang="en-US" sz="1400" dirty="0"/>
          </a:p>
        </p:txBody>
      </p:sp>
      <p:sp>
        <p:nvSpPr>
          <p:cNvPr id="8" name="Text 6"/>
          <p:cNvSpPr txBox="1"/>
          <p:nvPr/>
        </p:nvSpPr>
        <p:spPr>
          <a:xfrm>
            <a:off x="8046720" y="1691640"/>
            <a:ext cx="3566160" cy="777240"/>
          </a:xfrm>
          <a:prstGeom prst="rect">
            <a:avLst/>
          </a:prstGeom>
          <a:noFill/>
          <a:ln/>
        </p:spPr>
        <p:txBody>
          <a:bodyPr wrap="square" lIns="0" tIns="0" rIns="0" bIns="0" rtlCol="0" anchor="t"/>
          <a:lstStyle/>
          <a:p>
            <a:pPr indent="0" marL="0">
              <a:buNone/>
            </a:pPr>
            <a:r>
              <a:rPr lang="en-US" sz="4400" b="1" dirty="0">
                <a:solidFill>
                  <a:schemeClr val="accent4"/>
                </a:solidFill>
                <a:latin typeface="Arial" pitchFamily="34" charset="0"/>
                <a:ea typeface="Arial" pitchFamily="34" charset="-122"/>
                <a:cs typeface="Arial" pitchFamily="34" charset="-120"/>
              </a:rPr>
              <a:t>Fewer calls</a:t>
            </a:r>
            <a:endParaRPr lang="en-US" sz="4400" dirty="0"/>
          </a:p>
        </p:txBody>
      </p:sp>
      <p:sp>
        <p:nvSpPr>
          <p:cNvPr id="9" name="Text 7"/>
          <p:cNvSpPr txBox="1"/>
          <p:nvPr/>
        </p:nvSpPr>
        <p:spPr>
          <a:xfrm>
            <a:off x="8046720" y="2468880"/>
            <a:ext cx="3383280" cy="685800"/>
          </a:xfrm>
          <a:prstGeom prst="rect">
            <a:avLst/>
          </a:prstGeom>
          <a:noFill/>
          <a:ln/>
        </p:spPr>
        <p:txBody>
          <a:bodyPr wrap="square" lIns="0" tIns="0" rIns="0" bIns="0" rtlCol="0" anchor="t"/>
          <a:lstStyle/>
          <a:p>
            <a:pPr indent="0" marL="0">
              <a:buNone/>
            </a:pPr>
            <a:r>
              <a:rPr lang="en-US" sz="1400" dirty="0">
                <a:solidFill>
                  <a:schemeClr val="tx1"/>
                </a:solidFill>
              </a:rPr>
              <a:t>to EHS, maintenance and quality engineers for routine questions</a:t>
            </a:r>
            <a:endParaRPr lang="en-US" sz="1400" dirty="0"/>
          </a:p>
        </p:txBody>
      </p:sp>
      <p:sp>
        <p:nvSpPr>
          <p:cNvPr id="10" name="Shape 8"/>
          <p:cNvSpPr/>
          <p:nvPr/>
        </p:nvSpPr>
        <p:spPr>
          <a:xfrm>
            <a:off x="548640" y="3429000"/>
            <a:ext cx="3520440" cy="2606040"/>
          </a:xfrm>
          <a:prstGeom prst="roundRect">
            <a:avLst>
              <a:gd name="adj" fmla="val 2807"/>
            </a:avLst>
          </a:prstGeom>
          <a:solidFill>
            <a:schemeClr val="bg2"/>
          </a:solidFill>
          <a:ln w="12700">
            <a:solidFill>
              <a:schemeClr val="bg2"/>
            </a:solidFill>
            <a:prstDash val="solid"/>
          </a:ln>
        </p:spPr>
      </p:sp>
      <p:sp>
        <p:nvSpPr>
          <p:cNvPr id="11" name="Shape 9"/>
          <p:cNvSpPr/>
          <p:nvPr/>
        </p:nvSpPr>
        <p:spPr>
          <a:xfrm>
            <a:off x="777240" y="3657600"/>
            <a:ext cx="457200" cy="457200"/>
          </a:xfrm>
          <a:prstGeom prst="ellipse">
            <a:avLst/>
          </a:prstGeom>
          <a:solidFill>
            <a:schemeClr val="accent3"/>
          </a:solidFill>
          <a:ln w="12700">
            <a:solidFill>
              <a:schemeClr val="accent3"/>
            </a:solidFill>
            <a:prstDash val="solid"/>
          </a:ln>
        </p:spPr>
      </p:sp>
      <p:sp>
        <p:nvSpPr>
          <p:cNvPr id="12" name="Text 10"/>
          <p:cNvSpPr txBox="1"/>
          <p:nvPr/>
        </p:nvSpPr>
        <p:spPr>
          <a:xfrm>
            <a:off x="777240"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13" name="Text 11"/>
          <p:cNvSpPr txBox="1"/>
          <p:nvPr/>
        </p:nvSpPr>
        <p:spPr>
          <a:xfrm>
            <a:off x="1371600" y="3657600"/>
            <a:ext cx="2560320" cy="457200"/>
          </a:xfrm>
          <a:prstGeom prst="rect">
            <a:avLst/>
          </a:prstGeom>
          <a:noFill/>
          <a:ln/>
        </p:spPr>
        <p:txBody>
          <a:bodyPr wrap="square" lIns="0" tIns="0" rIns="0" bIns="0" rtlCol="0" anchor="ctr"/>
          <a:lstStyle/>
          <a:p>
            <a:pPr indent="0" marL="0">
              <a:buNone/>
            </a:pPr>
            <a:r>
              <a:rPr lang="en-US" sz="1600" b="1" dirty="0">
                <a:solidFill>
                  <a:schemeClr val="tx1"/>
                </a:solidFill>
              </a:rPr>
              <a:t>Breakdown on HP-200</a:t>
            </a:r>
            <a:endParaRPr lang="en-US" sz="1600" dirty="0"/>
          </a:p>
        </p:txBody>
      </p:sp>
      <p:sp>
        <p:nvSpPr>
          <p:cNvPr id="14" name="Text 12"/>
          <p:cNvSpPr txBox="1"/>
          <p:nvPr/>
        </p:nvSpPr>
        <p:spPr>
          <a:xfrm>
            <a:off x="777240" y="4297680"/>
            <a:ext cx="3108960" cy="164592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PlantAssist: </a:t>
            </a:r>
            <a:pPr indent="0" marL="0">
              <a:spcAft>
                <a:spcPts val="800"/>
              </a:spcAft>
              <a:buNone/>
            </a:pPr>
            <a:r>
              <a:rPr lang="en-US" sz="1400" dirty="0">
                <a:solidFill>
                  <a:schemeClr val="tx1"/>
                </a:solidFill>
              </a:rPr>
              <a:t>Seal replacement steps from the manual, with lockout/tagout pulled in automatically</a:t>
            </a:r>
            <a:endParaRPr lang="en-US" sz="1400" dirty="0"/>
          </a:p>
          <a:p>
            <a:pPr indent="0" marL="0">
              <a:spcAft>
                <a:spcPts val="800"/>
              </a:spcAft>
              <a:buNone/>
            </a:pPr>
            <a:r>
              <a:rPr lang="en-US" sz="1400" b="1" dirty="0">
                <a:solidFill>
                  <a:schemeClr val="accent3"/>
                </a:solidFill>
              </a:rPr>
              <a:t>Value: </a:t>
            </a:r>
            <a:pPr indent="0" marL="0">
              <a:spcAft>
                <a:spcPts val="800"/>
              </a:spcAft>
              <a:buNone/>
            </a:pPr>
            <a:r>
              <a:rPr lang="en-US" sz="1400" dirty="0">
                <a:solidFill>
                  <a:schemeClr val="tx1"/>
                </a:solidFill>
              </a:rPr>
              <a:t>Shorter downtime; no missed energy isolation</a:t>
            </a:r>
            <a:endParaRPr lang="en-US" sz="1400" dirty="0"/>
          </a:p>
        </p:txBody>
      </p:sp>
      <p:sp>
        <p:nvSpPr>
          <p:cNvPr id="15" name="Shape 13"/>
          <p:cNvSpPr/>
          <p:nvPr/>
        </p:nvSpPr>
        <p:spPr>
          <a:xfrm>
            <a:off x="4297680" y="3429000"/>
            <a:ext cx="3520440" cy="2606040"/>
          </a:xfrm>
          <a:prstGeom prst="roundRect">
            <a:avLst>
              <a:gd name="adj" fmla="val 2807"/>
            </a:avLst>
          </a:prstGeom>
          <a:solidFill>
            <a:schemeClr val="bg2"/>
          </a:solidFill>
          <a:ln w="12700">
            <a:solidFill>
              <a:schemeClr val="bg2"/>
            </a:solidFill>
            <a:prstDash val="solid"/>
          </a:ln>
        </p:spPr>
      </p:sp>
      <p:sp>
        <p:nvSpPr>
          <p:cNvPr id="16" name="Shape 14"/>
          <p:cNvSpPr/>
          <p:nvPr/>
        </p:nvSpPr>
        <p:spPr>
          <a:xfrm>
            <a:off x="4526280" y="3657600"/>
            <a:ext cx="457200" cy="457200"/>
          </a:xfrm>
          <a:prstGeom prst="ellipse">
            <a:avLst/>
          </a:prstGeom>
          <a:solidFill>
            <a:schemeClr val="accent2"/>
          </a:solidFill>
          <a:ln w="12700">
            <a:solidFill>
              <a:schemeClr val="accent2"/>
            </a:solidFill>
            <a:prstDash val="solid"/>
          </a:ln>
        </p:spPr>
      </p:sp>
      <p:sp>
        <p:nvSpPr>
          <p:cNvPr id="17" name="Text 15"/>
          <p:cNvSpPr txBox="1"/>
          <p:nvPr/>
        </p:nvSpPr>
        <p:spPr>
          <a:xfrm>
            <a:off x="4526280"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8" name="Text 16"/>
          <p:cNvSpPr txBox="1"/>
          <p:nvPr/>
        </p:nvSpPr>
        <p:spPr>
          <a:xfrm>
            <a:off x="5120640" y="3657600"/>
            <a:ext cx="2560320" cy="457200"/>
          </a:xfrm>
          <a:prstGeom prst="rect">
            <a:avLst/>
          </a:prstGeom>
          <a:noFill/>
          <a:ln/>
        </p:spPr>
        <p:txBody>
          <a:bodyPr wrap="square" lIns="0" tIns="0" rIns="0" bIns="0" rtlCol="0" anchor="ctr"/>
          <a:lstStyle/>
          <a:p>
            <a:pPr indent="0" marL="0">
              <a:buNone/>
            </a:pPr>
            <a:r>
              <a:rPr lang="en-US" sz="1600" b="1" dirty="0">
                <a:solidFill>
                  <a:schemeClr val="tx1"/>
                </a:solidFill>
              </a:rPr>
              <a:t>Solvent spill on line 3</a:t>
            </a:r>
            <a:endParaRPr lang="en-US" sz="1600" dirty="0"/>
          </a:p>
        </p:txBody>
      </p:sp>
      <p:sp>
        <p:nvSpPr>
          <p:cNvPr id="19" name="Text 17"/>
          <p:cNvSpPr txBox="1"/>
          <p:nvPr/>
        </p:nvSpPr>
        <p:spPr>
          <a:xfrm>
            <a:off x="4526280" y="4297680"/>
            <a:ext cx="3108960" cy="164592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PlantAssist: </a:t>
            </a:r>
            <a:pPr indent="0" marL="0">
              <a:spcAft>
                <a:spcPts val="800"/>
              </a:spcAft>
              <a:buNone/>
            </a:pPr>
            <a:r>
              <a:rPr lang="en-US" sz="1400" dirty="0">
                <a:solidFill>
                  <a:schemeClr val="tx1"/>
                </a:solidFill>
              </a:rPr>
              <a:t>Emergency banner first, then the major-spill response with the right extension</a:t>
            </a:r>
            <a:endParaRPr lang="en-US" sz="1400" dirty="0"/>
          </a:p>
          <a:p>
            <a:pPr indent="0" marL="0">
              <a:spcAft>
                <a:spcPts val="800"/>
              </a:spcAft>
              <a:buNone/>
            </a:pPr>
            <a:r>
              <a:rPr lang="en-US" sz="1400" b="1" dirty="0">
                <a:solidFill>
                  <a:schemeClr val="accent2"/>
                </a:solidFill>
              </a:rPr>
              <a:t>Value: </a:t>
            </a:r>
            <a:pPr indent="0" marL="0">
              <a:spcAft>
                <a:spcPts val="800"/>
              </a:spcAft>
              <a:buNone/>
            </a:pPr>
            <a:r>
              <a:rPr lang="en-US" sz="1400" dirty="0">
                <a:solidFill>
                  <a:schemeClr val="tx1"/>
                </a:solidFill>
              </a:rPr>
              <a:t>Faster, compliant response; no improvising</a:t>
            </a:r>
            <a:endParaRPr lang="en-US" sz="1400" dirty="0"/>
          </a:p>
        </p:txBody>
      </p:sp>
      <p:sp>
        <p:nvSpPr>
          <p:cNvPr id="20" name="Shape 18"/>
          <p:cNvSpPr/>
          <p:nvPr/>
        </p:nvSpPr>
        <p:spPr>
          <a:xfrm>
            <a:off x="8046720" y="3429000"/>
            <a:ext cx="3520440" cy="2606040"/>
          </a:xfrm>
          <a:prstGeom prst="roundRect">
            <a:avLst>
              <a:gd name="adj" fmla="val 2807"/>
            </a:avLst>
          </a:prstGeom>
          <a:solidFill>
            <a:schemeClr val="bg2"/>
          </a:solidFill>
          <a:ln w="12700">
            <a:solidFill>
              <a:schemeClr val="bg2"/>
            </a:solidFill>
            <a:prstDash val="solid"/>
          </a:ln>
        </p:spPr>
      </p:sp>
      <p:sp>
        <p:nvSpPr>
          <p:cNvPr id="21" name="Shape 19"/>
          <p:cNvSpPr/>
          <p:nvPr/>
        </p:nvSpPr>
        <p:spPr>
          <a:xfrm>
            <a:off x="8275320" y="3657600"/>
            <a:ext cx="457200" cy="457200"/>
          </a:xfrm>
          <a:prstGeom prst="ellipse">
            <a:avLst/>
          </a:prstGeom>
          <a:solidFill>
            <a:schemeClr val="accent4"/>
          </a:solidFill>
          <a:ln w="12700">
            <a:solidFill>
              <a:schemeClr val="accent4"/>
            </a:solidFill>
            <a:prstDash val="solid"/>
          </a:ln>
        </p:spPr>
      </p:sp>
      <p:sp>
        <p:nvSpPr>
          <p:cNvPr id="22" name="Text 20"/>
          <p:cNvSpPr txBox="1"/>
          <p:nvPr/>
        </p:nvSpPr>
        <p:spPr>
          <a:xfrm>
            <a:off x="8275320" y="3657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3" name="Text 21"/>
          <p:cNvSpPr txBox="1"/>
          <p:nvPr/>
        </p:nvSpPr>
        <p:spPr>
          <a:xfrm>
            <a:off x="8869680" y="3657600"/>
            <a:ext cx="2560320" cy="457200"/>
          </a:xfrm>
          <a:prstGeom prst="rect">
            <a:avLst/>
          </a:prstGeom>
          <a:noFill/>
          <a:ln/>
        </p:spPr>
        <p:txBody>
          <a:bodyPr wrap="square" lIns="0" tIns="0" rIns="0" bIns="0" rtlCol="0" anchor="ctr"/>
          <a:lstStyle/>
          <a:p>
            <a:pPr indent="0" marL="0">
              <a:buNone/>
            </a:pPr>
            <a:r>
              <a:rPr lang="en-US" sz="1600" b="1" dirty="0">
                <a:solidFill>
                  <a:schemeClr val="tx1"/>
                </a:solidFill>
              </a:rPr>
              <a:t>SPC alarm on a CTQ</a:t>
            </a:r>
            <a:endParaRPr lang="en-US" sz="1600" dirty="0"/>
          </a:p>
        </p:txBody>
      </p:sp>
      <p:sp>
        <p:nvSpPr>
          <p:cNvPr id="24" name="Text 22"/>
          <p:cNvSpPr txBox="1"/>
          <p:nvPr/>
        </p:nvSpPr>
        <p:spPr>
          <a:xfrm>
            <a:off x="8275320" y="4297680"/>
            <a:ext cx="3108960" cy="1645920"/>
          </a:xfrm>
          <a:prstGeom prst="rect">
            <a:avLst/>
          </a:prstGeom>
          <a:noFill/>
          <a:ln/>
        </p:spPr>
        <p:txBody>
          <a:bodyPr wrap="square" lIns="0" tIns="0" rIns="0" bIns="0" rtlCol="0" anchor="t"/>
          <a:lstStyle/>
          <a:p>
            <a:pPr indent="0" marL="0">
              <a:spcAft>
                <a:spcPts val="800"/>
              </a:spcAft>
              <a:buNone/>
            </a:pPr>
            <a:r>
              <a:rPr lang="en-US" sz="1400" b="1" dirty="0">
                <a:solidFill>
                  <a:schemeClr val="tx1"/>
                </a:solidFill>
              </a:rPr>
              <a:t>PlantAssist: </a:t>
            </a:r>
            <a:pPr indent="0" marL="0">
              <a:spcAft>
                <a:spcPts val="800"/>
              </a:spcAft>
              <a:buNone/>
            </a:pPr>
            <a:r>
              <a:rPr lang="en-US" sz="1400" dirty="0">
                <a:solidFill>
                  <a:schemeClr val="tx1"/>
                </a:solidFill>
              </a:rPr>
              <a:t>Western Electric rule identified plus the containment and reaction plan</a:t>
            </a:r>
            <a:endParaRPr lang="en-US" sz="1400" dirty="0"/>
          </a:p>
          <a:p>
            <a:pPr indent="0" marL="0">
              <a:spcAft>
                <a:spcPts val="800"/>
              </a:spcAft>
              <a:buNone/>
            </a:pPr>
            <a:r>
              <a:rPr lang="en-US" sz="1400" b="1" dirty="0">
                <a:solidFill>
                  <a:schemeClr val="accent4"/>
                </a:solidFill>
              </a:rPr>
              <a:t>Value: </a:t>
            </a:r>
            <a:pPr indent="0" marL="0">
              <a:spcAft>
                <a:spcPts val="800"/>
              </a:spcAft>
              <a:buNone/>
            </a:pPr>
            <a:r>
              <a:rPr lang="en-US" sz="1400" dirty="0">
                <a:solidFill>
                  <a:schemeClr val="tx1"/>
                </a:solidFill>
              </a:rPr>
              <a:t>Suspect parts held earlier; fewer escapes</a:t>
            </a:r>
            <a:endParaRPr lang="en-US" sz="1400" dirty="0"/>
          </a:p>
        </p:txBody>
      </p:sp>
      <p:sp>
        <p:nvSpPr>
          <p:cNvPr id="25" name="Text 23"/>
          <p:cNvSpPr txBox="1"/>
          <p:nvPr/>
        </p:nvSpPr>
        <p:spPr>
          <a:xfrm>
            <a:off x="548640" y="6108192"/>
            <a:ext cx="11064240" cy="274320"/>
          </a:xfrm>
          <a:prstGeom prst="rect">
            <a:avLst/>
          </a:prstGeom>
          <a:noFill/>
          <a:ln/>
        </p:spPr>
        <p:txBody>
          <a:bodyPr wrap="square" lIns="0" tIns="0" rIns="0" bIns="0" rtlCol="0" anchor="t"/>
          <a:lstStyle/>
          <a:p>
            <a:pPr indent="0" marL="0">
              <a:buNone/>
            </a:pPr>
            <a:r>
              <a:rPr lang="en-US" sz="1200" dirty="0">
                <a:solidFill>
                  <a:schemeClr val="accent5"/>
                </a:solidFill>
              </a:rPr>
              <a:t>Users: floor supervisors  |  Content owners: EHS, Maintenance, Quality  |  Sponsor: plant operations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One question in, one cited answer out</a:t>
            </a:r>
            <a:endParaRPr lang="en-US" sz="3600" dirty="0"/>
          </a:p>
        </p:txBody>
      </p:sp>
      <p:sp>
        <p:nvSpPr>
          <p:cNvPr id="3" name="Shape 1"/>
          <p:cNvSpPr/>
          <p:nvPr/>
        </p:nvSpPr>
        <p:spPr>
          <a:xfrm>
            <a:off x="548640" y="1600200"/>
            <a:ext cx="1691640" cy="1600200"/>
          </a:xfrm>
          <a:prstGeom prst="roundRect">
            <a:avLst>
              <a:gd name="adj" fmla="val 4571"/>
            </a:avLst>
          </a:prstGeom>
          <a:solidFill>
            <a:schemeClr val="bg2"/>
          </a:solidFill>
          <a:ln w="12700">
            <a:solidFill>
              <a:schemeClr val="bg2"/>
            </a:solidFill>
            <a:prstDash val="solid"/>
          </a:ln>
        </p:spPr>
      </p:sp>
      <p:sp>
        <p:nvSpPr>
          <p:cNvPr id="4" name="Shape 2"/>
          <p:cNvSpPr/>
          <p:nvPr/>
        </p:nvSpPr>
        <p:spPr>
          <a:xfrm>
            <a:off x="731520" y="1783080"/>
            <a:ext cx="457200" cy="457200"/>
          </a:xfrm>
          <a:prstGeom prst="ellipse">
            <a:avLst/>
          </a:prstGeom>
          <a:solidFill>
            <a:schemeClr val="accent6"/>
          </a:solidFill>
          <a:ln w="12700">
            <a:solidFill>
              <a:schemeClr val="accent6"/>
            </a:solidFill>
            <a:prstDash val="solid"/>
          </a:ln>
        </p:spPr>
      </p:sp>
      <p:sp>
        <p:nvSpPr>
          <p:cNvPr id="5" name="Text 3"/>
          <p:cNvSpPr txBox="1"/>
          <p:nvPr/>
        </p:nvSpPr>
        <p:spPr>
          <a:xfrm>
            <a:off x="731520"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731520" y="2331720"/>
            <a:ext cx="1371600" cy="822960"/>
          </a:xfrm>
          <a:prstGeom prst="rect">
            <a:avLst/>
          </a:prstGeom>
          <a:noFill/>
          <a:ln/>
        </p:spPr>
        <p:txBody>
          <a:bodyPr wrap="square" lIns="0" tIns="0" rIns="0" bIns="0" rtlCol="0" anchor="t"/>
          <a:lstStyle/>
          <a:p>
            <a:pPr indent="0" marL="0">
              <a:buNone/>
            </a:pPr>
            <a:r>
              <a:rPr lang="en-US" sz="1700" b="1" dirty="0">
                <a:solidFill>
                  <a:schemeClr val="tx1"/>
                </a:solidFill>
              </a:rPr>
              <a:t>Analyze</a:t>
            </a:r>
            <a:endParaRPr lang="en-US" sz="1400" dirty="0"/>
          </a:p>
          <a:p>
            <a:pPr indent="0" marL="0">
              <a:buNone/>
            </a:pPr>
            <a:r>
              <a:rPr lang="en-US" sz="1400" dirty="0">
                <a:solidFill>
                  <a:schemeClr val="accent5"/>
                </a:solidFill>
              </a:rPr>
              <a:t>Detect emergency language</a:t>
            </a:r>
            <a:endParaRPr lang="en-US" sz="1400" dirty="0"/>
          </a:p>
        </p:txBody>
      </p:sp>
      <p:sp>
        <p:nvSpPr>
          <p:cNvPr id="7" name="Shape 5"/>
          <p:cNvSpPr/>
          <p:nvPr/>
        </p:nvSpPr>
        <p:spPr>
          <a:xfrm>
            <a:off x="2258568" y="2395728"/>
            <a:ext cx="146304" cy="914"/>
          </a:xfrm>
          <a:prstGeom prst="line">
            <a:avLst/>
          </a:prstGeom>
          <a:noFill/>
          <a:ln w="25400">
            <a:solidFill>
              <a:schemeClr val="accent6"/>
            </a:solidFill>
            <a:prstDash val="solid"/>
            <a:tailEnd type="triangle"/>
          </a:ln>
        </p:spPr>
      </p:sp>
      <p:sp>
        <p:nvSpPr>
          <p:cNvPr id="8" name="Shape 6"/>
          <p:cNvSpPr/>
          <p:nvPr/>
        </p:nvSpPr>
        <p:spPr>
          <a:xfrm>
            <a:off x="2423160" y="1600200"/>
            <a:ext cx="1691640" cy="1600200"/>
          </a:xfrm>
          <a:prstGeom prst="roundRect">
            <a:avLst>
              <a:gd name="adj" fmla="val 4571"/>
            </a:avLst>
          </a:prstGeom>
          <a:solidFill>
            <a:schemeClr val="bg2"/>
          </a:solidFill>
          <a:ln w="12700">
            <a:solidFill>
              <a:schemeClr val="bg2"/>
            </a:solidFill>
            <a:prstDash val="solid"/>
          </a:ln>
        </p:spPr>
      </p:sp>
      <p:sp>
        <p:nvSpPr>
          <p:cNvPr id="9" name="Shape 7"/>
          <p:cNvSpPr/>
          <p:nvPr/>
        </p:nvSpPr>
        <p:spPr>
          <a:xfrm>
            <a:off x="2606040" y="1783080"/>
            <a:ext cx="457200" cy="457200"/>
          </a:xfrm>
          <a:prstGeom prst="ellipse">
            <a:avLst/>
          </a:prstGeom>
          <a:solidFill>
            <a:schemeClr val="accent6"/>
          </a:solidFill>
          <a:ln w="12700">
            <a:solidFill>
              <a:schemeClr val="accent6"/>
            </a:solidFill>
            <a:prstDash val="solid"/>
          </a:ln>
        </p:spPr>
      </p:sp>
      <p:sp>
        <p:nvSpPr>
          <p:cNvPr id="10" name="Text 8"/>
          <p:cNvSpPr txBox="1"/>
          <p:nvPr/>
        </p:nvSpPr>
        <p:spPr>
          <a:xfrm>
            <a:off x="2606040"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1" name="Text 9"/>
          <p:cNvSpPr txBox="1"/>
          <p:nvPr/>
        </p:nvSpPr>
        <p:spPr>
          <a:xfrm>
            <a:off x="2606040" y="2331720"/>
            <a:ext cx="1371600" cy="822960"/>
          </a:xfrm>
          <a:prstGeom prst="rect">
            <a:avLst/>
          </a:prstGeom>
          <a:noFill/>
          <a:ln/>
        </p:spPr>
        <p:txBody>
          <a:bodyPr wrap="square" lIns="0" tIns="0" rIns="0" bIns="0" rtlCol="0" anchor="t"/>
          <a:lstStyle/>
          <a:p>
            <a:pPr indent="0" marL="0">
              <a:buNone/>
            </a:pPr>
            <a:r>
              <a:rPr lang="en-US" sz="1700" b="1" dirty="0">
                <a:solidFill>
                  <a:schemeClr val="tx1"/>
                </a:solidFill>
              </a:rPr>
              <a:t>Route</a:t>
            </a:r>
            <a:endParaRPr lang="en-US" sz="1400" dirty="0"/>
          </a:p>
          <a:p>
            <a:pPr indent="0" marL="0">
              <a:buNone/>
            </a:pPr>
            <a:r>
              <a:rPr lang="en-US" sz="1400" dirty="0">
                <a:solidFill>
                  <a:schemeClr val="accent5"/>
                </a:solidFill>
              </a:rPr>
              <a:t>LLM picks source + confidence</a:t>
            </a:r>
            <a:endParaRPr lang="en-US" sz="1400" dirty="0"/>
          </a:p>
        </p:txBody>
      </p:sp>
      <p:sp>
        <p:nvSpPr>
          <p:cNvPr id="12" name="Shape 10"/>
          <p:cNvSpPr/>
          <p:nvPr/>
        </p:nvSpPr>
        <p:spPr>
          <a:xfrm>
            <a:off x="4133088" y="2395728"/>
            <a:ext cx="146304" cy="914"/>
          </a:xfrm>
          <a:prstGeom prst="line">
            <a:avLst/>
          </a:prstGeom>
          <a:noFill/>
          <a:ln w="25400">
            <a:solidFill>
              <a:schemeClr val="accent6"/>
            </a:solidFill>
            <a:prstDash val="solid"/>
            <a:tailEnd type="triangle"/>
          </a:ln>
        </p:spPr>
      </p:sp>
      <p:sp>
        <p:nvSpPr>
          <p:cNvPr id="13" name="Shape 11"/>
          <p:cNvSpPr/>
          <p:nvPr/>
        </p:nvSpPr>
        <p:spPr>
          <a:xfrm>
            <a:off x="4297680" y="1600200"/>
            <a:ext cx="1691640" cy="1600200"/>
          </a:xfrm>
          <a:prstGeom prst="roundRect">
            <a:avLst>
              <a:gd name="adj" fmla="val 4571"/>
            </a:avLst>
          </a:prstGeom>
          <a:solidFill>
            <a:schemeClr val="bg2"/>
          </a:solidFill>
          <a:ln w="12700">
            <a:solidFill>
              <a:schemeClr val="bg2"/>
            </a:solidFill>
            <a:prstDash val="solid"/>
          </a:ln>
        </p:spPr>
      </p:sp>
      <p:sp>
        <p:nvSpPr>
          <p:cNvPr id="14" name="Shape 12"/>
          <p:cNvSpPr/>
          <p:nvPr/>
        </p:nvSpPr>
        <p:spPr>
          <a:xfrm>
            <a:off x="4480560" y="1783080"/>
            <a:ext cx="457200" cy="457200"/>
          </a:xfrm>
          <a:prstGeom prst="ellipse">
            <a:avLst/>
          </a:prstGeom>
          <a:solidFill>
            <a:schemeClr val="accent6"/>
          </a:solidFill>
          <a:ln w="12700">
            <a:solidFill>
              <a:schemeClr val="accent6"/>
            </a:solidFill>
            <a:prstDash val="solid"/>
          </a:ln>
        </p:spPr>
      </p:sp>
      <p:sp>
        <p:nvSpPr>
          <p:cNvPr id="15" name="Text 13"/>
          <p:cNvSpPr txBox="1"/>
          <p:nvPr/>
        </p:nvSpPr>
        <p:spPr>
          <a:xfrm>
            <a:off x="4480560"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6" name="Text 14"/>
          <p:cNvSpPr txBox="1"/>
          <p:nvPr/>
        </p:nvSpPr>
        <p:spPr>
          <a:xfrm>
            <a:off x="4480560" y="2331720"/>
            <a:ext cx="1371600" cy="822960"/>
          </a:xfrm>
          <a:prstGeom prst="rect">
            <a:avLst/>
          </a:prstGeom>
          <a:noFill/>
          <a:ln/>
        </p:spPr>
        <p:txBody>
          <a:bodyPr wrap="square" lIns="0" tIns="0" rIns="0" bIns="0" rtlCol="0" anchor="t"/>
          <a:lstStyle/>
          <a:p>
            <a:pPr indent="0" marL="0">
              <a:buNone/>
            </a:pPr>
            <a:r>
              <a:rPr lang="en-US" sz="1700" b="1" dirty="0">
                <a:solidFill>
                  <a:schemeClr val="tx1"/>
                </a:solidFill>
              </a:rPr>
              <a:t>Retrieve</a:t>
            </a:r>
            <a:endParaRPr lang="en-US" sz="1400" dirty="0"/>
          </a:p>
          <a:p>
            <a:pPr indent="0" marL="0">
              <a:buNone/>
            </a:pPr>
            <a:r>
              <a:rPr lang="en-US" sz="1400" dirty="0">
                <a:solidFill>
                  <a:schemeClr val="accent5"/>
                </a:solidFill>
              </a:rPr>
              <a:t>Parallel hybrid search per source</a:t>
            </a:r>
            <a:endParaRPr lang="en-US" sz="1400" dirty="0"/>
          </a:p>
        </p:txBody>
      </p:sp>
      <p:sp>
        <p:nvSpPr>
          <p:cNvPr id="17" name="Shape 15"/>
          <p:cNvSpPr/>
          <p:nvPr/>
        </p:nvSpPr>
        <p:spPr>
          <a:xfrm>
            <a:off x="6007608" y="2395728"/>
            <a:ext cx="146304" cy="914"/>
          </a:xfrm>
          <a:prstGeom prst="line">
            <a:avLst/>
          </a:prstGeom>
          <a:noFill/>
          <a:ln w="25400">
            <a:solidFill>
              <a:schemeClr val="accent6"/>
            </a:solidFill>
            <a:prstDash val="solid"/>
            <a:tailEnd type="triangle"/>
          </a:ln>
        </p:spPr>
      </p:sp>
      <p:sp>
        <p:nvSpPr>
          <p:cNvPr id="18" name="Shape 16"/>
          <p:cNvSpPr/>
          <p:nvPr/>
        </p:nvSpPr>
        <p:spPr>
          <a:xfrm>
            <a:off x="6172200" y="1600200"/>
            <a:ext cx="1691640" cy="1600200"/>
          </a:xfrm>
          <a:prstGeom prst="roundRect">
            <a:avLst>
              <a:gd name="adj" fmla="val 4571"/>
            </a:avLst>
          </a:prstGeom>
          <a:solidFill>
            <a:schemeClr val="bg2"/>
          </a:solidFill>
          <a:ln w="12700">
            <a:solidFill>
              <a:schemeClr val="bg2"/>
            </a:solidFill>
            <a:prstDash val="solid"/>
          </a:ln>
        </p:spPr>
      </p:sp>
      <p:sp>
        <p:nvSpPr>
          <p:cNvPr id="19" name="Shape 17"/>
          <p:cNvSpPr/>
          <p:nvPr/>
        </p:nvSpPr>
        <p:spPr>
          <a:xfrm>
            <a:off x="6355080" y="1783080"/>
            <a:ext cx="457200" cy="457200"/>
          </a:xfrm>
          <a:prstGeom prst="ellipse">
            <a:avLst/>
          </a:prstGeom>
          <a:solidFill>
            <a:schemeClr val="accent6"/>
          </a:solidFill>
          <a:ln w="12700">
            <a:solidFill>
              <a:schemeClr val="accent6"/>
            </a:solidFill>
            <a:prstDash val="solid"/>
          </a:ln>
        </p:spPr>
      </p:sp>
      <p:sp>
        <p:nvSpPr>
          <p:cNvPr id="20" name="Text 18"/>
          <p:cNvSpPr txBox="1"/>
          <p:nvPr/>
        </p:nvSpPr>
        <p:spPr>
          <a:xfrm>
            <a:off x="6355080"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21" name="Text 19"/>
          <p:cNvSpPr txBox="1"/>
          <p:nvPr/>
        </p:nvSpPr>
        <p:spPr>
          <a:xfrm>
            <a:off x="6355080" y="2331720"/>
            <a:ext cx="1371600" cy="822960"/>
          </a:xfrm>
          <a:prstGeom prst="rect">
            <a:avLst/>
          </a:prstGeom>
          <a:noFill/>
          <a:ln/>
        </p:spPr>
        <p:txBody>
          <a:bodyPr wrap="square" lIns="0" tIns="0" rIns="0" bIns="0" rtlCol="0" anchor="t"/>
          <a:lstStyle/>
          <a:p>
            <a:pPr indent="0" marL="0">
              <a:buNone/>
            </a:pPr>
            <a:r>
              <a:rPr lang="en-US" sz="1700" b="1" dirty="0">
                <a:solidFill>
                  <a:schemeClr val="tx1"/>
                </a:solidFill>
              </a:rPr>
              <a:t>Grade</a:t>
            </a:r>
            <a:endParaRPr lang="en-US" sz="1400" dirty="0"/>
          </a:p>
          <a:p>
            <a:pPr indent="0" marL="0">
              <a:buNone/>
            </a:pPr>
            <a:r>
              <a:rPr lang="en-US" sz="1400" dirty="0">
                <a:solidFill>
                  <a:schemeClr val="accent5"/>
                </a:solidFill>
              </a:rPr>
              <a:t>Drop weak chunks, rewrite and retry</a:t>
            </a:r>
            <a:endParaRPr lang="en-US" sz="1400" dirty="0"/>
          </a:p>
        </p:txBody>
      </p:sp>
      <p:sp>
        <p:nvSpPr>
          <p:cNvPr id="22" name="Shape 20"/>
          <p:cNvSpPr/>
          <p:nvPr/>
        </p:nvSpPr>
        <p:spPr>
          <a:xfrm>
            <a:off x="7882128" y="2395728"/>
            <a:ext cx="146304" cy="914"/>
          </a:xfrm>
          <a:prstGeom prst="line">
            <a:avLst/>
          </a:prstGeom>
          <a:noFill/>
          <a:ln w="25400">
            <a:solidFill>
              <a:schemeClr val="accent6"/>
            </a:solidFill>
            <a:prstDash val="solid"/>
            <a:tailEnd type="triangle"/>
          </a:ln>
        </p:spPr>
      </p:sp>
      <p:sp>
        <p:nvSpPr>
          <p:cNvPr id="23" name="Shape 21"/>
          <p:cNvSpPr/>
          <p:nvPr/>
        </p:nvSpPr>
        <p:spPr>
          <a:xfrm>
            <a:off x="8046720" y="1600200"/>
            <a:ext cx="1691640" cy="1600200"/>
          </a:xfrm>
          <a:prstGeom prst="roundRect">
            <a:avLst>
              <a:gd name="adj" fmla="val 4571"/>
            </a:avLst>
          </a:prstGeom>
          <a:solidFill>
            <a:schemeClr val="bg2"/>
          </a:solidFill>
          <a:ln w="12700">
            <a:solidFill>
              <a:schemeClr val="bg2"/>
            </a:solidFill>
            <a:prstDash val="solid"/>
          </a:ln>
        </p:spPr>
      </p:sp>
      <p:sp>
        <p:nvSpPr>
          <p:cNvPr id="24" name="Shape 22"/>
          <p:cNvSpPr/>
          <p:nvPr/>
        </p:nvSpPr>
        <p:spPr>
          <a:xfrm>
            <a:off x="8229600" y="1783080"/>
            <a:ext cx="457200" cy="457200"/>
          </a:xfrm>
          <a:prstGeom prst="ellipse">
            <a:avLst/>
          </a:prstGeom>
          <a:solidFill>
            <a:schemeClr val="accent6"/>
          </a:solidFill>
          <a:ln w="12700">
            <a:solidFill>
              <a:schemeClr val="accent6"/>
            </a:solidFill>
            <a:prstDash val="solid"/>
          </a:ln>
        </p:spPr>
      </p:sp>
      <p:sp>
        <p:nvSpPr>
          <p:cNvPr id="25" name="Text 23"/>
          <p:cNvSpPr txBox="1"/>
          <p:nvPr/>
        </p:nvSpPr>
        <p:spPr>
          <a:xfrm>
            <a:off x="8229600"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6" name="Text 24"/>
          <p:cNvSpPr txBox="1"/>
          <p:nvPr/>
        </p:nvSpPr>
        <p:spPr>
          <a:xfrm>
            <a:off x="8229600" y="2331720"/>
            <a:ext cx="1371600" cy="822960"/>
          </a:xfrm>
          <a:prstGeom prst="rect">
            <a:avLst/>
          </a:prstGeom>
          <a:noFill/>
          <a:ln/>
        </p:spPr>
        <p:txBody>
          <a:bodyPr wrap="square" lIns="0" tIns="0" rIns="0" bIns="0" rtlCol="0" anchor="t"/>
          <a:lstStyle/>
          <a:p>
            <a:pPr indent="0" marL="0">
              <a:buNone/>
            </a:pPr>
            <a:r>
              <a:rPr lang="en-US" sz="1700" b="1" dirty="0">
                <a:solidFill>
                  <a:schemeClr val="tx1"/>
                </a:solidFill>
              </a:rPr>
              <a:t>Generate</a:t>
            </a:r>
            <a:endParaRPr lang="en-US" sz="1400" dirty="0"/>
          </a:p>
          <a:p>
            <a:pPr indent="0" marL="0">
              <a:buNone/>
            </a:pPr>
            <a:r>
              <a:rPr lang="en-US" sz="1400" dirty="0">
                <a:solidFill>
                  <a:schemeClr val="accent5"/>
                </a:solidFill>
              </a:rPr>
              <a:t>Cited answer from excerpts only</a:t>
            </a:r>
            <a:endParaRPr lang="en-US" sz="1400" dirty="0"/>
          </a:p>
        </p:txBody>
      </p:sp>
      <p:sp>
        <p:nvSpPr>
          <p:cNvPr id="27" name="Shape 25"/>
          <p:cNvSpPr/>
          <p:nvPr/>
        </p:nvSpPr>
        <p:spPr>
          <a:xfrm>
            <a:off x="9756648" y="2395728"/>
            <a:ext cx="146304" cy="914"/>
          </a:xfrm>
          <a:prstGeom prst="line">
            <a:avLst/>
          </a:prstGeom>
          <a:noFill/>
          <a:ln w="25400">
            <a:solidFill>
              <a:schemeClr val="accent6"/>
            </a:solidFill>
            <a:prstDash val="solid"/>
            <a:tailEnd type="triangle"/>
          </a:ln>
        </p:spPr>
      </p:sp>
      <p:sp>
        <p:nvSpPr>
          <p:cNvPr id="28" name="Shape 26"/>
          <p:cNvSpPr/>
          <p:nvPr/>
        </p:nvSpPr>
        <p:spPr>
          <a:xfrm>
            <a:off x="9921240" y="1600200"/>
            <a:ext cx="1691640" cy="1600200"/>
          </a:xfrm>
          <a:prstGeom prst="roundRect">
            <a:avLst>
              <a:gd name="adj" fmla="val 4571"/>
            </a:avLst>
          </a:prstGeom>
          <a:solidFill>
            <a:schemeClr val="bg2"/>
          </a:solidFill>
          <a:ln w="12700">
            <a:solidFill>
              <a:schemeClr val="bg2"/>
            </a:solidFill>
            <a:prstDash val="solid"/>
          </a:ln>
        </p:spPr>
      </p:sp>
      <p:sp>
        <p:nvSpPr>
          <p:cNvPr id="29" name="Shape 27"/>
          <p:cNvSpPr/>
          <p:nvPr/>
        </p:nvSpPr>
        <p:spPr>
          <a:xfrm>
            <a:off x="10104120" y="1783080"/>
            <a:ext cx="457200" cy="457200"/>
          </a:xfrm>
          <a:prstGeom prst="ellipse">
            <a:avLst/>
          </a:prstGeom>
          <a:solidFill>
            <a:schemeClr val="accent6"/>
          </a:solidFill>
          <a:ln w="12700">
            <a:solidFill>
              <a:schemeClr val="accent6"/>
            </a:solidFill>
            <a:prstDash val="solid"/>
          </a:ln>
        </p:spPr>
      </p:sp>
      <p:sp>
        <p:nvSpPr>
          <p:cNvPr id="30" name="Text 28"/>
          <p:cNvSpPr txBox="1"/>
          <p:nvPr/>
        </p:nvSpPr>
        <p:spPr>
          <a:xfrm>
            <a:off x="10104120" y="178308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6</a:t>
            </a:r>
            <a:endParaRPr lang="en-US" sz="1500" dirty="0"/>
          </a:p>
        </p:txBody>
      </p:sp>
      <p:sp>
        <p:nvSpPr>
          <p:cNvPr id="31" name="Text 29"/>
          <p:cNvSpPr txBox="1"/>
          <p:nvPr/>
        </p:nvSpPr>
        <p:spPr>
          <a:xfrm>
            <a:off x="10104120" y="2331720"/>
            <a:ext cx="1371600" cy="822960"/>
          </a:xfrm>
          <a:prstGeom prst="rect">
            <a:avLst/>
          </a:prstGeom>
          <a:noFill/>
          <a:ln/>
        </p:spPr>
        <p:txBody>
          <a:bodyPr wrap="square" lIns="0" tIns="0" rIns="0" bIns="0" rtlCol="0" anchor="t"/>
          <a:lstStyle/>
          <a:p>
            <a:pPr indent="0" marL="0">
              <a:buNone/>
            </a:pPr>
            <a:r>
              <a:rPr lang="en-US" sz="1700" b="1" dirty="0">
                <a:solidFill>
                  <a:schemeClr val="tx1"/>
                </a:solidFill>
              </a:rPr>
              <a:t>Verify</a:t>
            </a:r>
            <a:endParaRPr lang="en-US" sz="1400" dirty="0"/>
          </a:p>
          <a:p>
            <a:pPr indent="0" marL="0">
              <a:buNone/>
            </a:pPr>
            <a:r>
              <a:rPr lang="en-US" sz="1400" dirty="0">
                <a:solidFill>
                  <a:schemeClr val="accent5"/>
                </a:solidFill>
              </a:rPr>
              <a:t>Grounding check, regenerate once</a:t>
            </a:r>
            <a:endParaRPr lang="en-US" sz="1400" dirty="0"/>
          </a:p>
        </p:txBody>
      </p:sp>
      <p:sp>
        <p:nvSpPr>
          <p:cNvPr id="32" name="Text 30"/>
          <p:cNvSpPr txBox="1"/>
          <p:nvPr/>
        </p:nvSpPr>
        <p:spPr>
          <a:xfrm>
            <a:off x="548640" y="3749040"/>
            <a:ext cx="2560320" cy="1005840"/>
          </a:xfrm>
          <a:prstGeom prst="rect">
            <a:avLst/>
          </a:prstGeom>
          <a:noFill/>
          <a:ln/>
        </p:spPr>
        <p:txBody>
          <a:bodyPr wrap="square" lIns="0" tIns="0" rIns="0" bIns="0" rtlCol="0" anchor="t"/>
          <a:lstStyle/>
          <a:p>
            <a:pPr indent="0" marL="0">
              <a:buNone/>
            </a:pPr>
            <a:r>
              <a:rPr lang="en-US" sz="6600" b="1" dirty="0">
                <a:solidFill>
                  <a:schemeClr val="accent1"/>
                </a:solidFill>
                <a:latin typeface="Arial" pitchFamily="34" charset="0"/>
                <a:ea typeface="Arial" pitchFamily="34" charset="-122"/>
                <a:cs typeface="Arial" pitchFamily="34" charset="-120"/>
              </a:rPr>
              <a:t>3</a:t>
            </a:r>
            <a:endParaRPr lang="en-US" sz="6600" dirty="0"/>
          </a:p>
        </p:txBody>
      </p:sp>
      <p:sp>
        <p:nvSpPr>
          <p:cNvPr id="33" name="Text 31"/>
          <p:cNvSpPr txBox="1"/>
          <p:nvPr/>
        </p:nvSpPr>
        <p:spPr>
          <a:xfrm>
            <a:off x="548640" y="4800600"/>
            <a:ext cx="2377440" cy="731520"/>
          </a:xfrm>
          <a:prstGeom prst="rect">
            <a:avLst/>
          </a:prstGeom>
          <a:noFill/>
          <a:ln/>
        </p:spPr>
        <p:txBody>
          <a:bodyPr wrap="square" lIns="0" tIns="0" rIns="0" bIns="0" rtlCol="0" anchor="t"/>
          <a:lstStyle/>
          <a:p>
            <a:pPr indent="0" marL="0">
              <a:buNone/>
            </a:pPr>
            <a:r>
              <a:rPr lang="en-US" sz="1400" dirty="0">
                <a:solidFill>
                  <a:schemeClr val="tx1"/>
                </a:solidFill>
              </a:rPr>
              <a:t>knowledge sources, one vector collection each</a:t>
            </a:r>
            <a:endParaRPr lang="en-US" sz="1400" dirty="0"/>
          </a:p>
        </p:txBody>
      </p:sp>
      <p:sp>
        <p:nvSpPr>
          <p:cNvPr id="34" name="Text 32"/>
          <p:cNvSpPr txBox="1"/>
          <p:nvPr/>
        </p:nvSpPr>
        <p:spPr>
          <a:xfrm>
            <a:off x="3383280" y="3749040"/>
            <a:ext cx="2560320" cy="1005840"/>
          </a:xfrm>
          <a:prstGeom prst="rect">
            <a:avLst/>
          </a:prstGeom>
          <a:noFill/>
          <a:ln/>
        </p:spPr>
        <p:txBody>
          <a:bodyPr wrap="square" lIns="0" tIns="0" rIns="0" bIns="0" rtlCol="0" anchor="t"/>
          <a:lstStyle/>
          <a:p>
            <a:pPr indent="0" marL="0">
              <a:buNone/>
            </a:pPr>
            <a:r>
              <a:rPr lang="en-US" sz="6600" b="1" dirty="0">
                <a:solidFill>
                  <a:schemeClr val="accent1"/>
                </a:solidFill>
                <a:latin typeface="Arial" pitchFamily="34" charset="0"/>
                <a:ea typeface="Arial" pitchFamily="34" charset="-122"/>
                <a:cs typeface="Arial" pitchFamily="34" charset="-120"/>
              </a:rPr>
              <a:t>13</a:t>
            </a:r>
            <a:endParaRPr lang="en-US" sz="6600" dirty="0"/>
          </a:p>
        </p:txBody>
      </p:sp>
      <p:sp>
        <p:nvSpPr>
          <p:cNvPr id="35" name="Text 33"/>
          <p:cNvSpPr txBox="1"/>
          <p:nvPr/>
        </p:nvSpPr>
        <p:spPr>
          <a:xfrm>
            <a:off x="3383280" y="4800600"/>
            <a:ext cx="2377440" cy="731520"/>
          </a:xfrm>
          <a:prstGeom prst="rect">
            <a:avLst/>
          </a:prstGeom>
          <a:noFill/>
          <a:ln/>
        </p:spPr>
        <p:txBody>
          <a:bodyPr wrap="square" lIns="0" tIns="0" rIns="0" bIns="0" rtlCol="0" anchor="t"/>
          <a:lstStyle/>
          <a:p>
            <a:pPr indent="0" marL="0">
              <a:buNone/>
            </a:pPr>
            <a:r>
              <a:rPr lang="en-US" sz="1400" dirty="0">
                <a:solidFill>
                  <a:schemeClr val="tx1"/>
                </a:solidFill>
              </a:rPr>
              <a:t>synthetic documents (Markdown + Word), 71 chunks</a:t>
            </a:r>
            <a:endParaRPr lang="en-US" sz="1400" dirty="0"/>
          </a:p>
        </p:txBody>
      </p:sp>
      <p:sp>
        <p:nvSpPr>
          <p:cNvPr id="36" name="Text 34"/>
          <p:cNvSpPr txBox="1"/>
          <p:nvPr/>
        </p:nvSpPr>
        <p:spPr>
          <a:xfrm>
            <a:off x="6217920" y="3749040"/>
            <a:ext cx="2560320" cy="1005840"/>
          </a:xfrm>
          <a:prstGeom prst="rect">
            <a:avLst/>
          </a:prstGeom>
          <a:noFill/>
          <a:ln/>
        </p:spPr>
        <p:txBody>
          <a:bodyPr wrap="square" lIns="0" tIns="0" rIns="0" bIns="0" rtlCol="0" anchor="t"/>
          <a:lstStyle/>
          <a:p>
            <a:pPr indent="0" marL="0">
              <a:buNone/>
            </a:pPr>
            <a:r>
              <a:rPr lang="en-US" sz="6600" b="1" dirty="0">
                <a:solidFill>
                  <a:schemeClr val="accent1"/>
                </a:solidFill>
                <a:latin typeface="Arial" pitchFamily="34" charset="0"/>
                <a:ea typeface="Arial" pitchFamily="34" charset="-122"/>
                <a:cs typeface="Arial" pitchFamily="34" charset="-120"/>
              </a:rPr>
              <a:t>11</a:t>
            </a:r>
            <a:endParaRPr lang="en-US" sz="6600" dirty="0"/>
          </a:p>
        </p:txBody>
      </p:sp>
      <p:sp>
        <p:nvSpPr>
          <p:cNvPr id="37" name="Text 35"/>
          <p:cNvSpPr txBox="1"/>
          <p:nvPr/>
        </p:nvSpPr>
        <p:spPr>
          <a:xfrm>
            <a:off x="6217920" y="4800600"/>
            <a:ext cx="2377440" cy="731520"/>
          </a:xfrm>
          <a:prstGeom prst="rect">
            <a:avLst/>
          </a:prstGeom>
          <a:noFill/>
          <a:ln/>
        </p:spPr>
        <p:txBody>
          <a:bodyPr wrap="square" lIns="0" tIns="0" rIns="0" bIns="0" rtlCol="0" anchor="t"/>
          <a:lstStyle/>
          <a:p>
            <a:pPr indent="0" marL="0">
              <a:buNone/>
            </a:pPr>
            <a:r>
              <a:rPr lang="en-US" sz="1400" dirty="0">
                <a:solidFill>
                  <a:schemeClr val="tx1"/>
                </a:solidFill>
              </a:rPr>
              <a:t>LangGraph nodes with bounded loops</a:t>
            </a:r>
            <a:endParaRPr lang="en-US" sz="1400" dirty="0"/>
          </a:p>
        </p:txBody>
      </p:sp>
      <p:sp>
        <p:nvSpPr>
          <p:cNvPr id="38" name="Text 36"/>
          <p:cNvSpPr txBox="1"/>
          <p:nvPr/>
        </p:nvSpPr>
        <p:spPr>
          <a:xfrm>
            <a:off x="9052560" y="3749040"/>
            <a:ext cx="2560320" cy="1005840"/>
          </a:xfrm>
          <a:prstGeom prst="rect">
            <a:avLst/>
          </a:prstGeom>
          <a:noFill/>
          <a:ln/>
        </p:spPr>
        <p:txBody>
          <a:bodyPr wrap="square" lIns="0" tIns="0" rIns="0" bIns="0" rtlCol="0" anchor="t"/>
          <a:lstStyle/>
          <a:p>
            <a:pPr indent="0" marL="0">
              <a:buNone/>
            </a:pPr>
            <a:r>
              <a:rPr lang="en-US" sz="6600" b="1" dirty="0">
                <a:solidFill>
                  <a:schemeClr val="accent1"/>
                </a:solidFill>
                <a:latin typeface="Arial" pitchFamily="34" charset="0"/>
                <a:ea typeface="Arial" pitchFamily="34" charset="-122"/>
                <a:cs typeface="Arial" pitchFamily="34" charset="-120"/>
              </a:rPr>
              <a:t>44</a:t>
            </a:r>
            <a:endParaRPr lang="en-US" sz="6600" dirty="0"/>
          </a:p>
        </p:txBody>
      </p:sp>
      <p:sp>
        <p:nvSpPr>
          <p:cNvPr id="39" name="Text 37"/>
          <p:cNvSpPr txBox="1"/>
          <p:nvPr/>
        </p:nvSpPr>
        <p:spPr>
          <a:xfrm>
            <a:off x="9052560" y="4800600"/>
            <a:ext cx="2377440" cy="731520"/>
          </a:xfrm>
          <a:prstGeom prst="rect">
            <a:avLst/>
          </a:prstGeom>
          <a:noFill/>
          <a:ln/>
        </p:spPr>
        <p:txBody>
          <a:bodyPr wrap="square" lIns="0" tIns="0" rIns="0" bIns="0" rtlCol="0" anchor="t"/>
          <a:lstStyle/>
          <a:p>
            <a:pPr indent="0" marL="0">
              <a:buNone/>
            </a:pPr>
            <a:r>
              <a:rPr lang="en-US" sz="1400" dirty="0">
                <a:solidFill>
                  <a:schemeClr val="tx1"/>
                </a:solidFill>
              </a:rPr>
              <a:t>unit tests, plus integration and evaluation</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Layered architecture, swappable models</a:t>
            </a:r>
            <a:endParaRPr lang="en-US" sz="3600" dirty="0"/>
          </a:p>
        </p:txBody>
      </p:sp>
      <p:sp>
        <p:nvSpPr>
          <p:cNvPr id="3" name="Text 1"/>
          <p:cNvSpPr txBox="1"/>
          <p:nvPr/>
        </p:nvSpPr>
        <p:spPr>
          <a:xfrm>
            <a:off x="548640" y="1280160"/>
            <a:ext cx="2194560" cy="320040"/>
          </a:xfrm>
          <a:prstGeom prst="rect">
            <a:avLst/>
          </a:prstGeom>
          <a:noFill/>
          <a:ln/>
        </p:spPr>
        <p:txBody>
          <a:bodyPr wrap="square" lIns="0" tIns="0" rIns="0" bIns="0" rtlCol="0" anchor="t"/>
          <a:lstStyle/>
          <a:p>
            <a:pPr indent="0" marL="0">
              <a:buNone/>
            </a:pPr>
            <a:r>
              <a:rPr lang="en-US" sz="1500" b="1" dirty="0">
                <a:solidFill>
                  <a:schemeClr val="accent5"/>
                </a:solidFill>
              </a:rPr>
              <a:t>Interfaces</a:t>
            </a:r>
            <a:endParaRPr lang="en-US" sz="1500" dirty="0"/>
          </a:p>
        </p:txBody>
      </p:sp>
      <p:sp>
        <p:nvSpPr>
          <p:cNvPr id="4" name="Shape 2"/>
          <p:cNvSpPr/>
          <p:nvPr/>
        </p:nvSpPr>
        <p:spPr>
          <a:xfrm>
            <a:off x="548640" y="1691640"/>
            <a:ext cx="2194560" cy="640080"/>
          </a:xfrm>
          <a:prstGeom prst="roundRect">
            <a:avLst>
              <a:gd name="adj" fmla="val 11429"/>
            </a:avLst>
          </a:prstGeom>
          <a:solidFill>
            <a:schemeClr val="bg2"/>
          </a:solidFill>
          <a:ln w="9525">
            <a:solidFill>
              <a:schemeClr val="bg2"/>
            </a:solidFill>
            <a:prstDash val="solid"/>
          </a:ln>
        </p:spPr>
      </p:sp>
      <p:sp>
        <p:nvSpPr>
          <p:cNvPr id="5" name="Text 3"/>
          <p:cNvSpPr txBox="1"/>
          <p:nvPr/>
        </p:nvSpPr>
        <p:spPr>
          <a:xfrm>
            <a:off x="621792" y="1691640"/>
            <a:ext cx="2048256" cy="640080"/>
          </a:xfrm>
          <a:prstGeom prst="rect">
            <a:avLst/>
          </a:prstGeom>
          <a:noFill/>
          <a:ln/>
        </p:spPr>
        <p:txBody>
          <a:bodyPr wrap="square" lIns="0" tIns="0" rIns="0" bIns="0" rtlCol="0" anchor="ctr"/>
          <a:lstStyle/>
          <a:p>
            <a:pPr algn="ctr" indent="0" marL="0">
              <a:buNone/>
            </a:pPr>
            <a:r>
              <a:rPr lang="en-US" sz="1400" b="1" dirty="0">
                <a:solidFill>
                  <a:schemeClr val="tx1"/>
                </a:solidFill>
              </a:rPr>
              <a:t>CLI</a:t>
            </a:r>
            <a:endParaRPr lang="en-US" sz="1400" dirty="0"/>
          </a:p>
          <a:p>
            <a:pPr algn="ctr" indent="0" marL="0">
              <a:buNone/>
            </a:pPr>
            <a:r>
              <a:rPr lang="en-US" sz="1100" dirty="0">
                <a:solidFill>
                  <a:schemeClr val="accent5"/>
                </a:solidFill>
              </a:rPr>
              <a:t>ask / chat / ingest</a:t>
            </a:r>
            <a:endParaRPr lang="en-US" sz="1400" dirty="0"/>
          </a:p>
        </p:txBody>
      </p:sp>
      <p:sp>
        <p:nvSpPr>
          <p:cNvPr id="6" name="Shape 4"/>
          <p:cNvSpPr/>
          <p:nvPr/>
        </p:nvSpPr>
        <p:spPr>
          <a:xfrm>
            <a:off x="548640" y="2468880"/>
            <a:ext cx="2194560" cy="640080"/>
          </a:xfrm>
          <a:prstGeom prst="roundRect">
            <a:avLst>
              <a:gd name="adj" fmla="val 11429"/>
            </a:avLst>
          </a:prstGeom>
          <a:solidFill>
            <a:schemeClr val="bg2"/>
          </a:solidFill>
          <a:ln w="9525">
            <a:solidFill>
              <a:schemeClr val="bg2"/>
            </a:solidFill>
            <a:prstDash val="solid"/>
          </a:ln>
        </p:spPr>
      </p:sp>
      <p:sp>
        <p:nvSpPr>
          <p:cNvPr id="7" name="Text 5"/>
          <p:cNvSpPr txBox="1"/>
          <p:nvPr/>
        </p:nvSpPr>
        <p:spPr>
          <a:xfrm>
            <a:off x="621792" y="2468880"/>
            <a:ext cx="2048256" cy="640080"/>
          </a:xfrm>
          <a:prstGeom prst="rect">
            <a:avLst/>
          </a:prstGeom>
          <a:noFill/>
          <a:ln/>
        </p:spPr>
        <p:txBody>
          <a:bodyPr wrap="square" lIns="0" tIns="0" rIns="0" bIns="0" rtlCol="0" anchor="ctr"/>
          <a:lstStyle/>
          <a:p>
            <a:pPr algn="ctr" indent="0" marL="0">
              <a:buNone/>
            </a:pPr>
            <a:r>
              <a:rPr lang="en-US" sz="1400" b="1" dirty="0">
                <a:solidFill>
                  <a:schemeClr val="tx1"/>
                </a:solidFill>
              </a:rPr>
              <a:t>REST API</a:t>
            </a:r>
            <a:endParaRPr lang="en-US" sz="1400" dirty="0"/>
          </a:p>
          <a:p>
            <a:pPr algn="ctr" indent="0" marL="0">
              <a:buNone/>
            </a:pPr>
            <a:r>
              <a:rPr lang="en-US" sz="1100" dirty="0">
                <a:solidFill>
                  <a:schemeClr val="accent5"/>
                </a:solidFill>
              </a:rPr>
              <a:t>FastAPI  POST /ask</a:t>
            </a:r>
            <a:endParaRPr lang="en-US" sz="1400" dirty="0"/>
          </a:p>
        </p:txBody>
      </p:sp>
      <p:sp>
        <p:nvSpPr>
          <p:cNvPr id="8" name="Shape 6"/>
          <p:cNvSpPr/>
          <p:nvPr/>
        </p:nvSpPr>
        <p:spPr>
          <a:xfrm>
            <a:off x="548640" y="3246120"/>
            <a:ext cx="2194560" cy="640080"/>
          </a:xfrm>
          <a:prstGeom prst="roundRect">
            <a:avLst>
              <a:gd name="adj" fmla="val 11429"/>
            </a:avLst>
          </a:prstGeom>
          <a:solidFill>
            <a:schemeClr val="bg2"/>
          </a:solidFill>
          <a:ln w="9525">
            <a:solidFill>
              <a:schemeClr val="bg2"/>
            </a:solidFill>
            <a:prstDash val="solid"/>
          </a:ln>
        </p:spPr>
      </p:sp>
      <p:sp>
        <p:nvSpPr>
          <p:cNvPr id="9" name="Text 7"/>
          <p:cNvSpPr txBox="1"/>
          <p:nvPr/>
        </p:nvSpPr>
        <p:spPr>
          <a:xfrm>
            <a:off x="621792" y="3246120"/>
            <a:ext cx="2048256" cy="640080"/>
          </a:xfrm>
          <a:prstGeom prst="rect">
            <a:avLst/>
          </a:prstGeom>
          <a:noFill/>
          <a:ln/>
        </p:spPr>
        <p:txBody>
          <a:bodyPr wrap="square" lIns="0" tIns="0" rIns="0" bIns="0" rtlCol="0" anchor="ctr"/>
          <a:lstStyle/>
          <a:p>
            <a:pPr algn="ctr" indent="0" marL="0">
              <a:buNone/>
            </a:pPr>
            <a:r>
              <a:rPr lang="en-US" sz="1400" b="1" dirty="0">
                <a:solidFill>
                  <a:schemeClr val="tx1"/>
                </a:solidFill>
              </a:rPr>
              <a:t>Streamlit UI</a:t>
            </a:r>
            <a:endParaRPr lang="en-US" sz="1400" dirty="0"/>
          </a:p>
          <a:p>
            <a:pPr algn="ctr" indent="0" marL="0">
              <a:buNone/>
            </a:pPr>
            <a:r>
              <a:rPr lang="en-US" sz="1100" dirty="0">
                <a:solidFill>
                  <a:schemeClr val="accent5"/>
                </a:solidFill>
              </a:rPr>
              <a:t>supervisor demo</a:t>
            </a:r>
            <a:endParaRPr lang="en-US" sz="1400" dirty="0"/>
          </a:p>
        </p:txBody>
      </p:sp>
      <p:sp>
        <p:nvSpPr>
          <p:cNvPr id="10" name="Shape 8"/>
          <p:cNvSpPr/>
          <p:nvPr/>
        </p:nvSpPr>
        <p:spPr>
          <a:xfrm>
            <a:off x="548640" y="4023360"/>
            <a:ext cx="2194560" cy="640080"/>
          </a:xfrm>
          <a:prstGeom prst="roundRect">
            <a:avLst>
              <a:gd name="adj" fmla="val 11429"/>
            </a:avLst>
          </a:prstGeom>
          <a:solidFill>
            <a:schemeClr val="bg2"/>
          </a:solidFill>
          <a:ln w="9525">
            <a:solidFill>
              <a:schemeClr val="bg2"/>
            </a:solidFill>
            <a:prstDash val="solid"/>
          </a:ln>
        </p:spPr>
      </p:sp>
      <p:sp>
        <p:nvSpPr>
          <p:cNvPr id="11" name="Text 9"/>
          <p:cNvSpPr txBox="1"/>
          <p:nvPr/>
        </p:nvSpPr>
        <p:spPr>
          <a:xfrm>
            <a:off x="621792" y="4023360"/>
            <a:ext cx="2048256" cy="640080"/>
          </a:xfrm>
          <a:prstGeom prst="rect">
            <a:avLst/>
          </a:prstGeom>
          <a:noFill/>
          <a:ln/>
        </p:spPr>
        <p:txBody>
          <a:bodyPr wrap="square" lIns="0" tIns="0" rIns="0" bIns="0" rtlCol="0" anchor="ctr"/>
          <a:lstStyle/>
          <a:p>
            <a:pPr algn="ctr" indent="0" marL="0">
              <a:buNone/>
            </a:pPr>
            <a:r>
              <a:rPr lang="en-US" sz="1400" b="1" dirty="0">
                <a:solidFill>
                  <a:schemeClr val="tx1"/>
                </a:solidFill>
              </a:rPr>
              <a:t>AgentCore</a:t>
            </a:r>
            <a:endParaRPr lang="en-US" sz="1400" dirty="0"/>
          </a:p>
          <a:p>
            <a:pPr algn="ctr" indent="0" marL="0">
              <a:buNone/>
            </a:pPr>
            <a:r>
              <a:rPr lang="en-US" sz="1100" dirty="0">
                <a:solidFill>
                  <a:schemeClr val="accent5"/>
                </a:solidFill>
              </a:rPr>
              <a:t>Bedrock runtime entrypoint</a:t>
            </a:r>
            <a:endParaRPr lang="en-US" sz="1400" dirty="0"/>
          </a:p>
        </p:txBody>
      </p:sp>
      <p:sp>
        <p:nvSpPr>
          <p:cNvPr id="12" name="Shape 10"/>
          <p:cNvSpPr/>
          <p:nvPr/>
        </p:nvSpPr>
        <p:spPr>
          <a:xfrm>
            <a:off x="2788920" y="3017520"/>
            <a:ext cx="365760" cy="914"/>
          </a:xfrm>
          <a:prstGeom prst="line">
            <a:avLst/>
          </a:prstGeom>
          <a:noFill/>
          <a:ln w="22225">
            <a:solidFill>
              <a:schemeClr val="accent5"/>
            </a:solidFill>
            <a:prstDash val="solid"/>
            <a:tailEnd type="triangle"/>
          </a:ln>
        </p:spPr>
      </p:sp>
      <p:sp>
        <p:nvSpPr>
          <p:cNvPr id="13" name="Shape 11"/>
          <p:cNvSpPr/>
          <p:nvPr/>
        </p:nvSpPr>
        <p:spPr>
          <a:xfrm>
            <a:off x="3200400" y="1280160"/>
            <a:ext cx="4663440" cy="3566160"/>
          </a:xfrm>
          <a:prstGeom prst="roundRect">
            <a:avLst>
              <a:gd name="adj" fmla="val 2564"/>
            </a:avLst>
          </a:prstGeom>
          <a:solidFill>
            <a:schemeClr val="tx2"/>
          </a:solidFill>
          <a:ln w="12700">
            <a:solidFill>
              <a:schemeClr val="tx2"/>
            </a:solidFill>
            <a:prstDash val="solid"/>
          </a:ln>
        </p:spPr>
      </p:sp>
      <p:sp>
        <p:nvSpPr>
          <p:cNvPr id="14" name="Text 12"/>
          <p:cNvSpPr txBox="1"/>
          <p:nvPr/>
        </p:nvSpPr>
        <p:spPr>
          <a:xfrm>
            <a:off x="3429000" y="1417320"/>
            <a:ext cx="4206240" cy="685800"/>
          </a:xfrm>
          <a:prstGeom prst="rect">
            <a:avLst/>
          </a:prstGeom>
          <a:noFill/>
          <a:ln/>
        </p:spPr>
        <p:txBody>
          <a:bodyPr wrap="square" lIns="0" tIns="0" rIns="0" bIns="0" rtlCol="0" anchor="t"/>
          <a:lstStyle/>
          <a:p>
            <a:pPr indent="0" marL="0">
              <a:buNone/>
            </a:pPr>
            <a:r>
              <a:rPr lang="en-US" sz="1700" b="1" dirty="0">
                <a:solidFill>
                  <a:schemeClr val="bg1"/>
                </a:solidFill>
              </a:rPr>
              <a:t>PlantAssistant service</a:t>
            </a:r>
            <a:endParaRPr lang="en-US" sz="1400" dirty="0"/>
          </a:p>
          <a:p>
            <a:pPr indent="0" marL="0">
              <a:buNone/>
            </a:pPr>
            <a:r>
              <a:rPr lang="en-US" sz="1300" dirty="0">
                <a:solidFill>
                  <a:schemeClr val="accent1"/>
                </a:solidFill>
              </a:rPr>
              <a:t>LangGraph StateGraph, dependencies injected</a:t>
            </a:r>
            <a:endParaRPr lang="en-US" sz="1400" dirty="0"/>
          </a:p>
        </p:txBody>
      </p:sp>
      <p:sp>
        <p:nvSpPr>
          <p:cNvPr id="15" name="Shape 13"/>
          <p:cNvSpPr/>
          <p:nvPr/>
        </p:nvSpPr>
        <p:spPr>
          <a:xfrm>
            <a:off x="3429000" y="2286000"/>
            <a:ext cx="1325880" cy="914400"/>
          </a:xfrm>
          <a:prstGeom prst="roundRect">
            <a:avLst>
              <a:gd name="adj" fmla="val 8000"/>
            </a:avLst>
          </a:prstGeom>
          <a:solidFill>
            <a:schemeClr val="bg1"/>
          </a:solidFill>
          <a:ln w="9525">
            <a:solidFill>
              <a:schemeClr val="bg1"/>
            </a:solidFill>
            <a:prstDash val="solid"/>
          </a:ln>
        </p:spPr>
      </p:sp>
      <p:sp>
        <p:nvSpPr>
          <p:cNvPr id="16" name="Text 14"/>
          <p:cNvSpPr txBox="1"/>
          <p:nvPr/>
        </p:nvSpPr>
        <p:spPr>
          <a:xfrm>
            <a:off x="3502152" y="2286000"/>
            <a:ext cx="1179576" cy="914400"/>
          </a:xfrm>
          <a:prstGeom prst="rect">
            <a:avLst/>
          </a:prstGeom>
          <a:noFill/>
          <a:ln/>
        </p:spPr>
        <p:txBody>
          <a:bodyPr wrap="square" lIns="0" tIns="0" rIns="0" bIns="0" rtlCol="0" anchor="ctr"/>
          <a:lstStyle/>
          <a:p>
            <a:pPr algn="ctr" indent="0" marL="0">
              <a:buNone/>
            </a:pPr>
            <a:r>
              <a:rPr lang="en-US" sz="1400" b="1" dirty="0">
                <a:solidFill>
                  <a:schemeClr val="tx1"/>
                </a:solidFill>
              </a:rPr>
              <a:t>Analyze</a:t>
            </a:r>
            <a:endParaRPr lang="en-US" sz="1400" dirty="0"/>
          </a:p>
          <a:p>
            <a:pPr algn="ctr" indent="0" marL="0">
              <a:buNone/>
            </a:pPr>
            <a:r>
              <a:rPr lang="en-US" sz="1100" dirty="0">
                <a:solidFill>
                  <a:schemeClr val="accent5"/>
                </a:solidFill>
              </a:rPr>
              <a:t>guardrails</a:t>
            </a:r>
            <a:endParaRPr lang="en-US" sz="1400" dirty="0"/>
          </a:p>
        </p:txBody>
      </p:sp>
      <p:sp>
        <p:nvSpPr>
          <p:cNvPr id="17" name="Shape 15"/>
          <p:cNvSpPr/>
          <p:nvPr/>
        </p:nvSpPr>
        <p:spPr>
          <a:xfrm>
            <a:off x="4892040" y="2286000"/>
            <a:ext cx="1325880" cy="914400"/>
          </a:xfrm>
          <a:prstGeom prst="roundRect">
            <a:avLst>
              <a:gd name="adj" fmla="val 8000"/>
            </a:avLst>
          </a:prstGeom>
          <a:solidFill>
            <a:schemeClr val="bg1"/>
          </a:solidFill>
          <a:ln w="9525">
            <a:solidFill>
              <a:schemeClr val="bg1"/>
            </a:solidFill>
            <a:prstDash val="solid"/>
          </a:ln>
        </p:spPr>
      </p:sp>
      <p:sp>
        <p:nvSpPr>
          <p:cNvPr id="18" name="Text 16"/>
          <p:cNvSpPr txBox="1"/>
          <p:nvPr/>
        </p:nvSpPr>
        <p:spPr>
          <a:xfrm>
            <a:off x="4965192" y="2286000"/>
            <a:ext cx="1179576" cy="914400"/>
          </a:xfrm>
          <a:prstGeom prst="rect">
            <a:avLst/>
          </a:prstGeom>
          <a:noFill/>
          <a:ln/>
        </p:spPr>
        <p:txBody>
          <a:bodyPr wrap="square" lIns="0" tIns="0" rIns="0" bIns="0" rtlCol="0" anchor="ctr"/>
          <a:lstStyle/>
          <a:p>
            <a:pPr algn="ctr" indent="0" marL="0">
              <a:buNone/>
            </a:pPr>
            <a:r>
              <a:rPr lang="en-US" sz="1400" b="1" dirty="0">
                <a:solidFill>
                  <a:schemeClr val="tx1"/>
                </a:solidFill>
              </a:rPr>
              <a:t>Route</a:t>
            </a:r>
            <a:endParaRPr lang="en-US" sz="1400" dirty="0"/>
          </a:p>
          <a:p>
            <a:pPr algn="ctr" indent="0" marL="0">
              <a:buNone/>
            </a:pPr>
            <a:r>
              <a:rPr lang="en-US" sz="1100" dirty="0">
                <a:solidFill>
                  <a:schemeClr val="accent5"/>
                </a:solidFill>
              </a:rPr>
              <a:t>structured output</a:t>
            </a:r>
            <a:endParaRPr lang="en-US" sz="1400" dirty="0"/>
          </a:p>
        </p:txBody>
      </p:sp>
      <p:sp>
        <p:nvSpPr>
          <p:cNvPr id="19" name="Shape 17"/>
          <p:cNvSpPr/>
          <p:nvPr/>
        </p:nvSpPr>
        <p:spPr>
          <a:xfrm>
            <a:off x="6355080" y="2286000"/>
            <a:ext cx="1325880" cy="914400"/>
          </a:xfrm>
          <a:prstGeom prst="roundRect">
            <a:avLst>
              <a:gd name="adj" fmla="val 8000"/>
            </a:avLst>
          </a:prstGeom>
          <a:solidFill>
            <a:schemeClr val="bg1"/>
          </a:solidFill>
          <a:ln w="9525">
            <a:solidFill>
              <a:schemeClr val="bg1"/>
            </a:solidFill>
            <a:prstDash val="solid"/>
          </a:ln>
        </p:spPr>
      </p:sp>
      <p:sp>
        <p:nvSpPr>
          <p:cNvPr id="20" name="Text 18"/>
          <p:cNvSpPr txBox="1"/>
          <p:nvPr/>
        </p:nvSpPr>
        <p:spPr>
          <a:xfrm>
            <a:off x="6428232" y="2286000"/>
            <a:ext cx="1179576" cy="914400"/>
          </a:xfrm>
          <a:prstGeom prst="rect">
            <a:avLst/>
          </a:prstGeom>
          <a:noFill/>
          <a:ln/>
        </p:spPr>
        <p:txBody>
          <a:bodyPr wrap="square" lIns="0" tIns="0" rIns="0" bIns="0" rtlCol="0" anchor="ctr"/>
          <a:lstStyle/>
          <a:p>
            <a:pPr algn="ctr" indent="0" marL="0">
              <a:buNone/>
            </a:pPr>
            <a:r>
              <a:rPr lang="en-US" sz="1400" b="1" dirty="0">
                <a:solidFill>
                  <a:schemeClr val="tx1"/>
                </a:solidFill>
              </a:rPr>
              <a:t>Retrieve x N</a:t>
            </a:r>
            <a:endParaRPr lang="en-US" sz="1400" dirty="0"/>
          </a:p>
          <a:p>
            <a:pPr algn="ctr" indent="0" marL="0">
              <a:buNone/>
            </a:pPr>
            <a:r>
              <a:rPr lang="en-US" sz="1100" dirty="0">
                <a:solidFill>
                  <a:schemeClr val="accent5"/>
                </a:solidFill>
              </a:rPr>
              <a:t>Send() fan-out</a:t>
            </a:r>
            <a:endParaRPr lang="en-US" sz="1400" dirty="0"/>
          </a:p>
        </p:txBody>
      </p:sp>
      <p:sp>
        <p:nvSpPr>
          <p:cNvPr id="21" name="Shape 19"/>
          <p:cNvSpPr/>
          <p:nvPr/>
        </p:nvSpPr>
        <p:spPr>
          <a:xfrm>
            <a:off x="3429000" y="3429000"/>
            <a:ext cx="1325880" cy="914400"/>
          </a:xfrm>
          <a:prstGeom prst="roundRect">
            <a:avLst>
              <a:gd name="adj" fmla="val 8000"/>
            </a:avLst>
          </a:prstGeom>
          <a:solidFill>
            <a:schemeClr val="bg1"/>
          </a:solidFill>
          <a:ln w="9525">
            <a:solidFill>
              <a:schemeClr val="bg1"/>
            </a:solidFill>
            <a:prstDash val="solid"/>
          </a:ln>
        </p:spPr>
      </p:sp>
      <p:sp>
        <p:nvSpPr>
          <p:cNvPr id="22" name="Text 20"/>
          <p:cNvSpPr txBox="1"/>
          <p:nvPr/>
        </p:nvSpPr>
        <p:spPr>
          <a:xfrm>
            <a:off x="3502152" y="3429000"/>
            <a:ext cx="1179576" cy="914400"/>
          </a:xfrm>
          <a:prstGeom prst="rect">
            <a:avLst/>
          </a:prstGeom>
          <a:noFill/>
          <a:ln/>
        </p:spPr>
        <p:txBody>
          <a:bodyPr wrap="square" lIns="0" tIns="0" rIns="0" bIns="0" rtlCol="0" anchor="ctr"/>
          <a:lstStyle/>
          <a:p>
            <a:pPr algn="ctr" indent="0" marL="0">
              <a:buNone/>
            </a:pPr>
            <a:r>
              <a:rPr lang="en-US" sz="1400" b="1" dirty="0">
                <a:solidFill>
                  <a:schemeClr val="tx1"/>
                </a:solidFill>
              </a:rPr>
              <a:t>Grade</a:t>
            </a:r>
            <a:endParaRPr lang="en-US" sz="1400" dirty="0"/>
          </a:p>
          <a:p>
            <a:pPr algn="ctr" indent="0" marL="0">
              <a:buNone/>
            </a:pPr>
            <a:r>
              <a:rPr lang="en-US" sz="1100" dirty="0">
                <a:solidFill>
                  <a:schemeClr val="accent5"/>
                </a:solidFill>
              </a:rPr>
              <a:t>relevance gate</a:t>
            </a:r>
            <a:endParaRPr lang="en-US" sz="1400" dirty="0"/>
          </a:p>
        </p:txBody>
      </p:sp>
      <p:sp>
        <p:nvSpPr>
          <p:cNvPr id="23" name="Shape 21"/>
          <p:cNvSpPr/>
          <p:nvPr/>
        </p:nvSpPr>
        <p:spPr>
          <a:xfrm>
            <a:off x="4892040" y="3429000"/>
            <a:ext cx="1325880" cy="914400"/>
          </a:xfrm>
          <a:prstGeom prst="roundRect">
            <a:avLst>
              <a:gd name="adj" fmla="val 8000"/>
            </a:avLst>
          </a:prstGeom>
          <a:solidFill>
            <a:schemeClr val="bg1"/>
          </a:solidFill>
          <a:ln w="9525">
            <a:solidFill>
              <a:schemeClr val="bg1"/>
            </a:solidFill>
            <a:prstDash val="solid"/>
          </a:ln>
        </p:spPr>
      </p:sp>
      <p:sp>
        <p:nvSpPr>
          <p:cNvPr id="24" name="Text 22"/>
          <p:cNvSpPr txBox="1"/>
          <p:nvPr/>
        </p:nvSpPr>
        <p:spPr>
          <a:xfrm>
            <a:off x="4965192" y="3429000"/>
            <a:ext cx="1179576" cy="914400"/>
          </a:xfrm>
          <a:prstGeom prst="rect">
            <a:avLst/>
          </a:prstGeom>
          <a:noFill/>
          <a:ln/>
        </p:spPr>
        <p:txBody>
          <a:bodyPr wrap="square" lIns="0" tIns="0" rIns="0" bIns="0" rtlCol="0" anchor="ctr"/>
          <a:lstStyle/>
          <a:p>
            <a:pPr algn="ctr" indent="0" marL="0">
              <a:buNone/>
            </a:pPr>
            <a:r>
              <a:rPr lang="en-US" sz="1400" b="1" dirty="0">
                <a:solidFill>
                  <a:schemeClr val="tx1"/>
                </a:solidFill>
              </a:rPr>
              <a:t>Generate</a:t>
            </a:r>
            <a:endParaRPr lang="en-US" sz="1400" dirty="0"/>
          </a:p>
          <a:p>
            <a:pPr algn="ctr" indent="0" marL="0">
              <a:buNone/>
            </a:pPr>
            <a:r>
              <a:rPr lang="en-US" sz="1100" dirty="0">
                <a:solidFill>
                  <a:schemeClr val="accent5"/>
                </a:solidFill>
              </a:rPr>
              <a:t>cited answer</a:t>
            </a:r>
            <a:endParaRPr lang="en-US" sz="1400" dirty="0"/>
          </a:p>
        </p:txBody>
      </p:sp>
      <p:sp>
        <p:nvSpPr>
          <p:cNvPr id="25" name="Shape 23"/>
          <p:cNvSpPr/>
          <p:nvPr/>
        </p:nvSpPr>
        <p:spPr>
          <a:xfrm>
            <a:off x="6355080" y="3429000"/>
            <a:ext cx="1325880" cy="914400"/>
          </a:xfrm>
          <a:prstGeom prst="roundRect">
            <a:avLst>
              <a:gd name="adj" fmla="val 8000"/>
            </a:avLst>
          </a:prstGeom>
          <a:solidFill>
            <a:schemeClr val="bg1"/>
          </a:solidFill>
          <a:ln w="9525">
            <a:solidFill>
              <a:schemeClr val="bg1"/>
            </a:solidFill>
            <a:prstDash val="solid"/>
          </a:ln>
        </p:spPr>
      </p:sp>
      <p:sp>
        <p:nvSpPr>
          <p:cNvPr id="26" name="Text 24"/>
          <p:cNvSpPr txBox="1"/>
          <p:nvPr/>
        </p:nvSpPr>
        <p:spPr>
          <a:xfrm>
            <a:off x="6428232" y="3429000"/>
            <a:ext cx="1179576" cy="914400"/>
          </a:xfrm>
          <a:prstGeom prst="rect">
            <a:avLst/>
          </a:prstGeom>
          <a:noFill/>
          <a:ln/>
        </p:spPr>
        <p:txBody>
          <a:bodyPr wrap="square" lIns="0" tIns="0" rIns="0" bIns="0" rtlCol="0" anchor="ctr"/>
          <a:lstStyle/>
          <a:p>
            <a:pPr algn="ctr" indent="0" marL="0">
              <a:buNone/>
            </a:pPr>
            <a:r>
              <a:rPr lang="en-US" sz="1400" b="1" dirty="0">
                <a:solidFill>
                  <a:schemeClr val="tx1"/>
                </a:solidFill>
              </a:rPr>
              <a:t>Verify</a:t>
            </a:r>
            <a:endParaRPr lang="en-US" sz="1400" dirty="0"/>
          </a:p>
          <a:p>
            <a:pPr algn="ctr" indent="0" marL="0">
              <a:buNone/>
            </a:pPr>
            <a:r>
              <a:rPr lang="en-US" sz="1100" dirty="0">
                <a:solidFill>
                  <a:schemeClr val="accent5"/>
                </a:solidFill>
              </a:rPr>
              <a:t>grounding check</a:t>
            </a:r>
            <a:endParaRPr lang="en-US" sz="1400" dirty="0"/>
          </a:p>
        </p:txBody>
      </p:sp>
      <p:sp>
        <p:nvSpPr>
          <p:cNvPr id="27" name="Text 25"/>
          <p:cNvSpPr txBox="1"/>
          <p:nvPr/>
        </p:nvSpPr>
        <p:spPr>
          <a:xfrm>
            <a:off x="8229600" y="1280160"/>
            <a:ext cx="3383280" cy="320040"/>
          </a:xfrm>
          <a:prstGeom prst="rect">
            <a:avLst/>
          </a:prstGeom>
          <a:noFill/>
          <a:ln/>
        </p:spPr>
        <p:txBody>
          <a:bodyPr wrap="square" lIns="0" tIns="0" rIns="0" bIns="0" rtlCol="0" anchor="t"/>
          <a:lstStyle/>
          <a:p>
            <a:pPr indent="0" marL="0">
              <a:buNone/>
            </a:pPr>
            <a:r>
              <a:rPr lang="en-US" sz="1500" b="1" dirty="0">
                <a:solidFill>
                  <a:schemeClr val="accent5"/>
                </a:solidFill>
              </a:rPr>
              <a:t>Model layer  (LLM_PROVIDER)</a:t>
            </a:r>
            <a:endParaRPr lang="en-US" sz="1500" dirty="0"/>
          </a:p>
        </p:txBody>
      </p:sp>
      <p:sp>
        <p:nvSpPr>
          <p:cNvPr id="28" name="Shape 26"/>
          <p:cNvSpPr/>
          <p:nvPr/>
        </p:nvSpPr>
        <p:spPr>
          <a:xfrm>
            <a:off x="8229600" y="1691640"/>
            <a:ext cx="3383280" cy="640080"/>
          </a:xfrm>
          <a:prstGeom prst="roundRect">
            <a:avLst>
              <a:gd name="adj" fmla="val 11429"/>
            </a:avLst>
          </a:prstGeom>
          <a:solidFill>
            <a:schemeClr val="bg2"/>
          </a:solidFill>
          <a:ln w="9525">
            <a:solidFill>
              <a:schemeClr val="bg2"/>
            </a:solidFill>
            <a:prstDash val="solid"/>
          </a:ln>
        </p:spPr>
      </p:sp>
      <p:sp>
        <p:nvSpPr>
          <p:cNvPr id="29" name="Text 27"/>
          <p:cNvSpPr txBox="1"/>
          <p:nvPr/>
        </p:nvSpPr>
        <p:spPr>
          <a:xfrm>
            <a:off x="8302752" y="1691640"/>
            <a:ext cx="3236976" cy="640080"/>
          </a:xfrm>
          <a:prstGeom prst="rect">
            <a:avLst/>
          </a:prstGeom>
          <a:noFill/>
          <a:ln/>
        </p:spPr>
        <p:txBody>
          <a:bodyPr wrap="square" lIns="0" tIns="0" rIns="0" bIns="0" rtlCol="0" anchor="ctr"/>
          <a:lstStyle/>
          <a:p>
            <a:pPr algn="ctr" indent="0" marL="0">
              <a:buNone/>
            </a:pPr>
            <a:r>
              <a:rPr lang="en-US" sz="1400" b="1" dirty="0">
                <a:solidFill>
                  <a:schemeClr val="tx1"/>
                </a:solidFill>
              </a:rPr>
              <a:t>Ollama  (local)</a:t>
            </a:r>
            <a:endParaRPr lang="en-US" sz="1400" dirty="0"/>
          </a:p>
          <a:p>
            <a:pPr algn="ctr" indent="0" marL="0">
              <a:buNone/>
            </a:pPr>
            <a:r>
              <a:rPr lang="en-US" sz="1100" dirty="0">
                <a:solidFill>
                  <a:schemeClr val="accent5"/>
                </a:solidFill>
              </a:rPr>
              <a:t>llama3.2  +  nomic-embed-text</a:t>
            </a:r>
            <a:endParaRPr lang="en-US" sz="1400" dirty="0"/>
          </a:p>
        </p:txBody>
      </p:sp>
      <p:sp>
        <p:nvSpPr>
          <p:cNvPr id="30" name="Shape 28"/>
          <p:cNvSpPr/>
          <p:nvPr/>
        </p:nvSpPr>
        <p:spPr>
          <a:xfrm>
            <a:off x="8229600" y="2423160"/>
            <a:ext cx="3383280" cy="640080"/>
          </a:xfrm>
          <a:prstGeom prst="roundRect">
            <a:avLst>
              <a:gd name="adj" fmla="val 11429"/>
            </a:avLst>
          </a:prstGeom>
          <a:solidFill>
            <a:schemeClr val="bg2"/>
          </a:solidFill>
          <a:ln w="9525">
            <a:solidFill>
              <a:schemeClr val="bg2"/>
            </a:solidFill>
            <a:prstDash val="solid"/>
          </a:ln>
        </p:spPr>
      </p:sp>
      <p:sp>
        <p:nvSpPr>
          <p:cNvPr id="31" name="Text 29"/>
          <p:cNvSpPr txBox="1"/>
          <p:nvPr/>
        </p:nvSpPr>
        <p:spPr>
          <a:xfrm>
            <a:off x="8302752" y="2423160"/>
            <a:ext cx="3236976" cy="640080"/>
          </a:xfrm>
          <a:prstGeom prst="rect">
            <a:avLst/>
          </a:prstGeom>
          <a:noFill/>
          <a:ln/>
        </p:spPr>
        <p:txBody>
          <a:bodyPr wrap="square" lIns="0" tIns="0" rIns="0" bIns="0" rtlCol="0" anchor="ctr"/>
          <a:lstStyle/>
          <a:p>
            <a:pPr algn="ctr" indent="0" marL="0">
              <a:buNone/>
            </a:pPr>
            <a:r>
              <a:rPr lang="en-US" sz="1400" b="1" dirty="0">
                <a:solidFill>
                  <a:schemeClr val="tx1"/>
                </a:solidFill>
              </a:rPr>
              <a:t>AWS Bedrock  (production)</a:t>
            </a:r>
            <a:endParaRPr lang="en-US" sz="1400" dirty="0"/>
          </a:p>
          <a:p>
            <a:pPr algn="ctr" indent="0" marL="0">
              <a:buNone/>
            </a:pPr>
            <a:r>
              <a:rPr lang="en-US" sz="1100" dirty="0">
                <a:solidFill>
                  <a:schemeClr val="accent5"/>
                </a:solidFill>
              </a:rPr>
              <a:t>Claude  +  Titan Text Embeddings v2</a:t>
            </a:r>
            <a:endParaRPr lang="en-US" sz="1400" dirty="0"/>
          </a:p>
        </p:txBody>
      </p:sp>
      <p:sp>
        <p:nvSpPr>
          <p:cNvPr id="32" name="Shape 30"/>
          <p:cNvSpPr/>
          <p:nvPr/>
        </p:nvSpPr>
        <p:spPr>
          <a:xfrm>
            <a:off x="7909560" y="2377440"/>
            <a:ext cx="274320" cy="914"/>
          </a:xfrm>
          <a:prstGeom prst="line">
            <a:avLst/>
          </a:prstGeom>
          <a:noFill/>
          <a:ln w="22225">
            <a:solidFill>
              <a:schemeClr val="accent5"/>
            </a:solidFill>
            <a:prstDash val="solid"/>
            <a:tailEnd type="triangle"/>
          </a:ln>
        </p:spPr>
      </p:sp>
      <p:sp>
        <p:nvSpPr>
          <p:cNvPr id="33" name="Text 31"/>
          <p:cNvSpPr txBox="1"/>
          <p:nvPr/>
        </p:nvSpPr>
        <p:spPr>
          <a:xfrm>
            <a:off x="8229600" y="3246120"/>
            <a:ext cx="3383280" cy="320040"/>
          </a:xfrm>
          <a:prstGeom prst="rect">
            <a:avLst/>
          </a:prstGeom>
          <a:noFill/>
          <a:ln/>
        </p:spPr>
        <p:txBody>
          <a:bodyPr wrap="square" lIns="0" tIns="0" rIns="0" bIns="0" rtlCol="0" anchor="t"/>
          <a:lstStyle/>
          <a:p>
            <a:pPr indent="0" marL="0">
              <a:buNone/>
            </a:pPr>
            <a:r>
              <a:rPr lang="en-US" sz="1500" b="1" dirty="0">
                <a:solidFill>
                  <a:schemeClr val="accent5"/>
                </a:solidFill>
              </a:rPr>
              <a:t>Knowledge layer  (Chroma)</a:t>
            </a:r>
            <a:endParaRPr lang="en-US" sz="1500" dirty="0"/>
          </a:p>
        </p:txBody>
      </p:sp>
      <p:sp>
        <p:nvSpPr>
          <p:cNvPr id="34" name="Shape 32"/>
          <p:cNvSpPr/>
          <p:nvPr/>
        </p:nvSpPr>
        <p:spPr>
          <a:xfrm>
            <a:off x="8229600" y="3611880"/>
            <a:ext cx="3383280" cy="347472"/>
          </a:xfrm>
          <a:prstGeom prst="roundRect">
            <a:avLst>
              <a:gd name="adj" fmla="val 15789"/>
            </a:avLst>
          </a:prstGeom>
          <a:solidFill>
            <a:schemeClr val="accent2"/>
          </a:solidFill>
          <a:ln w="12700">
            <a:solidFill>
              <a:schemeClr val="accent2"/>
            </a:solidFill>
            <a:prstDash val="solid"/>
          </a:ln>
        </p:spPr>
      </p:sp>
      <p:sp>
        <p:nvSpPr>
          <p:cNvPr id="35" name="Text 33"/>
          <p:cNvSpPr txBox="1"/>
          <p:nvPr/>
        </p:nvSpPr>
        <p:spPr>
          <a:xfrm>
            <a:off x="8229600" y="3611880"/>
            <a:ext cx="338328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safety_procedures</a:t>
            </a:r>
            <a:endParaRPr lang="en-US" sz="1300" dirty="0"/>
          </a:p>
        </p:txBody>
      </p:sp>
      <p:sp>
        <p:nvSpPr>
          <p:cNvPr id="36" name="Shape 34"/>
          <p:cNvSpPr/>
          <p:nvPr/>
        </p:nvSpPr>
        <p:spPr>
          <a:xfrm>
            <a:off x="8229600" y="4023360"/>
            <a:ext cx="3383280" cy="347472"/>
          </a:xfrm>
          <a:prstGeom prst="roundRect">
            <a:avLst>
              <a:gd name="adj" fmla="val 15789"/>
            </a:avLst>
          </a:prstGeom>
          <a:solidFill>
            <a:schemeClr val="accent3"/>
          </a:solidFill>
          <a:ln w="12700">
            <a:solidFill>
              <a:schemeClr val="accent3"/>
            </a:solidFill>
            <a:prstDash val="solid"/>
          </a:ln>
        </p:spPr>
      </p:sp>
      <p:sp>
        <p:nvSpPr>
          <p:cNvPr id="37" name="Text 35"/>
          <p:cNvSpPr txBox="1"/>
          <p:nvPr/>
        </p:nvSpPr>
        <p:spPr>
          <a:xfrm>
            <a:off x="8229600" y="4023360"/>
            <a:ext cx="338328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maintenance_manuals</a:t>
            </a:r>
            <a:endParaRPr lang="en-US" sz="1300" dirty="0"/>
          </a:p>
        </p:txBody>
      </p:sp>
      <p:sp>
        <p:nvSpPr>
          <p:cNvPr id="38" name="Shape 36"/>
          <p:cNvSpPr/>
          <p:nvPr/>
        </p:nvSpPr>
        <p:spPr>
          <a:xfrm>
            <a:off x="8229600" y="4434840"/>
            <a:ext cx="3383280" cy="347472"/>
          </a:xfrm>
          <a:prstGeom prst="roundRect">
            <a:avLst>
              <a:gd name="adj" fmla="val 15789"/>
            </a:avLst>
          </a:prstGeom>
          <a:solidFill>
            <a:schemeClr val="accent4"/>
          </a:solidFill>
          <a:ln w="12700">
            <a:solidFill>
              <a:schemeClr val="accent4"/>
            </a:solidFill>
            <a:prstDash val="solid"/>
          </a:ln>
        </p:spPr>
      </p:sp>
      <p:sp>
        <p:nvSpPr>
          <p:cNvPr id="39" name="Text 37"/>
          <p:cNvSpPr txBox="1"/>
          <p:nvPr/>
        </p:nvSpPr>
        <p:spPr>
          <a:xfrm>
            <a:off x="8229600" y="4434840"/>
            <a:ext cx="3383280" cy="347472"/>
          </a:xfrm>
          <a:prstGeom prst="rect">
            <a:avLst/>
          </a:prstGeom>
          <a:noFill/>
          <a:ln/>
        </p:spPr>
        <p:txBody>
          <a:bodyPr wrap="square" lIns="0" tIns="0" rIns="0" bIns="0" rtlCol="0" anchor="ctr"/>
          <a:lstStyle/>
          <a:p>
            <a:pPr algn="ctr" indent="0" marL="0">
              <a:buNone/>
            </a:pPr>
            <a:r>
              <a:rPr lang="en-US" sz="1300" b="1" dirty="0">
                <a:solidFill>
                  <a:schemeClr val="bg1"/>
                </a:solidFill>
                <a:latin typeface="Courier New" pitchFamily="34" charset="0"/>
                <a:ea typeface="Courier New" pitchFamily="34" charset="-122"/>
                <a:cs typeface="Courier New" pitchFamily="34" charset="-120"/>
              </a:rPr>
              <a:t>quality_standards</a:t>
            </a:r>
            <a:endParaRPr lang="en-US" sz="1300" dirty="0"/>
          </a:p>
        </p:txBody>
      </p:sp>
      <p:sp>
        <p:nvSpPr>
          <p:cNvPr id="40" name="Shape 38"/>
          <p:cNvSpPr/>
          <p:nvPr/>
        </p:nvSpPr>
        <p:spPr>
          <a:xfrm>
            <a:off x="7909560" y="4023360"/>
            <a:ext cx="274320" cy="914"/>
          </a:xfrm>
          <a:prstGeom prst="line">
            <a:avLst/>
          </a:prstGeom>
          <a:noFill/>
          <a:ln w="22225">
            <a:solidFill>
              <a:schemeClr val="accent5"/>
            </a:solidFill>
            <a:prstDash val="solid"/>
            <a:tailEnd type="triangle"/>
          </a:ln>
        </p:spPr>
      </p:sp>
      <p:sp>
        <p:nvSpPr>
          <p:cNvPr id="41" name="Text 39"/>
          <p:cNvSpPr txBox="1"/>
          <p:nvPr/>
        </p:nvSpPr>
        <p:spPr>
          <a:xfrm>
            <a:off x="548640" y="5029200"/>
            <a:ext cx="6400800" cy="320040"/>
          </a:xfrm>
          <a:prstGeom prst="rect">
            <a:avLst/>
          </a:prstGeom>
          <a:noFill/>
          <a:ln/>
        </p:spPr>
        <p:txBody>
          <a:bodyPr wrap="square" lIns="0" tIns="0" rIns="0" bIns="0" rtlCol="0" anchor="t"/>
          <a:lstStyle/>
          <a:p>
            <a:pPr indent="0" marL="0">
              <a:buNone/>
            </a:pPr>
            <a:r>
              <a:rPr lang="en-US" sz="1500" b="1" dirty="0">
                <a:solidFill>
                  <a:schemeClr val="accent5"/>
                </a:solidFill>
              </a:rPr>
              <a:t>Offline ingestion  (python -m plant_assist.ingest)</a:t>
            </a:r>
            <a:endParaRPr lang="en-US" sz="1500" dirty="0"/>
          </a:p>
        </p:txBody>
      </p:sp>
      <p:sp>
        <p:nvSpPr>
          <p:cNvPr id="42" name="Shape 40"/>
          <p:cNvSpPr/>
          <p:nvPr/>
        </p:nvSpPr>
        <p:spPr>
          <a:xfrm>
            <a:off x="548640" y="5440680"/>
            <a:ext cx="1828800" cy="731520"/>
          </a:xfrm>
          <a:prstGeom prst="roundRect">
            <a:avLst>
              <a:gd name="adj" fmla="val 10000"/>
            </a:avLst>
          </a:prstGeom>
          <a:solidFill>
            <a:schemeClr val="bg2"/>
          </a:solidFill>
          <a:ln w="9525">
            <a:solidFill>
              <a:schemeClr val="bg2"/>
            </a:solidFill>
            <a:prstDash val="solid"/>
          </a:ln>
        </p:spPr>
      </p:sp>
      <p:sp>
        <p:nvSpPr>
          <p:cNvPr id="43" name="Text 41"/>
          <p:cNvSpPr txBox="1"/>
          <p:nvPr/>
        </p:nvSpPr>
        <p:spPr>
          <a:xfrm>
            <a:off x="621792" y="5440680"/>
            <a:ext cx="1682496" cy="731520"/>
          </a:xfrm>
          <a:prstGeom prst="rect">
            <a:avLst/>
          </a:prstGeom>
          <a:noFill/>
          <a:ln/>
        </p:spPr>
        <p:txBody>
          <a:bodyPr wrap="square" lIns="0" tIns="0" rIns="0" bIns="0" rtlCol="0" anchor="ctr"/>
          <a:lstStyle/>
          <a:p>
            <a:pPr algn="ctr" indent="0" marL="0">
              <a:buNone/>
            </a:pPr>
            <a:r>
              <a:rPr lang="en-US" sz="1400" b="1" dirty="0">
                <a:solidFill>
                  <a:schemeClr val="tx1"/>
                </a:solidFill>
              </a:rPr>
              <a:t>data/docs</a:t>
            </a:r>
            <a:endParaRPr lang="en-US" sz="1400" dirty="0"/>
          </a:p>
          <a:p>
            <a:pPr algn="ctr" indent="0" marL="0">
              <a:buNone/>
            </a:pPr>
            <a:r>
              <a:rPr lang="en-US" sz="1100" dirty="0">
                <a:solidFill>
                  <a:schemeClr val="accent5"/>
                </a:solidFill>
              </a:rPr>
              <a:t>md, docx, pdf</a:t>
            </a:r>
            <a:endParaRPr lang="en-US" sz="1400" dirty="0"/>
          </a:p>
        </p:txBody>
      </p:sp>
      <p:sp>
        <p:nvSpPr>
          <p:cNvPr id="44" name="Shape 42"/>
          <p:cNvSpPr/>
          <p:nvPr/>
        </p:nvSpPr>
        <p:spPr>
          <a:xfrm>
            <a:off x="2395728" y="5806440"/>
            <a:ext cx="237744" cy="914"/>
          </a:xfrm>
          <a:prstGeom prst="line">
            <a:avLst/>
          </a:prstGeom>
          <a:noFill/>
          <a:ln w="22225">
            <a:solidFill>
              <a:schemeClr val="accent5"/>
            </a:solidFill>
            <a:prstDash val="solid"/>
            <a:tailEnd type="triangle"/>
          </a:ln>
        </p:spPr>
      </p:sp>
      <p:sp>
        <p:nvSpPr>
          <p:cNvPr id="45" name="Shape 43"/>
          <p:cNvSpPr/>
          <p:nvPr/>
        </p:nvSpPr>
        <p:spPr>
          <a:xfrm>
            <a:off x="2651760" y="5440680"/>
            <a:ext cx="1828800" cy="731520"/>
          </a:xfrm>
          <a:prstGeom prst="roundRect">
            <a:avLst>
              <a:gd name="adj" fmla="val 10000"/>
            </a:avLst>
          </a:prstGeom>
          <a:solidFill>
            <a:schemeClr val="bg2"/>
          </a:solidFill>
          <a:ln w="9525">
            <a:solidFill>
              <a:schemeClr val="bg2"/>
            </a:solidFill>
            <a:prstDash val="solid"/>
          </a:ln>
        </p:spPr>
      </p:sp>
      <p:sp>
        <p:nvSpPr>
          <p:cNvPr id="46" name="Text 44"/>
          <p:cNvSpPr txBox="1"/>
          <p:nvPr/>
        </p:nvSpPr>
        <p:spPr>
          <a:xfrm>
            <a:off x="2724912" y="5440680"/>
            <a:ext cx="1682496" cy="731520"/>
          </a:xfrm>
          <a:prstGeom prst="rect">
            <a:avLst/>
          </a:prstGeom>
          <a:noFill/>
          <a:ln/>
        </p:spPr>
        <p:txBody>
          <a:bodyPr wrap="square" lIns="0" tIns="0" rIns="0" bIns="0" rtlCol="0" anchor="ctr"/>
          <a:lstStyle/>
          <a:p>
            <a:pPr algn="ctr" indent="0" marL="0">
              <a:buNone/>
            </a:pPr>
            <a:r>
              <a:rPr lang="en-US" sz="1400" b="1" dirty="0">
                <a:solidFill>
                  <a:schemeClr val="tx1"/>
                </a:solidFill>
              </a:rPr>
              <a:t>Extract</a:t>
            </a:r>
            <a:endParaRPr lang="en-US" sz="1400" dirty="0"/>
          </a:p>
          <a:p>
            <a:pPr algn="ctr" indent="0" marL="0">
              <a:buNone/>
            </a:pPr>
            <a:r>
              <a:rPr lang="en-US" sz="1100" dirty="0">
                <a:solidFill>
                  <a:schemeClr val="accent5"/>
                </a:solidFill>
              </a:rPr>
              <a:t>to Markdown + metadata</a:t>
            </a:r>
            <a:endParaRPr lang="en-US" sz="1400" dirty="0"/>
          </a:p>
        </p:txBody>
      </p:sp>
      <p:sp>
        <p:nvSpPr>
          <p:cNvPr id="47" name="Shape 45"/>
          <p:cNvSpPr/>
          <p:nvPr/>
        </p:nvSpPr>
        <p:spPr>
          <a:xfrm>
            <a:off x="4498848" y="5806440"/>
            <a:ext cx="237744" cy="914"/>
          </a:xfrm>
          <a:prstGeom prst="line">
            <a:avLst/>
          </a:prstGeom>
          <a:noFill/>
          <a:ln w="22225">
            <a:solidFill>
              <a:schemeClr val="accent5"/>
            </a:solidFill>
            <a:prstDash val="solid"/>
            <a:tailEnd type="triangle"/>
          </a:ln>
        </p:spPr>
      </p:sp>
      <p:sp>
        <p:nvSpPr>
          <p:cNvPr id="48" name="Shape 46"/>
          <p:cNvSpPr/>
          <p:nvPr/>
        </p:nvSpPr>
        <p:spPr>
          <a:xfrm>
            <a:off x="4754880" y="5440680"/>
            <a:ext cx="1828800" cy="731520"/>
          </a:xfrm>
          <a:prstGeom prst="roundRect">
            <a:avLst>
              <a:gd name="adj" fmla="val 10000"/>
            </a:avLst>
          </a:prstGeom>
          <a:solidFill>
            <a:schemeClr val="bg2"/>
          </a:solidFill>
          <a:ln w="9525">
            <a:solidFill>
              <a:schemeClr val="bg2"/>
            </a:solidFill>
            <a:prstDash val="solid"/>
          </a:ln>
        </p:spPr>
      </p:sp>
      <p:sp>
        <p:nvSpPr>
          <p:cNvPr id="49" name="Text 47"/>
          <p:cNvSpPr txBox="1"/>
          <p:nvPr/>
        </p:nvSpPr>
        <p:spPr>
          <a:xfrm>
            <a:off x="4828032" y="5440680"/>
            <a:ext cx="1682496" cy="731520"/>
          </a:xfrm>
          <a:prstGeom prst="rect">
            <a:avLst/>
          </a:prstGeom>
          <a:noFill/>
          <a:ln/>
        </p:spPr>
        <p:txBody>
          <a:bodyPr wrap="square" lIns="0" tIns="0" rIns="0" bIns="0" rtlCol="0" anchor="ctr"/>
          <a:lstStyle/>
          <a:p>
            <a:pPr algn="ctr" indent="0" marL="0">
              <a:buNone/>
            </a:pPr>
            <a:r>
              <a:rPr lang="en-US" sz="1400" b="1" dirty="0">
                <a:solidFill>
                  <a:schemeClr val="tx1"/>
                </a:solidFill>
              </a:rPr>
              <a:t>Structure chunks</a:t>
            </a:r>
            <a:endParaRPr lang="en-US" sz="1400" dirty="0"/>
          </a:p>
          <a:p>
            <a:pPr algn="ctr" indent="0" marL="0">
              <a:buNone/>
            </a:pPr>
            <a:r>
              <a:rPr lang="en-US" sz="1100" dirty="0">
                <a:solidFill>
                  <a:schemeClr val="accent5"/>
                </a:solidFill>
              </a:rPr>
              <a:t>sections, whole tables</a:t>
            </a:r>
            <a:endParaRPr lang="en-US" sz="1400" dirty="0"/>
          </a:p>
        </p:txBody>
      </p:sp>
      <p:sp>
        <p:nvSpPr>
          <p:cNvPr id="50" name="Shape 48"/>
          <p:cNvSpPr/>
          <p:nvPr/>
        </p:nvSpPr>
        <p:spPr>
          <a:xfrm>
            <a:off x="6601968" y="5806440"/>
            <a:ext cx="237744" cy="914"/>
          </a:xfrm>
          <a:prstGeom prst="line">
            <a:avLst/>
          </a:prstGeom>
          <a:noFill/>
          <a:ln w="22225">
            <a:solidFill>
              <a:schemeClr val="accent5"/>
            </a:solidFill>
            <a:prstDash val="solid"/>
            <a:tailEnd type="triangle"/>
          </a:ln>
        </p:spPr>
      </p:sp>
      <p:sp>
        <p:nvSpPr>
          <p:cNvPr id="51" name="Shape 49"/>
          <p:cNvSpPr/>
          <p:nvPr/>
        </p:nvSpPr>
        <p:spPr>
          <a:xfrm>
            <a:off x="6858000" y="5440680"/>
            <a:ext cx="1828800" cy="731520"/>
          </a:xfrm>
          <a:prstGeom prst="roundRect">
            <a:avLst>
              <a:gd name="adj" fmla="val 10000"/>
            </a:avLst>
          </a:prstGeom>
          <a:solidFill>
            <a:schemeClr val="bg2"/>
          </a:solidFill>
          <a:ln w="9525">
            <a:solidFill>
              <a:schemeClr val="bg2"/>
            </a:solidFill>
            <a:prstDash val="solid"/>
          </a:ln>
        </p:spPr>
      </p:sp>
      <p:sp>
        <p:nvSpPr>
          <p:cNvPr id="52" name="Text 50"/>
          <p:cNvSpPr txBox="1"/>
          <p:nvPr/>
        </p:nvSpPr>
        <p:spPr>
          <a:xfrm>
            <a:off x="6931152" y="5440680"/>
            <a:ext cx="1682496" cy="731520"/>
          </a:xfrm>
          <a:prstGeom prst="rect">
            <a:avLst/>
          </a:prstGeom>
          <a:noFill/>
          <a:ln/>
        </p:spPr>
        <p:txBody>
          <a:bodyPr wrap="square" lIns="0" tIns="0" rIns="0" bIns="0" rtlCol="0" anchor="ctr"/>
          <a:lstStyle/>
          <a:p>
            <a:pPr algn="ctr" indent="0" marL="0">
              <a:buNone/>
            </a:pPr>
            <a:r>
              <a:rPr lang="en-US" sz="1400" b="1" dirty="0">
                <a:solidFill>
                  <a:schemeClr val="tx1"/>
                </a:solidFill>
              </a:rPr>
              <a:t>Context header</a:t>
            </a:r>
            <a:endParaRPr lang="en-US" sz="1400" dirty="0"/>
          </a:p>
          <a:p>
            <a:pPr algn="ctr" indent="0" marL="0">
              <a:buNone/>
            </a:pPr>
            <a:r>
              <a:rPr lang="en-US" sz="1100" dirty="0">
                <a:solidFill>
                  <a:schemeClr val="accent5"/>
                </a:solidFill>
              </a:rPr>
              <a:t>title &gt; section</a:t>
            </a:r>
            <a:endParaRPr lang="en-US" sz="1400" dirty="0"/>
          </a:p>
        </p:txBody>
      </p:sp>
      <p:sp>
        <p:nvSpPr>
          <p:cNvPr id="53" name="Shape 51"/>
          <p:cNvSpPr/>
          <p:nvPr/>
        </p:nvSpPr>
        <p:spPr>
          <a:xfrm>
            <a:off x="8705088" y="5806440"/>
            <a:ext cx="237744" cy="914"/>
          </a:xfrm>
          <a:prstGeom prst="line">
            <a:avLst/>
          </a:prstGeom>
          <a:noFill/>
          <a:ln w="22225">
            <a:solidFill>
              <a:schemeClr val="accent5"/>
            </a:solidFill>
            <a:prstDash val="solid"/>
            <a:tailEnd type="triangle"/>
          </a:ln>
        </p:spPr>
      </p:sp>
      <p:sp>
        <p:nvSpPr>
          <p:cNvPr id="54" name="Shape 52"/>
          <p:cNvSpPr/>
          <p:nvPr/>
        </p:nvSpPr>
        <p:spPr>
          <a:xfrm>
            <a:off x="8961120" y="5440680"/>
            <a:ext cx="1828800" cy="731520"/>
          </a:xfrm>
          <a:prstGeom prst="roundRect">
            <a:avLst>
              <a:gd name="adj" fmla="val 10000"/>
            </a:avLst>
          </a:prstGeom>
          <a:solidFill>
            <a:schemeClr val="bg2"/>
          </a:solidFill>
          <a:ln w="9525">
            <a:solidFill>
              <a:schemeClr val="bg2"/>
            </a:solidFill>
            <a:prstDash val="solid"/>
          </a:ln>
        </p:spPr>
      </p:sp>
      <p:sp>
        <p:nvSpPr>
          <p:cNvPr id="55" name="Text 53"/>
          <p:cNvSpPr txBox="1"/>
          <p:nvPr/>
        </p:nvSpPr>
        <p:spPr>
          <a:xfrm>
            <a:off x="9034272" y="5440680"/>
            <a:ext cx="1682496" cy="731520"/>
          </a:xfrm>
          <a:prstGeom prst="rect">
            <a:avLst/>
          </a:prstGeom>
          <a:noFill/>
          <a:ln/>
        </p:spPr>
        <p:txBody>
          <a:bodyPr wrap="square" lIns="0" tIns="0" rIns="0" bIns="0" rtlCol="0" anchor="ctr"/>
          <a:lstStyle/>
          <a:p>
            <a:pPr algn="ctr" indent="0" marL="0">
              <a:buNone/>
            </a:pPr>
            <a:r>
              <a:rPr lang="en-US" sz="1400" b="1" dirty="0">
                <a:solidFill>
                  <a:schemeClr val="tx1"/>
                </a:solidFill>
              </a:rPr>
              <a:t>Embed + store</a:t>
            </a:r>
            <a:endParaRPr lang="en-US" sz="1400" dirty="0"/>
          </a:p>
          <a:p>
            <a:pPr algn="ctr" indent="0" marL="0">
              <a:buNone/>
            </a:pPr>
            <a:r>
              <a:rPr lang="en-US" sz="1100" dirty="0">
                <a:solidFill>
                  <a:schemeClr val="accent5"/>
                </a:solidFill>
              </a:rPr>
              <a:t>1 collection / source</a:t>
            </a:r>
            <a:endParaRPr lang="en-US" sz="1400" dirty="0"/>
          </a:p>
        </p:txBody>
      </p:sp>
      <p:sp>
        <p:nvSpPr>
          <p:cNvPr id="56" name="Shape 54"/>
          <p:cNvSpPr/>
          <p:nvPr/>
        </p:nvSpPr>
        <p:spPr>
          <a:xfrm flipV="1">
            <a:off x="9921240" y="4873752"/>
            <a:ext cx="914" cy="548640"/>
          </a:xfrm>
          <a:prstGeom prst="line">
            <a:avLst/>
          </a:prstGeom>
          <a:noFill/>
          <a:ln w="22225">
            <a:solidFill>
              <a:schemeClr val="accent5"/>
            </a:solidFill>
            <a:prstDash val="solid"/>
            <a:tailEnd type="triangle"/>
          </a:ln>
        </p:spPr>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LangGraph flow: route, retrieve, verify</a:t>
            </a:r>
            <a:endParaRPr lang="en-US" sz="3600" dirty="0"/>
          </a:p>
        </p:txBody>
      </p:sp>
      <p:sp>
        <p:nvSpPr>
          <p:cNvPr id="3" name="Shape 1"/>
          <p:cNvSpPr/>
          <p:nvPr/>
        </p:nvSpPr>
        <p:spPr>
          <a:xfrm>
            <a:off x="548640" y="1600200"/>
            <a:ext cx="1371600" cy="960120"/>
          </a:xfrm>
          <a:prstGeom prst="roundRect">
            <a:avLst>
              <a:gd name="adj" fmla="val 7619"/>
            </a:avLst>
          </a:prstGeom>
          <a:solidFill>
            <a:schemeClr val="bg2"/>
          </a:solidFill>
          <a:ln w="9525">
            <a:solidFill>
              <a:schemeClr val="bg2"/>
            </a:solidFill>
            <a:prstDash val="solid"/>
          </a:ln>
        </p:spPr>
      </p:sp>
      <p:sp>
        <p:nvSpPr>
          <p:cNvPr id="4" name="Text 2"/>
          <p:cNvSpPr txBox="1"/>
          <p:nvPr/>
        </p:nvSpPr>
        <p:spPr>
          <a:xfrm>
            <a:off x="621792" y="1600200"/>
            <a:ext cx="1225296" cy="960120"/>
          </a:xfrm>
          <a:prstGeom prst="rect">
            <a:avLst/>
          </a:prstGeom>
          <a:noFill/>
          <a:ln/>
        </p:spPr>
        <p:txBody>
          <a:bodyPr wrap="square" lIns="0" tIns="0" rIns="0" bIns="0" rtlCol="0" anchor="ctr"/>
          <a:lstStyle/>
          <a:p>
            <a:pPr algn="ctr" indent="0" marL="0">
              <a:buNone/>
            </a:pPr>
            <a:r>
              <a:rPr lang="en-US" sz="1400" b="1" dirty="0">
                <a:solidFill>
                  <a:schemeClr val="tx1"/>
                </a:solidFill>
              </a:rPr>
              <a:t>Analyze query</a:t>
            </a:r>
            <a:endParaRPr lang="en-US" sz="1400" dirty="0"/>
          </a:p>
          <a:p>
            <a:pPr algn="ctr" indent="0" marL="0">
              <a:buNone/>
            </a:pPr>
            <a:r>
              <a:rPr lang="en-US" sz="1100" dirty="0">
                <a:solidFill>
                  <a:schemeClr val="accent5"/>
                </a:solidFill>
              </a:rPr>
              <a:t>input guardrails</a:t>
            </a:r>
            <a:endParaRPr lang="en-US" sz="1400" dirty="0"/>
          </a:p>
        </p:txBody>
      </p:sp>
      <p:sp>
        <p:nvSpPr>
          <p:cNvPr id="5" name="Shape 3"/>
          <p:cNvSpPr/>
          <p:nvPr/>
        </p:nvSpPr>
        <p:spPr>
          <a:xfrm>
            <a:off x="2167128" y="1600200"/>
            <a:ext cx="1371600" cy="960120"/>
          </a:xfrm>
          <a:prstGeom prst="roundRect">
            <a:avLst>
              <a:gd name="adj" fmla="val 7619"/>
            </a:avLst>
          </a:prstGeom>
          <a:solidFill>
            <a:schemeClr val="bg2"/>
          </a:solidFill>
          <a:ln w="9525">
            <a:solidFill>
              <a:schemeClr val="bg2"/>
            </a:solidFill>
            <a:prstDash val="solid"/>
          </a:ln>
        </p:spPr>
      </p:sp>
      <p:sp>
        <p:nvSpPr>
          <p:cNvPr id="6" name="Text 4"/>
          <p:cNvSpPr txBox="1"/>
          <p:nvPr/>
        </p:nvSpPr>
        <p:spPr>
          <a:xfrm>
            <a:off x="2240280" y="1600200"/>
            <a:ext cx="1225296" cy="960120"/>
          </a:xfrm>
          <a:prstGeom prst="rect">
            <a:avLst/>
          </a:prstGeom>
          <a:noFill/>
          <a:ln/>
        </p:spPr>
        <p:txBody>
          <a:bodyPr wrap="square" lIns="0" tIns="0" rIns="0" bIns="0" rtlCol="0" anchor="ctr"/>
          <a:lstStyle/>
          <a:p>
            <a:pPr algn="ctr" indent="0" marL="0">
              <a:buNone/>
            </a:pPr>
            <a:r>
              <a:rPr lang="en-US" sz="1400" b="1" dirty="0">
                <a:solidFill>
                  <a:schemeClr val="tx1"/>
                </a:solidFill>
              </a:rPr>
              <a:t>Route question</a:t>
            </a:r>
            <a:endParaRPr lang="en-US" sz="1400" dirty="0"/>
          </a:p>
          <a:p>
            <a:pPr algn="ctr" indent="0" marL="0">
              <a:buNone/>
            </a:pPr>
            <a:r>
              <a:rPr lang="en-US" sz="1100" dirty="0">
                <a:solidFill>
                  <a:schemeClr val="accent5"/>
                </a:solidFill>
              </a:rPr>
              <a:t>LLM + policy</a:t>
            </a:r>
            <a:endParaRPr lang="en-US" sz="1400" dirty="0"/>
          </a:p>
        </p:txBody>
      </p:sp>
      <p:sp>
        <p:nvSpPr>
          <p:cNvPr id="7" name="Text 5"/>
          <p:cNvSpPr txBox="1"/>
          <p:nvPr/>
        </p:nvSpPr>
        <p:spPr>
          <a:xfrm>
            <a:off x="3785616" y="1188720"/>
            <a:ext cx="1371600" cy="274320"/>
          </a:xfrm>
          <a:prstGeom prst="rect">
            <a:avLst/>
          </a:prstGeom>
          <a:noFill/>
          <a:ln/>
        </p:spPr>
        <p:txBody>
          <a:bodyPr wrap="square" lIns="0" tIns="0" rIns="0" bIns="0" rtlCol="0" anchor="t"/>
          <a:lstStyle/>
          <a:p>
            <a:pPr algn="ctr" indent="0" marL="0">
              <a:buNone/>
            </a:pPr>
            <a:r>
              <a:rPr lang="en-US" sz="1100" b="1" dirty="0">
                <a:solidFill>
                  <a:schemeClr val="accent6"/>
                </a:solidFill>
              </a:rPr>
              <a:t>Send() fan-out</a:t>
            </a:r>
            <a:endParaRPr lang="en-US" sz="1100" dirty="0"/>
          </a:p>
        </p:txBody>
      </p:sp>
      <p:sp>
        <p:nvSpPr>
          <p:cNvPr id="8" name="Shape 6"/>
          <p:cNvSpPr/>
          <p:nvPr/>
        </p:nvSpPr>
        <p:spPr>
          <a:xfrm>
            <a:off x="3785616" y="1481328"/>
            <a:ext cx="1371600" cy="365760"/>
          </a:xfrm>
          <a:prstGeom prst="roundRect">
            <a:avLst>
              <a:gd name="adj" fmla="val 15000"/>
            </a:avLst>
          </a:prstGeom>
          <a:solidFill>
            <a:schemeClr val="accent2"/>
          </a:solidFill>
          <a:ln w="12700">
            <a:solidFill>
              <a:schemeClr val="accent2"/>
            </a:solidFill>
            <a:prstDash val="solid"/>
          </a:ln>
        </p:spPr>
      </p:sp>
      <p:sp>
        <p:nvSpPr>
          <p:cNvPr id="9" name="Text 7"/>
          <p:cNvSpPr txBox="1"/>
          <p:nvPr/>
        </p:nvSpPr>
        <p:spPr>
          <a:xfrm>
            <a:off x="3785616" y="1481328"/>
            <a:ext cx="1371600" cy="365760"/>
          </a:xfrm>
          <a:prstGeom prst="rect">
            <a:avLst/>
          </a:prstGeom>
          <a:noFill/>
          <a:ln/>
        </p:spPr>
        <p:txBody>
          <a:bodyPr wrap="square" lIns="0" tIns="0" rIns="0" bIns="0" rtlCol="0" anchor="ctr"/>
          <a:lstStyle/>
          <a:p>
            <a:pPr algn="ctr" indent="0" marL="0">
              <a:buNone/>
            </a:pPr>
            <a:r>
              <a:rPr lang="en-US" sz="1100" b="1" dirty="0">
                <a:solidFill>
                  <a:schemeClr val="bg1"/>
                </a:solidFill>
              </a:rPr>
              <a:t>retrieve: safety</a:t>
            </a:r>
            <a:endParaRPr lang="en-US" sz="1100" dirty="0"/>
          </a:p>
        </p:txBody>
      </p:sp>
      <p:sp>
        <p:nvSpPr>
          <p:cNvPr id="10" name="Shape 8"/>
          <p:cNvSpPr/>
          <p:nvPr/>
        </p:nvSpPr>
        <p:spPr>
          <a:xfrm flipV="1">
            <a:off x="3538728" y="1664208"/>
            <a:ext cx="246888" cy="416052"/>
          </a:xfrm>
          <a:prstGeom prst="line">
            <a:avLst/>
          </a:prstGeom>
          <a:noFill/>
          <a:ln w="22225">
            <a:solidFill>
              <a:schemeClr val="accent6"/>
            </a:solidFill>
            <a:prstDash val="dash"/>
            <a:tailEnd type="triangle"/>
          </a:ln>
        </p:spPr>
      </p:sp>
      <p:sp>
        <p:nvSpPr>
          <p:cNvPr id="11" name="Shape 9"/>
          <p:cNvSpPr/>
          <p:nvPr/>
        </p:nvSpPr>
        <p:spPr>
          <a:xfrm>
            <a:off x="5157216" y="1664208"/>
            <a:ext cx="246888" cy="416052"/>
          </a:xfrm>
          <a:prstGeom prst="line">
            <a:avLst/>
          </a:prstGeom>
          <a:noFill/>
          <a:ln w="22225">
            <a:solidFill>
              <a:schemeClr val="accent5"/>
            </a:solidFill>
            <a:prstDash val="solid"/>
            <a:tailEnd type="triangle"/>
          </a:ln>
        </p:spPr>
      </p:sp>
      <p:sp>
        <p:nvSpPr>
          <p:cNvPr id="12" name="Shape 10"/>
          <p:cNvSpPr/>
          <p:nvPr/>
        </p:nvSpPr>
        <p:spPr>
          <a:xfrm>
            <a:off x="3785616" y="1911096"/>
            <a:ext cx="1371600" cy="365760"/>
          </a:xfrm>
          <a:prstGeom prst="roundRect">
            <a:avLst>
              <a:gd name="adj" fmla="val 15000"/>
            </a:avLst>
          </a:prstGeom>
          <a:solidFill>
            <a:schemeClr val="accent3"/>
          </a:solidFill>
          <a:ln w="12700">
            <a:solidFill>
              <a:schemeClr val="accent3"/>
            </a:solidFill>
            <a:prstDash val="solid"/>
          </a:ln>
        </p:spPr>
      </p:sp>
      <p:sp>
        <p:nvSpPr>
          <p:cNvPr id="13" name="Text 11"/>
          <p:cNvSpPr txBox="1"/>
          <p:nvPr/>
        </p:nvSpPr>
        <p:spPr>
          <a:xfrm>
            <a:off x="3785616" y="1911096"/>
            <a:ext cx="1371600" cy="365760"/>
          </a:xfrm>
          <a:prstGeom prst="rect">
            <a:avLst/>
          </a:prstGeom>
          <a:noFill/>
          <a:ln/>
        </p:spPr>
        <p:txBody>
          <a:bodyPr wrap="square" lIns="0" tIns="0" rIns="0" bIns="0" rtlCol="0" anchor="ctr"/>
          <a:lstStyle/>
          <a:p>
            <a:pPr algn="ctr" indent="0" marL="0">
              <a:buNone/>
            </a:pPr>
            <a:r>
              <a:rPr lang="en-US" sz="1100" b="1" dirty="0">
                <a:solidFill>
                  <a:schemeClr val="bg1"/>
                </a:solidFill>
              </a:rPr>
              <a:t>retrieve: maintenance</a:t>
            </a:r>
            <a:endParaRPr lang="en-US" sz="1100" dirty="0"/>
          </a:p>
        </p:txBody>
      </p:sp>
      <p:sp>
        <p:nvSpPr>
          <p:cNvPr id="14" name="Shape 12"/>
          <p:cNvSpPr/>
          <p:nvPr/>
        </p:nvSpPr>
        <p:spPr>
          <a:xfrm>
            <a:off x="3538728" y="2080260"/>
            <a:ext cx="246888" cy="13716"/>
          </a:xfrm>
          <a:prstGeom prst="line">
            <a:avLst/>
          </a:prstGeom>
          <a:noFill/>
          <a:ln w="22225">
            <a:solidFill>
              <a:schemeClr val="accent6"/>
            </a:solidFill>
            <a:prstDash val="dash"/>
            <a:tailEnd type="triangle"/>
          </a:ln>
        </p:spPr>
      </p:sp>
      <p:sp>
        <p:nvSpPr>
          <p:cNvPr id="15" name="Shape 13"/>
          <p:cNvSpPr/>
          <p:nvPr/>
        </p:nvSpPr>
        <p:spPr>
          <a:xfrm flipV="1">
            <a:off x="5157216" y="2080260"/>
            <a:ext cx="246888" cy="13716"/>
          </a:xfrm>
          <a:prstGeom prst="line">
            <a:avLst/>
          </a:prstGeom>
          <a:noFill/>
          <a:ln w="22225">
            <a:solidFill>
              <a:schemeClr val="accent5"/>
            </a:solidFill>
            <a:prstDash val="solid"/>
            <a:tailEnd type="triangle"/>
          </a:ln>
        </p:spPr>
      </p:sp>
      <p:sp>
        <p:nvSpPr>
          <p:cNvPr id="16" name="Shape 14"/>
          <p:cNvSpPr/>
          <p:nvPr/>
        </p:nvSpPr>
        <p:spPr>
          <a:xfrm>
            <a:off x="3785616" y="2340864"/>
            <a:ext cx="1371600" cy="365760"/>
          </a:xfrm>
          <a:prstGeom prst="roundRect">
            <a:avLst>
              <a:gd name="adj" fmla="val 15000"/>
            </a:avLst>
          </a:prstGeom>
          <a:solidFill>
            <a:schemeClr val="accent4"/>
          </a:solidFill>
          <a:ln w="12700">
            <a:solidFill>
              <a:schemeClr val="accent4"/>
            </a:solidFill>
            <a:prstDash val="solid"/>
          </a:ln>
        </p:spPr>
      </p:sp>
      <p:sp>
        <p:nvSpPr>
          <p:cNvPr id="17" name="Text 15"/>
          <p:cNvSpPr txBox="1"/>
          <p:nvPr/>
        </p:nvSpPr>
        <p:spPr>
          <a:xfrm>
            <a:off x="3785616" y="2340864"/>
            <a:ext cx="1371600" cy="365760"/>
          </a:xfrm>
          <a:prstGeom prst="rect">
            <a:avLst/>
          </a:prstGeom>
          <a:noFill/>
          <a:ln/>
        </p:spPr>
        <p:txBody>
          <a:bodyPr wrap="square" lIns="0" tIns="0" rIns="0" bIns="0" rtlCol="0" anchor="ctr"/>
          <a:lstStyle/>
          <a:p>
            <a:pPr algn="ctr" indent="0" marL="0">
              <a:buNone/>
            </a:pPr>
            <a:r>
              <a:rPr lang="en-US" sz="1100" b="1" dirty="0">
                <a:solidFill>
                  <a:schemeClr val="bg1"/>
                </a:solidFill>
              </a:rPr>
              <a:t>retrieve: quality</a:t>
            </a:r>
            <a:endParaRPr lang="en-US" sz="1100" dirty="0"/>
          </a:p>
        </p:txBody>
      </p:sp>
      <p:sp>
        <p:nvSpPr>
          <p:cNvPr id="18" name="Shape 16"/>
          <p:cNvSpPr/>
          <p:nvPr/>
        </p:nvSpPr>
        <p:spPr>
          <a:xfrm>
            <a:off x="3538728" y="2080260"/>
            <a:ext cx="246888" cy="443484"/>
          </a:xfrm>
          <a:prstGeom prst="line">
            <a:avLst/>
          </a:prstGeom>
          <a:noFill/>
          <a:ln w="22225">
            <a:solidFill>
              <a:schemeClr val="accent6"/>
            </a:solidFill>
            <a:prstDash val="dash"/>
            <a:tailEnd type="triangle"/>
          </a:ln>
        </p:spPr>
      </p:sp>
      <p:sp>
        <p:nvSpPr>
          <p:cNvPr id="19" name="Shape 17"/>
          <p:cNvSpPr/>
          <p:nvPr/>
        </p:nvSpPr>
        <p:spPr>
          <a:xfrm flipV="1">
            <a:off x="5157216" y="2080260"/>
            <a:ext cx="246888" cy="443484"/>
          </a:xfrm>
          <a:prstGeom prst="line">
            <a:avLst/>
          </a:prstGeom>
          <a:noFill/>
          <a:ln w="22225">
            <a:solidFill>
              <a:schemeClr val="accent5"/>
            </a:solidFill>
            <a:prstDash val="solid"/>
            <a:tailEnd type="triangle"/>
          </a:ln>
        </p:spPr>
      </p:sp>
      <p:sp>
        <p:nvSpPr>
          <p:cNvPr id="20" name="Shape 18"/>
          <p:cNvSpPr/>
          <p:nvPr/>
        </p:nvSpPr>
        <p:spPr>
          <a:xfrm>
            <a:off x="5404104" y="1600200"/>
            <a:ext cx="1371600" cy="960120"/>
          </a:xfrm>
          <a:prstGeom prst="roundRect">
            <a:avLst>
              <a:gd name="adj" fmla="val 7619"/>
            </a:avLst>
          </a:prstGeom>
          <a:solidFill>
            <a:schemeClr val="bg2"/>
          </a:solidFill>
          <a:ln w="9525">
            <a:solidFill>
              <a:schemeClr val="bg2"/>
            </a:solidFill>
            <a:prstDash val="solid"/>
          </a:ln>
        </p:spPr>
      </p:sp>
      <p:sp>
        <p:nvSpPr>
          <p:cNvPr id="21" name="Text 19"/>
          <p:cNvSpPr txBox="1"/>
          <p:nvPr/>
        </p:nvSpPr>
        <p:spPr>
          <a:xfrm>
            <a:off x="5477256" y="1600200"/>
            <a:ext cx="1225296" cy="960120"/>
          </a:xfrm>
          <a:prstGeom prst="rect">
            <a:avLst/>
          </a:prstGeom>
          <a:noFill/>
          <a:ln/>
        </p:spPr>
        <p:txBody>
          <a:bodyPr wrap="square" lIns="0" tIns="0" rIns="0" bIns="0" rtlCol="0" anchor="ctr"/>
          <a:lstStyle/>
          <a:p>
            <a:pPr algn="ctr" indent="0" marL="0">
              <a:buNone/>
            </a:pPr>
            <a:r>
              <a:rPr lang="en-US" sz="1400" b="1" dirty="0">
                <a:solidFill>
                  <a:schemeClr val="tx1"/>
                </a:solidFill>
              </a:rPr>
              <a:t>Grade documents</a:t>
            </a:r>
            <a:endParaRPr lang="en-US" sz="1400" dirty="0"/>
          </a:p>
          <a:p>
            <a:pPr algn="ctr" indent="0" marL="0">
              <a:buNone/>
            </a:pPr>
            <a:r>
              <a:rPr lang="en-US" sz="1100" dirty="0">
                <a:solidFill>
                  <a:schemeClr val="accent5"/>
                </a:solidFill>
              </a:rPr>
              <a:t>cosine &gt;= 0.55</a:t>
            </a:r>
            <a:endParaRPr lang="en-US" sz="1400" dirty="0"/>
          </a:p>
        </p:txBody>
      </p:sp>
      <p:sp>
        <p:nvSpPr>
          <p:cNvPr id="22" name="Shape 20"/>
          <p:cNvSpPr/>
          <p:nvPr/>
        </p:nvSpPr>
        <p:spPr>
          <a:xfrm>
            <a:off x="7022592" y="1600200"/>
            <a:ext cx="1371600" cy="960120"/>
          </a:xfrm>
          <a:prstGeom prst="roundRect">
            <a:avLst>
              <a:gd name="adj" fmla="val 7619"/>
            </a:avLst>
          </a:prstGeom>
          <a:solidFill>
            <a:schemeClr val="bg2"/>
          </a:solidFill>
          <a:ln w="9525">
            <a:solidFill>
              <a:schemeClr val="bg2"/>
            </a:solidFill>
            <a:prstDash val="solid"/>
          </a:ln>
        </p:spPr>
      </p:sp>
      <p:sp>
        <p:nvSpPr>
          <p:cNvPr id="23" name="Text 21"/>
          <p:cNvSpPr txBox="1"/>
          <p:nvPr/>
        </p:nvSpPr>
        <p:spPr>
          <a:xfrm>
            <a:off x="7095744" y="1600200"/>
            <a:ext cx="1225296" cy="960120"/>
          </a:xfrm>
          <a:prstGeom prst="rect">
            <a:avLst/>
          </a:prstGeom>
          <a:noFill/>
          <a:ln/>
        </p:spPr>
        <p:txBody>
          <a:bodyPr wrap="square" lIns="0" tIns="0" rIns="0" bIns="0" rtlCol="0" anchor="ctr"/>
          <a:lstStyle/>
          <a:p>
            <a:pPr algn="ctr" indent="0" marL="0">
              <a:buNone/>
            </a:pPr>
            <a:r>
              <a:rPr lang="en-US" sz="1400" b="1" dirty="0">
                <a:solidFill>
                  <a:schemeClr val="tx1"/>
                </a:solidFill>
              </a:rPr>
              <a:t>Generate</a:t>
            </a:r>
            <a:endParaRPr lang="en-US" sz="1400" dirty="0"/>
          </a:p>
          <a:p>
            <a:pPr algn="ctr" indent="0" marL="0">
              <a:buNone/>
            </a:pPr>
            <a:r>
              <a:rPr lang="en-US" sz="1100" dirty="0">
                <a:solidFill>
                  <a:schemeClr val="accent5"/>
                </a:solidFill>
              </a:rPr>
              <a:t>cited, excerpts only</a:t>
            </a:r>
            <a:endParaRPr lang="en-US" sz="1400" dirty="0"/>
          </a:p>
        </p:txBody>
      </p:sp>
      <p:sp>
        <p:nvSpPr>
          <p:cNvPr id="24" name="Shape 22"/>
          <p:cNvSpPr/>
          <p:nvPr/>
        </p:nvSpPr>
        <p:spPr>
          <a:xfrm>
            <a:off x="8641080" y="1600200"/>
            <a:ext cx="1371600" cy="960120"/>
          </a:xfrm>
          <a:prstGeom prst="roundRect">
            <a:avLst>
              <a:gd name="adj" fmla="val 7619"/>
            </a:avLst>
          </a:prstGeom>
          <a:solidFill>
            <a:schemeClr val="bg2"/>
          </a:solidFill>
          <a:ln w="9525">
            <a:solidFill>
              <a:schemeClr val="bg2"/>
            </a:solidFill>
            <a:prstDash val="solid"/>
          </a:ln>
        </p:spPr>
      </p:sp>
      <p:sp>
        <p:nvSpPr>
          <p:cNvPr id="25" name="Text 23"/>
          <p:cNvSpPr txBox="1"/>
          <p:nvPr/>
        </p:nvSpPr>
        <p:spPr>
          <a:xfrm>
            <a:off x="8714232" y="1600200"/>
            <a:ext cx="1225296" cy="960120"/>
          </a:xfrm>
          <a:prstGeom prst="rect">
            <a:avLst/>
          </a:prstGeom>
          <a:noFill/>
          <a:ln/>
        </p:spPr>
        <p:txBody>
          <a:bodyPr wrap="square" lIns="0" tIns="0" rIns="0" bIns="0" rtlCol="0" anchor="ctr"/>
          <a:lstStyle/>
          <a:p>
            <a:pPr algn="ctr" indent="0" marL="0">
              <a:buNone/>
            </a:pPr>
            <a:r>
              <a:rPr lang="en-US" sz="1400" b="1" dirty="0">
                <a:solidFill>
                  <a:schemeClr val="tx1"/>
                </a:solidFill>
              </a:rPr>
              <a:t>Verify grounding</a:t>
            </a:r>
            <a:endParaRPr lang="en-US" sz="1400" dirty="0"/>
          </a:p>
          <a:p>
            <a:pPr algn="ctr" indent="0" marL="0">
              <a:buNone/>
            </a:pPr>
            <a:r>
              <a:rPr lang="en-US" sz="1100" dirty="0">
                <a:solidFill>
                  <a:schemeClr val="accent5"/>
                </a:solidFill>
              </a:rPr>
              <a:t>rules + LLM</a:t>
            </a:r>
            <a:endParaRPr lang="en-US" sz="1400" dirty="0"/>
          </a:p>
        </p:txBody>
      </p:sp>
      <p:sp>
        <p:nvSpPr>
          <p:cNvPr id="26" name="Shape 24"/>
          <p:cNvSpPr/>
          <p:nvPr/>
        </p:nvSpPr>
        <p:spPr>
          <a:xfrm>
            <a:off x="10259568" y="1600200"/>
            <a:ext cx="1371600" cy="960120"/>
          </a:xfrm>
          <a:prstGeom prst="roundRect">
            <a:avLst>
              <a:gd name="adj" fmla="val 7619"/>
            </a:avLst>
          </a:prstGeom>
          <a:solidFill>
            <a:schemeClr val="bg2"/>
          </a:solidFill>
          <a:ln w="19050">
            <a:solidFill>
              <a:schemeClr val="tx1"/>
            </a:solidFill>
            <a:prstDash val="solid"/>
          </a:ln>
        </p:spPr>
      </p:sp>
      <p:sp>
        <p:nvSpPr>
          <p:cNvPr id="27" name="Text 25"/>
          <p:cNvSpPr txBox="1"/>
          <p:nvPr/>
        </p:nvSpPr>
        <p:spPr>
          <a:xfrm>
            <a:off x="10332720" y="1600200"/>
            <a:ext cx="1225296" cy="960120"/>
          </a:xfrm>
          <a:prstGeom prst="rect">
            <a:avLst/>
          </a:prstGeom>
          <a:noFill/>
          <a:ln/>
        </p:spPr>
        <p:txBody>
          <a:bodyPr wrap="square" lIns="0" tIns="0" rIns="0" bIns="0" rtlCol="0" anchor="ctr"/>
          <a:lstStyle/>
          <a:p>
            <a:pPr algn="ctr" indent="0" marL="0">
              <a:buNone/>
            </a:pPr>
            <a:r>
              <a:rPr lang="en-US" sz="1400" b="1" dirty="0">
                <a:solidFill>
                  <a:schemeClr val="tx1"/>
                </a:solidFill>
              </a:rPr>
              <a:t>Finalize</a:t>
            </a:r>
            <a:endParaRPr lang="en-US" sz="1400" dirty="0"/>
          </a:p>
          <a:p>
            <a:pPr algn="ctr" indent="0" marL="0">
              <a:buNone/>
            </a:pPr>
            <a:r>
              <a:rPr lang="en-US" sz="1100" dirty="0">
                <a:solidFill>
                  <a:schemeClr val="accent5"/>
                </a:solidFill>
              </a:rPr>
              <a:t>banner + caveats</a:t>
            </a:r>
            <a:endParaRPr lang="en-US" sz="1400" dirty="0"/>
          </a:p>
        </p:txBody>
      </p:sp>
      <p:sp>
        <p:nvSpPr>
          <p:cNvPr id="28" name="Shape 26"/>
          <p:cNvSpPr/>
          <p:nvPr/>
        </p:nvSpPr>
        <p:spPr>
          <a:xfrm>
            <a:off x="1920240" y="2080260"/>
            <a:ext cx="246888" cy="914"/>
          </a:xfrm>
          <a:prstGeom prst="line">
            <a:avLst/>
          </a:prstGeom>
          <a:noFill/>
          <a:ln w="22225">
            <a:solidFill>
              <a:schemeClr val="accent5"/>
            </a:solidFill>
            <a:prstDash val="solid"/>
            <a:tailEnd type="triangle"/>
          </a:ln>
        </p:spPr>
      </p:sp>
      <p:sp>
        <p:nvSpPr>
          <p:cNvPr id="29" name="Shape 27"/>
          <p:cNvSpPr/>
          <p:nvPr/>
        </p:nvSpPr>
        <p:spPr>
          <a:xfrm>
            <a:off x="6775704" y="2080260"/>
            <a:ext cx="246888" cy="914"/>
          </a:xfrm>
          <a:prstGeom prst="line">
            <a:avLst/>
          </a:prstGeom>
          <a:noFill/>
          <a:ln w="22225">
            <a:solidFill>
              <a:schemeClr val="accent6"/>
            </a:solidFill>
            <a:prstDash val="dash"/>
            <a:tailEnd type="triangle"/>
          </a:ln>
        </p:spPr>
      </p:sp>
      <p:sp>
        <p:nvSpPr>
          <p:cNvPr id="30" name="Shape 28"/>
          <p:cNvSpPr/>
          <p:nvPr/>
        </p:nvSpPr>
        <p:spPr>
          <a:xfrm>
            <a:off x="8394192" y="2080260"/>
            <a:ext cx="246888" cy="914"/>
          </a:xfrm>
          <a:prstGeom prst="line">
            <a:avLst/>
          </a:prstGeom>
          <a:noFill/>
          <a:ln w="22225">
            <a:solidFill>
              <a:schemeClr val="accent5"/>
            </a:solidFill>
            <a:prstDash val="solid"/>
            <a:tailEnd type="triangle"/>
          </a:ln>
        </p:spPr>
      </p:sp>
      <p:sp>
        <p:nvSpPr>
          <p:cNvPr id="31" name="Shape 29"/>
          <p:cNvSpPr/>
          <p:nvPr/>
        </p:nvSpPr>
        <p:spPr>
          <a:xfrm>
            <a:off x="10012680" y="2080260"/>
            <a:ext cx="246888" cy="914"/>
          </a:xfrm>
          <a:prstGeom prst="line">
            <a:avLst/>
          </a:prstGeom>
          <a:noFill/>
          <a:ln w="22225">
            <a:solidFill>
              <a:schemeClr val="accent6"/>
            </a:solidFill>
            <a:prstDash val="dash"/>
            <a:tailEnd type="triangle"/>
          </a:ln>
        </p:spPr>
      </p:sp>
      <p:sp>
        <p:nvSpPr>
          <p:cNvPr id="32" name="Shape 30"/>
          <p:cNvSpPr/>
          <p:nvPr/>
        </p:nvSpPr>
        <p:spPr>
          <a:xfrm>
            <a:off x="548640" y="3977640"/>
            <a:ext cx="1371600" cy="868680"/>
          </a:xfrm>
          <a:prstGeom prst="roundRect">
            <a:avLst>
              <a:gd name="adj" fmla="val 8421"/>
            </a:avLst>
          </a:prstGeom>
          <a:solidFill>
            <a:schemeClr val="bg2"/>
          </a:solidFill>
          <a:ln w="19050">
            <a:solidFill>
              <a:schemeClr val="tx1"/>
            </a:solidFill>
            <a:prstDash val="solid"/>
          </a:ln>
        </p:spPr>
      </p:sp>
      <p:sp>
        <p:nvSpPr>
          <p:cNvPr id="33" name="Text 31"/>
          <p:cNvSpPr txBox="1"/>
          <p:nvPr/>
        </p:nvSpPr>
        <p:spPr>
          <a:xfrm>
            <a:off x="621792" y="3977640"/>
            <a:ext cx="1225296" cy="868680"/>
          </a:xfrm>
          <a:prstGeom prst="rect">
            <a:avLst/>
          </a:prstGeom>
          <a:noFill/>
          <a:ln/>
        </p:spPr>
        <p:txBody>
          <a:bodyPr wrap="square" lIns="0" tIns="0" rIns="0" bIns="0" rtlCol="0" anchor="ctr"/>
          <a:lstStyle/>
          <a:p>
            <a:pPr algn="ctr" indent="0" marL="0">
              <a:buNone/>
            </a:pPr>
            <a:r>
              <a:rPr lang="en-US" sz="1400" b="1" dirty="0">
                <a:solidFill>
                  <a:schemeClr val="tx1"/>
                </a:solidFill>
              </a:rPr>
              <a:t>Blocked</a:t>
            </a:r>
            <a:endParaRPr lang="en-US" sz="1400" dirty="0"/>
          </a:p>
          <a:p>
            <a:pPr algn="ctr" indent="0" marL="0">
              <a:buNone/>
            </a:pPr>
            <a:r>
              <a:rPr lang="en-US" sz="1100" dirty="0">
                <a:solidFill>
                  <a:schemeClr val="accent5"/>
                </a:solidFill>
              </a:rPr>
              <a:t>unsafe / injection</a:t>
            </a:r>
            <a:endParaRPr lang="en-US" sz="1400" dirty="0"/>
          </a:p>
        </p:txBody>
      </p:sp>
      <p:sp>
        <p:nvSpPr>
          <p:cNvPr id="34" name="Shape 32"/>
          <p:cNvSpPr/>
          <p:nvPr/>
        </p:nvSpPr>
        <p:spPr>
          <a:xfrm>
            <a:off x="1234440" y="2560320"/>
            <a:ext cx="914" cy="1417320"/>
          </a:xfrm>
          <a:prstGeom prst="line">
            <a:avLst/>
          </a:prstGeom>
          <a:noFill/>
          <a:ln w="22225">
            <a:solidFill>
              <a:schemeClr val="accent6"/>
            </a:solidFill>
            <a:prstDash val="dash"/>
            <a:tailEnd type="triangle"/>
          </a:ln>
        </p:spPr>
      </p:sp>
      <p:sp>
        <p:nvSpPr>
          <p:cNvPr id="35" name="Shape 33"/>
          <p:cNvSpPr/>
          <p:nvPr/>
        </p:nvSpPr>
        <p:spPr>
          <a:xfrm>
            <a:off x="2167128" y="3977640"/>
            <a:ext cx="1371600" cy="868680"/>
          </a:xfrm>
          <a:prstGeom prst="roundRect">
            <a:avLst>
              <a:gd name="adj" fmla="val 8421"/>
            </a:avLst>
          </a:prstGeom>
          <a:solidFill>
            <a:schemeClr val="bg2"/>
          </a:solidFill>
          <a:ln w="19050">
            <a:solidFill>
              <a:schemeClr val="tx1"/>
            </a:solidFill>
            <a:prstDash val="solid"/>
          </a:ln>
        </p:spPr>
      </p:sp>
      <p:sp>
        <p:nvSpPr>
          <p:cNvPr id="36" name="Text 34"/>
          <p:cNvSpPr txBox="1"/>
          <p:nvPr/>
        </p:nvSpPr>
        <p:spPr>
          <a:xfrm>
            <a:off x="2240280" y="3977640"/>
            <a:ext cx="1225296" cy="868680"/>
          </a:xfrm>
          <a:prstGeom prst="rect">
            <a:avLst/>
          </a:prstGeom>
          <a:noFill/>
          <a:ln/>
        </p:spPr>
        <p:txBody>
          <a:bodyPr wrap="square" lIns="0" tIns="0" rIns="0" bIns="0" rtlCol="0" anchor="ctr"/>
          <a:lstStyle/>
          <a:p>
            <a:pPr algn="ctr" indent="0" marL="0">
              <a:buNone/>
            </a:pPr>
            <a:r>
              <a:rPr lang="en-US" sz="1400" b="1" dirty="0">
                <a:solidFill>
                  <a:schemeClr val="tx1"/>
                </a:solidFill>
              </a:rPr>
              <a:t>Out of scope</a:t>
            </a:r>
            <a:endParaRPr lang="en-US" sz="1400" dirty="0"/>
          </a:p>
          <a:p>
            <a:pPr algn="ctr" indent="0" marL="0">
              <a:buNone/>
            </a:pPr>
            <a:r>
              <a:rPr lang="en-US" sz="1100" dirty="0">
                <a:solidFill>
                  <a:schemeClr val="accent5"/>
                </a:solidFill>
              </a:rPr>
              <a:t>polite decline</a:t>
            </a:r>
            <a:endParaRPr lang="en-US" sz="1400" dirty="0"/>
          </a:p>
        </p:txBody>
      </p:sp>
      <p:sp>
        <p:nvSpPr>
          <p:cNvPr id="37" name="Shape 35"/>
          <p:cNvSpPr/>
          <p:nvPr/>
        </p:nvSpPr>
        <p:spPr>
          <a:xfrm>
            <a:off x="2852928" y="2560320"/>
            <a:ext cx="914" cy="1417320"/>
          </a:xfrm>
          <a:prstGeom prst="line">
            <a:avLst/>
          </a:prstGeom>
          <a:noFill/>
          <a:ln w="22225">
            <a:solidFill>
              <a:schemeClr val="accent6"/>
            </a:solidFill>
            <a:prstDash val="dash"/>
            <a:tailEnd type="triangle"/>
          </a:ln>
        </p:spPr>
      </p:sp>
      <p:sp>
        <p:nvSpPr>
          <p:cNvPr id="38" name="Shape 36"/>
          <p:cNvSpPr/>
          <p:nvPr/>
        </p:nvSpPr>
        <p:spPr>
          <a:xfrm>
            <a:off x="3785616" y="3977640"/>
            <a:ext cx="1371600" cy="868680"/>
          </a:xfrm>
          <a:prstGeom prst="roundRect">
            <a:avLst>
              <a:gd name="adj" fmla="val 8421"/>
            </a:avLst>
          </a:prstGeom>
          <a:solidFill>
            <a:schemeClr val="bg2"/>
          </a:solidFill>
          <a:ln w="9525">
            <a:solidFill>
              <a:schemeClr val="bg2"/>
            </a:solidFill>
            <a:prstDash val="solid"/>
          </a:ln>
        </p:spPr>
      </p:sp>
      <p:sp>
        <p:nvSpPr>
          <p:cNvPr id="39" name="Text 37"/>
          <p:cNvSpPr txBox="1"/>
          <p:nvPr/>
        </p:nvSpPr>
        <p:spPr>
          <a:xfrm>
            <a:off x="3858768" y="3977640"/>
            <a:ext cx="1225296" cy="868680"/>
          </a:xfrm>
          <a:prstGeom prst="rect">
            <a:avLst/>
          </a:prstGeom>
          <a:noFill/>
          <a:ln/>
        </p:spPr>
        <p:txBody>
          <a:bodyPr wrap="square" lIns="0" tIns="0" rIns="0" bIns="0" rtlCol="0" anchor="ctr"/>
          <a:lstStyle/>
          <a:p>
            <a:pPr algn="ctr" indent="0" marL="0">
              <a:buNone/>
            </a:pPr>
            <a:r>
              <a:rPr lang="en-US" sz="1400" b="1" dirty="0">
                <a:solidFill>
                  <a:schemeClr val="tx1"/>
                </a:solidFill>
              </a:rPr>
              <a:t>Rewrite query</a:t>
            </a:r>
            <a:endParaRPr lang="en-US" sz="1400" dirty="0"/>
          </a:p>
          <a:p>
            <a:pPr algn="ctr" indent="0" marL="0">
              <a:buNone/>
            </a:pPr>
            <a:r>
              <a:rPr lang="en-US" sz="1100" dirty="0">
                <a:solidFill>
                  <a:schemeClr val="accent5"/>
                </a:solidFill>
              </a:rPr>
              <a:t>max 1 retry</a:t>
            </a:r>
            <a:endParaRPr lang="en-US" sz="1400" dirty="0"/>
          </a:p>
        </p:txBody>
      </p:sp>
      <p:sp>
        <p:nvSpPr>
          <p:cNvPr id="40" name="Shape 38"/>
          <p:cNvSpPr/>
          <p:nvPr/>
        </p:nvSpPr>
        <p:spPr>
          <a:xfrm flipH="1">
            <a:off x="4928616" y="2560320"/>
            <a:ext cx="795528" cy="1417320"/>
          </a:xfrm>
          <a:prstGeom prst="line">
            <a:avLst/>
          </a:prstGeom>
          <a:noFill/>
          <a:ln w="22225">
            <a:solidFill>
              <a:schemeClr val="accent6"/>
            </a:solidFill>
            <a:prstDash val="dash"/>
            <a:tailEnd type="triangle"/>
          </a:ln>
        </p:spPr>
      </p:sp>
      <p:sp>
        <p:nvSpPr>
          <p:cNvPr id="41" name="Shape 39"/>
          <p:cNvSpPr/>
          <p:nvPr/>
        </p:nvSpPr>
        <p:spPr>
          <a:xfrm flipH="1" flipV="1">
            <a:off x="3310128" y="2560320"/>
            <a:ext cx="749808" cy="1417320"/>
          </a:xfrm>
          <a:prstGeom prst="line">
            <a:avLst/>
          </a:prstGeom>
          <a:noFill/>
          <a:ln w="22225">
            <a:solidFill>
              <a:schemeClr val="accent5"/>
            </a:solidFill>
            <a:prstDash val="solid"/>
            <a:tailEnd type="triangle"/>
          </a:ln>
        </p:spPr>
      </p:sp>
      <p:sp>
        <p:nvSpPr>
          <p:cNvPr id="42" name="Shape 40"/>
          <p:cNvSpPr/>
          <p:nvPr/>
        </p:nvSpPr>
        <p:spPr>
          <a:xfrm>
            <a:off x="7022592" y="3977640"/>
            <a:ext cx="1371600" cy="868680"/>
          </a:xfrm>
          <a:prstGeom prst="roundRect">
            <a:avLst>
              <a:gd name="adj" fmla="val 8421"/>
            </a:avLst>
          </a:prstGeom>
          <a:solidFill>
            <a:schemeClr val="bg2"/>
          </a:solidFill>
          <a:ln w="19050">
            <a:solidFill>
              <a:schemeClr val="tx1"/>
            </a:solidFill>
            <a:prstDash val="solid"/>
          </a:ln>
        </p:spPr>
      </p:sp>
      <p:sp>
        <p:nvSpPr>
          <p:cNvPr id="43" name="Text 41"/>
          <p:cNvSpPr txBox="1"/>
          <p:nvPr/>
        </p:nvSpPr>
        <p:spPr>
          <a:xfrm>
            <a:off x="7095744" y="3977640"/>
            <a:ext cx="1225296" cy="868680"/>
          </a:xfrm>
          <a:prstGeom prst="rect">
            <a:avLst/>
          </a:prstGeom>
          <a:noFill/>
          <a:ln/>
        </p:spPr>
        <p:txBody>
          <a:bodyPr wrap="square" lIns="0" tIns="0" rIns="0" bIns="0" rtlCol="0" anchor="ctr"/>
          <a:lstStyle/>
          <a:p>
            <a:pPr algn="ctr" indent="0" marL="0">
              <a:buNone/>
            </a:pPr>
            <a:r>
              <a:rPr lang="en-US" sz="1400" b="1" dirty="0">
                <a:solidFill>
                  <a:schemeClr val="tx1"/>
                </a:solidFill>
              </a:rPr>
              <a:t>No answer</a:t>
            </a:r>
            <a:endParaRPr lang="en-US" sz="1400" dirty="0"/>
          </a:p>
          <a:p>
            <a:pPr algn="ctr" indent="0" marL="0">
              <a:buNone/>
            </a:pPr>
            <a:r>
              <a:rPr lang="en-US" sz="1100" dirty="0">
                <a:solidFill>
                  <a:schemeClr val="accent5"/>
                </a:solidFill>
              </a:rPr>
              <a:t>escalate to owner</a:t>
            </a:r>
            <a:endParaRPr lang="en-US" sz="1400" dirty="0"/>
          </a:p>
        </p:txBody>
      </p:sp>
      <p:sp>
        <p:nvSpPr>
          <p:cNvPr id="44" name="Shape 42"/>
          <p:cNvSpPr/>
          <p:nvPr/>
        </p:nvSpPr>
        <p:spPr>
          <a:xfrm>
            <a:off x="6501384" y="2560320"/>
            <a:ext cx="978408" cy="1417320"/>
          </a:xfrm>
          <a:prstGeom prst="line">
            <a:avLst/>
          </a:prstGeom>
          <a:noFill/>
          <a:ln w="22225">
            <a:solidFill>
              <a:schemeClr val="accent6"/>
            </a:solidFill>
            <a:prstDash val="dash"/>
            <a:tailEnd type="triangle"/>
          </a:ln>
        </p:spPr>
      </p:sp>
      <p:sp>
        <p:nvSpPr>
          <p:cNvPr id="45" name="Shape 43"/>
          <p:cNvSpPr/>
          <p:nvPr/>
        </p:nvSpPr>
        <p:spPr>
          <a:xfrm>
            <a:off x="9326880" y="2560320"/>
            <a:ext cx="914" cy="594360"/>
          </a:xfrm>
          <a:prstGeom prst="line">
            <a:avLst/>
          </a:prstGeom>
          <a:noFill/>
          <a:ln w="22225">
            <a:solidFill>
              <a:schemeClr val="accent6"/>
            </a:solidFill>
            <a:prstDash val="dash"/>
          </a:ln>
        </p:spPr>
      </p:sp>
      <p:sp>
        <p:nvSpPr>
          <p:cNvPr id="46" name="Shape 44"/>
          <p:cNvSpPr/>
          <p:nvPr/>
        </p:nvSpPr>
        <p:spPr>
          <a:xfrm flipH="1">
            <a:off x="7708392" y="3154680"/>
            <a:ext cx="1618488" cy="914"/>
          </a:xfrm>
          <a:prstGeom prst="line">
            <a:avLst/>
          </a:prstGeom>
          <a:noFill/>
          <a:ln w="22225">
            <a:solidFill>
              <a:schemeClr val="accent6"/>
            </a:solidFill>
            <a:prstDash val="dash"/>
          </a:ln>
        </p:spPr>
      </p:sp>
      <p:sp>
        <p:nvSpPr>
          <p:cNvPr id="47" name="Shape 45"/>
          <p:cNvSpPr/>
          <p:nvPr/>
        </p:nvSpPr>
        <p:spPr>
          <a:xfrm flipV="1">
            <a:off x="7708392" y="2560320"/>
            <a:ext cx="914" cy="594360"/>
          </a:xfrm>
          <a:prstGeom prst="line">
            <a:avLst/>
          </a:prstGeom>
          <a:noFill/>
          <a:ln w="22225">
            <a:solidFill>
              <a:schemeClr val="accent6"/>
            </a:solidFill>
            <a:prstDash val="dash"/>
            <a:tailEnd type="triangle"/>
          </a:ln>
        </p:spPr>
      </p:sp>
      <p:sp>
        <p:nvSpPr>
          <p:cNvPr id="48" name="Text 46"/>
          <p:cNvSpPr txBox="1"/>
          <p:nvPr/>
        </p:nvSpPr>
        <p:spPr>
          <a:xfrm>
            <a:off x="7251192" y="3246120"/>
            <a:ext cx="2532888" cy="457200"/>
          </a:xfrm>
          <a:prstGeom prst="rect">
            <a:avLst/>
          </a:prstGeom>
          <a:noFill/>
          <a:ln/>
        </p:spPr>
        <p:txBody>
          <a:bodyPr wrap="square" lIns="0" tIns="0" rIns="0" bIns="0" rtlCol="0" anchor="t"/>
          <a:lstStyle/>
          <a:p>
            <a:pPr algn="ctr" indent="0" marL="0">
              <a:buNone/>
            </a:pPr>
            <a:r>
              <a:rPr lang="en-US" sz="1100" dirty="0">
                <a:solidFill>
                  <a:schemeClr val="accent6"/>
                </a:solidFill>
              </a:rPr>
              <a:t>regenerate with reviewer feedback</a:t>
            </a:r>
            <a:endParaRPr lang="en-US" sz="1100" dirty="0"/>
          </a:p>
          <a:p>
            <a:pPr algn="ctr" indent="0" marL="0">
              <a:buNone/>
            </a:pPr>
            <a:r>
              <a:rPr lang="en-US" sz="1100" dirty="0">
                <a:solidFill>
                  <a:schemeClr val="accent6"/>
                </a:solidFill>
              </a:rPr>
              <a:t>(max 2 attempts)</a:t>
            </a:r>
            <a:endParaRPr lang="en-US" sz="1100" dirty="0"/>
          </a:p>
        </p:txBody>
      </p:sp>
      <p:sp>
        <p:nvSpPr>
          <p:cNvPr id="49" name="Shape 47"/>
          <p:cNvSpPr/>
          <p:nvPr/>
        </p:nvSpPr>
        <p:spPr>
          <a:xfrm>
            <a:off x="548640" y="5349240"/>
            <a:ext cx="548640" cy="914"/>
          </a:xfrm>
          <a:prstGeom prst="line">
            <a:avLst/>
          </a:prstGeom>
          <a:noFill/>
          <a:ln w="22225">
            <a:solidFill>
              <a:schemeClr val="accent5"/>
            </a:solidFill>
            <a:prstDash val="solid"/>
            <a:tailEnd type="triangle"/>
          </a:ln>
        </p:spPr>
      </p:sp>
      <p:sp>
        <p:nvSpPr>
          <p:cNvPr id="50" name="Text 48"/>
          <p:cNvSpPr txBox="1"/>
          <p:nvPr/>
        </p:nvSpPr>
        <p:spPr>
          <a:xfrm>
            <a:off x="1188720" y="5212080"/>
            <a:ext cx="1463040" cy="274320"/>
          </a:xfrm>
          <a:prstGeom prst="rect">
            <a:avLst/>
          </a:prstGeom>
          <a:noFill/>
          <a:ln/>
        </p:spPr>
        <p:txBody>
          <a:bodyPr wrap="square" lIns="0" tIns="0" rIns="0" bIns="0" rtlCol="0" anchor="t"/>
          <a:lstStyle/>
          <a:p>
            <a:pPr indent="0" marL="0">
              <a:buNone/>
            </a:pPr>
            <a:r>
              <a:rPr lang="en-US" sz="1200" dirty="0">
                <a:solidFill>
                  <a:schemeClr val="accent5"/>
                </a:solidFill>
              </a:rPr>
              <a:t>fixed edge</a:t>
            </a:r>
            <a:endParaRPr lang="en-US" sz="1200" dirty="0"/>
          </a:p>
        </p:txBody>
      </p:sp>
      <p:sp>
        <p:nvSpPr>
          <p:cNvPr id="51" name="Shape 49"/>
          <p:cNvSpPr/>
          <p:nvPr/>
        </p:nvSpPr>
        <p:spPr>
          <a:xfrm>
            <a:off x="2743200" y="5349240"/>
            <a:ext cx="548640" cy="914"/>
          </a:xfrm>
          <a:prstGeom prst="line">
            <a:avLst/>
          </a:prstGeom>
          <a:noFill/>
          <a:ln w="22225">
            <a:solidFill>
              <a:schemeClr val="accent6"/>
            </a:solidFill>
            <a:prstDash val="dash"/>
            <a:tailEnd type="triangle"/>
          </a:ln>
        </p:spPr>
      </p:sp>
      <p:sp>
        <p:nvSpPr>
          <p:cNvPr id="52" name="Text 50"/>
          <p:cNvSpPr txBox="1"/>
          <p:nvPr/>
        </p:nvSpPr>
        <p:spPr>
          <a:xfrm>
            <a:off x="3383280" y="5212080"/>
            <a:ext cx="1828800" cy="274320"/>
          </a:xfrm>
          <a:prstGeom prst="rect">
            <a:avLst/>
          </a:prstGeom>
          <a:noFill/>
          <a:ln/>
        </p:spPr>
        <p:txBody>
          <a:bodyPr wrap="square" lIns="0" tIns="0" rIns="0" bIns="0" rtlCol="0" anchor="t"/>
          <a:lstStyle/>
          <a:p>
            <a:pPr indent="0" marL="0">
              <a:buNone/>
            </a:pPr>
            <a:r>
              <a:rPr lang="en-US" sz="1200" dirty="0">
                <a:solidFill>
                  <a:schemeClr val="accent5"/>
                </a:solidFill>
              </a:rPr>
              <a:t>conditional edge</a:t>
            </a:r>
            <a:endParaRPr lang="en-US" sz="1200" dirty="0"/>
          </a:p>
        </p:txBody>
      </p:sp>
      <p:sp>
        <p:nvSpPr>
          <p:cNvPr id="53" name="Shape 51"/>
          <p:cNvSpPr/>
          <p:nvPr/>
        </p:nvSpPr>
        <p:spPr>
          <a:xfrm>
            <a:off x="5394960" y="5230368"/>
            <a:ext cx="457200" cy="237744"/>
          </a:xfrm>
          <a:prstGeom prst="roundRect">
            <a:avLst>
              <a:gd name="adj" fmla="val 19231"/>
            </a:avLst>
          </a:prstGeom>
          <a:solidFill>
            <a:schemeClr val="bg1"/>
          </a:solidFill>
          <a:ln w="19050">
            <a:solidFill>
              <a:schemeClr val="tx1"/>
            </a:solidFill>
            <a:prstDash val="solid"/>
          </a:ln>
        </p:spPr>
      </p:sp>
      <p:sp>
        <p:nvSpPr>
          <p:cNvPr id="54" name="Text 52"/>
          <p:cNvSpPr txBox="1"/>
          <p:nvPr/>
        </p:nvSpPr>
        <p:spPr>
          <a:xfrm>
            <a:off x="5943600" y="5212080"/>
            <a:ext cx="2377440" cy="274320"/>
          </a:xfrm>
          <a:prstGeom prst="rect">
            <a:avLst/>
          </a:prstGeom>
          <a:noFill/>
          <a:ln/>
        </p:spPr>
        <p:txBody>
          <a:bodyPr wrap="square" lIns="0" tIns="0" rIns="0" bIns="0" rtlCol="0" anchor="t"/>
          <a:lstStyle/>
          <a:p>
            <a:pPr indent="0" marL="0">
              <a:buNone/>
            </a:pPr>
            <a:r>
              <a:rPr lang="en-US" sz="1200" dirty="0">
                <a:solidFill>
                  <a:schemeClr val="accent5"/>
                </a:solidFill>
              </a:rPr>
              <a:t>terminal node -&gt; END</a:t>
            </a:r>
            <a:endParaRPr lang="en-US" sz="1200" dirty="0"/>
          </a:p>
        </p:txBody>
      </p:sp>
      <p:sp>
        <p:nvSpPr>
          <p:cNvPr id="55" name="Text 53"/>
          <p:cNvSpPr txBox="1"/>
          <p:nvPr/>
        </p:nvSpPr>
        <p:spPr>
          <a:xfrm>
            <a:off x="548640" y="5669280"/>
            <a:ext cx="11064240" cy="457200"/>
          </a:xfrm>
          <a:prstGeom prst="rect">
            <a:avLst/>
          </a:prstGeom>
          <a:noFill/>
          <a:ln/>
        </p:spPr>
        <p:txBody>
          <a:bodyPr wrap="square" lIns="0" tIns="0" rIns="0" bIns="0" rtlCol="0" anchor="t"/>
          <a:lstStyle/>
          <a:p>
            <a:pPr indent="0" marL="0">
              <a:buNone/>
            </a:pPr>
            <a:r>
              <a:rPr lang="en-US" sz="1500" dirty="0">
                <a:solidFill>
                  <a:schemeClr val="tx1"/>
                </a:solidFill>
              </a:rPr>
              <a:t>Every loop is bounded (1 rewrite, 2 generations), so the graph always terminates with an answer, a decline or an escalation.</a:t>
            </a:r>
            <a:endParaRPr lang="en-US" sz="15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Agentic workflow, not multi-agent - by design</a:t>
            </a:r>
            <a:endParaRPr lang="en-US" sz="3600" dirty="0"/>
          </a:p>
        </p:txBody>
      </p:sp>
      <p:sp>
        <p:nvSpPr>
          <p:cNvPr id="3" name="Shape 1"/>
          <p:cNvSpPr/>
          <p:nvPr/>
        </p:nvSpPr>
        <p:spPr>
          <a:xfrm>
            <a:off x="548640" y="1325880"/>
            <a:ext cx="5394960" cy="3063240"/>
          </a:xfrm>
          <a:prstGeom prst="roundRect">
            <a:avLst>
              <a:gd name="adj" fmla="val 2388"/>
            </a:avLst>
          </a:prstGeom>
          <a:solidFill>
            <a:schemeClr val="bg2"/>
          </a:solidFill>
          <a:ln w="12700">
            <a:solidFill>
              <a:schemeClr val="bg2"/>
            </a:solidFill>
            <a:prstDash val="solid"/>
          </a:ln>
        </p:spPr>
      </p:sp>
      <p:sp>
        <p:nvSpPr>
          <p:cNvPr id="4" name="Text 2"/>
          <p:cNvSpPr txBox="1"/>
          <p:nvPr/>
        </p:nvSpPr>
        <p:spPr>
          <a:xfrm>
            <a:off x="777240" y="1417320"/>
            <a:ext cx="4937760" cy="685800"/>
          </a:xfrm>
          <a:prstGeom prst="rect">
            <a:avLst/>
          </a:prstGeom>
          <a:noFill/>
          <a:ln/>
        </p:spPr>
        <p:txBody>
          <a:bodyPr wrap="square" lIns="0" tIns="0" rIns="0" bIns="0" rtlCol="0" anchor="t"/>
          <a:lstStyle/>
          <a:p>
            <a:pPr indent="0" marL="0">
              <a:buNone/>
            </a:pPr>
            <a:r>
              <a:rPr lang="en-US" sz="1800" b="1" dirty="0">
                <a:solidFill>
                  <a:schemeClr val="accent6"/>
                </a:solidFill>
              </a:rPr>
              <a:t>PlantAssist today: one LangGraph workflow</a:t>
            </a:r>
            <a:endParaRPr lang="en-US" sz="1400" dirty="0"/>
          </a:p>
          <a:p>
            <a:pPr indent="0" marL="0">
              <a:buNone/>
            </a:pPr>
            <a:r>
              <a:rPr lang="en-US" sz="1300" dirty="0">
                <a:solidFill>
                  <a:schemeClr val="accent5"/>
                </a:solidFill>
              </a:rPr>
              <a:t>LLM at 3 decision points; everything else is deterministic code</a:t>
            </a:r>
            <a:endParaRPr lang="en-US" sz="1400" dirty="0"/>
          </a:p>
        </p:txBody>
      </p:sp>
      <p:sp>
        <p:nvSpPr>
          <p:cNvPr id="5" name="Shape 3"/>
          <p:cNvSpPr/>
          <p:nvPr/>
        </p:nvSpPr>
        <p:spPr>
          <a:xfrm>
            <a:off x="777240" y="2514600"/>
            <a:ext cx="1325880" cy="731520"/>
          </a:xfrm>
          <a:prstGeom prst="roundRect">
            <a:avLst>
              <a:gd name="adj" fmla="val 10000"/>
            </a:avLst>
          </a:prstGeom>
          <a:solidFill>
            <a:schemeClr val="bg1"/>
          </a:solidFill>
          <a:ln w="9525">
            <a:solidFill>
              <a:schemeClr val="bg1"/>
            </a:solidFill>
            <a:prstDash val="solid"/>
          </a:ln>
        </p:spPr>
      </p:sp>
      <p:sp>
        <p:nvSpPr>
          <p:cNvPr id="6" name="Text 4"/>
          <p:cNvSpPr txBox="1"/>
          <p:nvPr/>
        </p:nvSpPr>
        <p:spPr>
          <a:xfrm>
            <a:off x="850392" y="2514600"/>
            <a:ext cx="1179576" cy="731520"/>
          </a:xfrm>
          <a:prstGeom prst="rect">
            <a:avLst/>
          </a:prstGeom>
          <a:noFill/>
          <a:ln/>
        </p:spPr>
        <p:txBody>
          <a:bodyPr wrap="square" lIns="0" tIns="0" rIns="0" bIns="0" rtlCol="0" anchor="ctr"/>
          <a:lstStyle/>
          <a:p>
            <a:pPr algn="ctr" indent="0" marL="0">
              <a:buNone/>
            </a:pPr>
            <a:r>
              <a:rPr lang="en-US" sz="1400" b="1" dirty="0">
                <a:solidFill>
                  <a:schemeClr val="tx1"/>
                </a:solidFill>
              </a:rPr>
              <a:t>Router</a:t>
            </a:r>
            <a:endParaRPr lang="en-US" sz="1400" dirty="0"/>
          </a:p>
          <a:p>
            <a:pPr algn="ctr" indent="0" marL="0">
              <a:buNone/>
            </a:pPr>
            <a:r>
              <a:rPr lang="en-US" sz="1100" dirty="0">
                <a:solidFill>
                  <a:schemeClr val="accent5"/>
                </a:solidFill>
              </a:rPr>
              <a:t>LLM</a:t>
            </a:r>
            <a:endParaRPr lang="en-US" sz="1400" dirty="0"/>
          </a:p>
        </p:txBody>
      </p:sp>
      <p:sp>
        <p:nvSpPr>
          <p:cNvPr id="7" name="Shape 5"/>
          <p:cNvSpPr/>
          <p:nvPr/>
        </p:nvSpPr>
        <p:spPr>
          <a:xfrm>
            <a:off x="2514600" y="2240280"/>
            <a:ext cx="1325880" cy="365760"/>
          </a:xfrm>
          <a:prstGeom prst="roundRect">
            <a:avLst>
              <a:gd name="adj" fmla="val 15000"/>
            </a:avLst>
          </a:prstGeom>
          <a:solidFill>
            <a:schemeClr val="accent2"/>
          </a:solidFill>
          <a:ln w="12700">
            <a:solidFill>
              <a:schemeClr val="accent2"/>
            </a:solidFill>
            <a:prstDash val="solid"/>
          </a:ln>
        </p:spPr>
      </p:sp>
      <p:sp>
        <p:nvSpPr>
          <p:cNvPr id="8" name="Text 6"/>
          <p:cNvSpPr txBox="1"/>
          <p:nvPr/>
        </p:nvSpPr>
        <p:spPr>
          <a:xfrm>
            <a:off x="2514600" y="2240280"/>
            <a:ext cx="1325880" cy="365760"/>
          </a:xfrm>
          <a:prstGeom prst="rect">
            <a:avLst/>
          </a:prstGeom>
          <a:noFill/>
          <a:ln/>
        </p:spPr>
        <p:txBody>
          <a:bodyPr wrap="square" lIns="0" tIns="0" rIns="0" bIns="0" rtlCol="0" anchor="ctr"/>
          <a:lstStyle/>
          <a:p>
            <a:pPr algn="ctr" indent="0" marL="0">
              <a:buNone/>
            </a:pPr>
            <a:r>
              <a:rPr lang="en-US" sz="1100" b="1" dirty="0">
                <a:solidFill>
                  <a:schemeClr val="bg1"/>
                </a:solidFill>
              </a:rPr>
              <a:t>safety</a:t>
            </a:r>
            <a:endParaRPr lang="en-US" sz="1100" dirty="0"/>
          </a:p>
        </p:txBody>
      </p:sp>
      <p:sp>
        <p:nvSpPr>
          <p:cNvPr id="9" name="Shape 7"/>
          <p:cNvSpPr/>
          <p:nvPr/>
        </p:nvSpPr>
        <p:spPr>
          <a:xfrm flipV="1">
            <a:off x="2103120" y="2423160"/>
            <a:ext cx="393192" cy="457200"/>
          </a:xfrm>
          <a:prstGeom prst="line">
            <a:avLst/>
          </a:prstGeom>
          <a:noFill/>
          <a:ln w="22225">
            <a:solidFill>
              <a:schemeClr val="accent6"/>
            </a:solidFill>
            <a:prstDash val="dash"/>
            <a:tailEnd type="triangle"/>
          </a:ln>
        </p:spPr>
      </p:sp>
      <p:sp>
        <p:nvSpPr>
          <p:cNvPr id="10" name="Shape 8"/>
          <p:cNvSpPr/>
          <p:nvPr/>
        </p:nvSpPr>
        <p:spPr>
          <a:xfrm>
            <a:off x="3858768" y="2423160"/>
            <a:ext cx="347472" cy="457200"/>
          </a:xfrm>
          <a:prstGeom prst="line">
            <a:avLst/>
          </a:prstGeom>
          <a:noFill/>
          <a:ln w="22225">
            <a:solidFill>
              <a:schemeClr val="accent5"/>
            </a:solidFill>
            <a:prstDash val="solid"/>
            <a:tailEnd type="triangle"/>
          </a:ln>
        </p:spPr>
      </p:sp>
      <p:sp>
        <p:nvSpPr>
          <p:cNvPr id="11" name="Shape 9"/>
          <p:cNvSpPr/>
          <p:nvPr/>
        </p:nvSpPr>
        <p:spPr>
          <a:xfrm>
            <a:off x="2514600" y="2697480"/>
            <a:ext cx="1325880" cy="365760"/>
          </a:xfrm>
          <a:prstGeom prst="roundRect">
            <a:avLst>
              <a:gd name="adj" fmla="val 15000"/>
            </a:avLst>
          </a:prstGeom>
          <a:solidFill>
            <a:schemeClr val="accent3"/>
          </a:solidFill>
          <a:ln w="12700">
            <a:solidFill>
              <a:schemeClr val="accent3"/>
            </a:solidFill>
            <a:prstDash val="solid"/>
          </a:ln>
        </p:spPr>
      </p:sp>
      <p:sp>
        <p:nvSpPr>
          <p:cNvPr id="12" name="Text 10"/>
          <p:cNvSpPr txBox="1"/>
          <p:nvPr/>
        </p:nvSpPr>
        <p:spPr>
          <a:xfrm>
            <a:off x="2514600" y="2697480"/>
            <a:ext cx="1325880" cy="365760"/>
          </a:xfrm>
          <a:prstGeom prst="rect">
            <a:avLst/>
          </a:prstGeom>
          <a:noFill/>
          <a:ln/>
        </p:spPr>
        <p:txBody>
          <a:bodyPr wrap="square" lIns="0" tIns="0" rIns="0" bIns="0" rtlCol="0" anchor="ctr"/>
          <a:lstStyle/>
          <a:p>
            <a:pPr algn="ctr" indent="0" marL="0">
              <a:buNone/>
            </a:pPr>
            <a:r>
              <a:rPr lang="en-US" sz="1100" b="1" dirty="0">
                <a:solidFill>
                  <a:schemeClr val="bg1"/>
                </a:solidFill>
              </a:rPr>
              <a:t>maintenance</a:t>
            </a:r>
            <a:endParaRPr lang="en-US" sz="1100" dirty="0"/>
          </a:p>
        </p:txBody>
      </p:sp>
      <p:sp>
        <p:nvSpPr>
          <p:cNvPr id="13" name="Shape 11"/>
          <p:cNvSpPr/>
          <p:nvPr/>
        </p:nvSpPr>
        <p:spPr>
          <a:xfrm>
            <a:off x="2103120" y="2880360"/>
            <a:ext cx="393192" cy="914"/>
          </a:xfrm>
          <a:prstGeom prst="line">
            <a:avLst/>
          </a:prstGeom>
          <a:noFill/>
          <a:ln w="22225">
            <a:solidFill>
              <a:schemeClr val="accent6"/>
            </a:solidFill>
            <a:prstDash val="dash"/>
            <a:tailEnd type="triangle"/>
          </a:ln>
        </p:spPr>
      </p:sp>
      <p:sp>
        <p:nvSpPr>
          <p:cNvPr id="14" name="Shape 12"/>
          <p:cNvSpPr/>
          <p:nvPr/>
        </p:nvSpPr>
        <p:spPr>
          <a:xfrm flipV="1">
            <a:off x="3858768" y="2880360"/>
            <a:ext cx="347472" cy="914"/>
          </a:xfrm>
          <a:prstGeom prst="line">
            <a:avLst/>
          </a:prstGeom>
          <a:noFill/>
          <a:ln w="22225">
            <a:solidFill>
              <a:schemeClr val="accent5"/>
            </a:solidFill>
            <a:prstDash val="solid"/>
            <a:tailEnd type="triangle"/>
          </a:ln>
        </p:spPr>
      </p:sp>
      <p:sp>
        <p:nvSpPr>
          <p:cNvPr id="15" name="Shape 13"/>
          <p:cNvSpPr/>
          <p:nvPr/>
        </p:nvSpPr>
        <p:spPr>
          <a:xfrm>
            <a:off x="2514600" y="3154680"/>
            <a:ext cx="1325880" cy="365760"/>
          </a:xfrm>
          <a:prstGeom prst="roundRect">
            <a:avLst>
              <a:gd name="adj" fmla="val 15000"/>
            </a:avLst>
          </a:prstGeom>
          <a:solidFill>
            <a:schemeClr val="accent4"/>
          </a:solidFill>
          <a:ln w="12700">
            <a:solidFill>
              <a:schemeClr val="accent4"/>
            </a:solidFill>
            <a:prstDash val="solid"/>
          </a:ln>
        </p:spPr>
      </p:sp>
      <p:sp>
        <p:nvSpPr>
          <p:cNvPr id="16" name="Text 14"/>
          <p:cNvSpPr txBox="1"/>
          <p:nvPr/>
        </p:nvSpPr>
        <p:spPr>
          <a:xfrm>
            <a:off x="2514600" y="3154680"/>
            <a:ext cx="1325880" cy="365760"/>
          </a:xfrm>
          <a:prstGeom prst="rect">
            <a:avLst/>
          </a:prstGeom>
          <a:noFill/>
          <a:ln/>
        </p:spPr>
        <p:txBody>
          <a:bodyPr wrap="square" lIns="0" tIns="0" rIns="0" bIns="0" rtlCol="0" anchor="ctr"/>
          <a:lstStyle/>
          <a:p>
            <a:pPr algn="ctr" indent="0" marL="0">
              <a:buNone/>
            </a:pPr>
            <a:r>
              <a:rPr lang="en-US" sz="1100" b="1" dirty="0">
                <a:solidFill>
                  <a:schemeClr val="bg1"/>
                </a:solidFill>
              </a:rPr>
              <a:t>quality</a:t>
            </a:r>
            <a:endParaRPr lang="en-US" sz="1100" dirty="0"/>
          </a:p>
        </p:txBody>
      </p:sp>
      <p:sp>
        <p:nvSpPr>
          <p:cNvPr id="17" name="Shape 15"/>
          <p:cNvSpPr/>
          <p:nvPr/>
        </p:nvSpPr>
        <p:spPr>
          <a:xfrm>
            <a:off x="2103120" y="2880360"/>
            <a:ext cx="393192" cy="457200"/>
          </a:xfrm>
          <a:prstGeom prst="line">
            <a:avLst/>
          </a:prstGeom>
          <a:noFill/>
          <a:ln w="22225">
            <a:solidFill>
              <a:schemeClr val="accent6"/>
            </a:solidFill>
            <a:prstDash val="dash"/>
            <a:tailEnd type="triangle"/>
          </a:ln>
        </p:spPr>
      </p:sp>
      <p:sp>
        <p:nvSpPr>
          <p:cNvPr id="18" name="Shape 16"/>
          <p:cNvSpPr/>
          <p:nvPr/>
        </p:nvSpPr>
        <p:spPr>
          <a:xfrm flipV="1">
            <a:off x="3858768" y="2880360"/>
            <a:ext cx="347472" cy="457200"/>
          </a:xfrm>
          <a:prstGeom prst="line">
            <a:avLst/>
          </a:prstGeom>
          <a:noFill/>
          <a:ln w="22225">
            <a:solidFill>
              <a:schemeClr val="accent5"/>
            </a:solidFill>
            <a:prstDash val="solid"/>
            <a:tailEnd type="triangle"/>
          </a:ln>
        </p:spPr>
      </p:sp>
      <p:sp>
        <p:nvSpPr>
          <p:cNvPr id="19" name="Shape 17"/>
          <p:cNvSpPr/>
          <p:nvPr/>
        </p:nvSpPr>
        <p:spPr>
          <a:xfrm>
            <a:off x="4224528" y="2514600"/>
            <a:ext cx="1508760" cy="731520"/>
          </a:xfrm>
          <a:prstGeom prst="roundRect">
            <a:avLst>
              <a:gd name="adj" fmla="val 10000"/>
            </a:avLst>
          </a:prstGeom>
          <a:solidFill>
            <a:schemeClr val="bg1"/>
          </a:solidFill>
          <a:ln w="9525">
            <a:solidFill>
              <a:schemeClr val="bg1"/>
            </a:solidFill>
            <a:prstDash val="solid"/>
          </a:ln>
        </p:spPr>
      </p:sp>
      <p:sp>
        <p:nvSpPr>
          <p:cNvPr id="20" name="Text 18"/>
          <p:cNvSpPr txBox="1"/>
          <p:nvPr/>
        </p:nvSpPr>
        <p:spPr>
          <a:xfrm>
            <a:off x="4297680" y="2514600"/>
            <a:ext cx="1362456" cy="731520"/>
          </a:xfrm>
          <a:prstGeom prst="rect">
            <a:avLst/>
          </a:prstGeom>
          <a:noFill/>
          <a:ln/>
        </p:spPr>
        <p:txBody>
          <a:bodyPr wrap="square" lIns="0" tIns="0" rIns="0" bIns="0" rtlCol="0" anchor="ctr"/>
          <a:lstStyle/>
          <a:p>
            <a:pPr algn="ctr" indent="0" marL="0">
              <a:buNone/>
            </a:pPr>
            <a:r>
              <a:rPr lang="en-US" sz="1400" b="1" dirty="0">
                <a:solidFill>
                  <a:schemeClr val="tx1"/>
                </a:solidFill>
              </a:rPr>
              <a:t>Answer + verify</a:t>
            </a:r>
            <a:endParaRPr lang="en-US" sz="1400" dirty="0"/>
          </a:p>
          <a:p>
            <a:pPr algn="ctr" indent="0" marL="0">
              <a:buNone/>
            </a:pPr>
            <a:r>
              <a:rPr lang="en-US" sz="1100" dirty="0">
                <a:solidFill>
                  <a:schemeClr val="accent5"/>
                </a:solidFill>
              </a:rPr>
              <a:t>LLM x 2</a:t>
            </a:r>
            <a:endParaRPr lang="en-US" sz="1400" dirty="0"/>
          </a:p>
        </p:txBody>
      </p:sp>
      <p:sp>
        <p:nvSpPr>
          <p:cNvPr id="21" name="Text 19"/>
          <p:cNvSpPr txBox="1"/>
          <p:nvPr/>
        </p:nvSpPr>
        <p:spPr>
          <a:xfrm>
            <a:off x="777240" y="3749040"/>
            <a:ext cx="4937760" cy="365760"/>
          </a:xfrm>
          <a:prstGeom prst="rect">
            <a:avLst/>
          </a:prstGeom>
          <a:noFill/>
          <a:ln/>
        </p:spPr>
        <p:txBody>
          <a:bodyPr wrap="square" lIns="0" tIns="0" rIns="0" bIns="0" rtlCol="0" anchor="t"/>
          <a:lstStyle/>
          <a:p>
            <a:pPr indent="0" marL="0">
              <a:buNone/>
            </a:pPr>
            <a:r>
              <a:rPr lang="en-US" sz="1300" dirty="0">
                <a:solidFill>
                  <a:schemeClr val="accent5"/>
                </a:solidFill>
              </a:rPr>
              <a:t>Parallel retrievers via Send() - code, not agents</a:t>
            </a:r>
            <a:endParaRPr lang="en-US" sz="1300" dirty="0"/>
          </a:p>
        </p:txBody>
      </p:sp>
      <p:sp>
        <p:nvSpPr>
          <p:cNvPr id="22" name="Shape 20"/>
          <p:cNvSpPr/>
          <p:nvPr/>
        </p:nvSpPr>
        <p:spPr>
          <a:xfrm>
            <a:off x="6217920" y="1325880"/>
            <a:ext cx="5394960" cy="3063240"/>
          </a:xfrm>
          <a:prstGeom prst="roundRect">
            <a:avLst>
              <a:gd name="adj" fmla="val 2388"/>
            </a:avLst>
          </a:prstGeom>
          <a:solidFill>
            <a:schemeClr val="bg2"/>
          </a:solidFill>
          <a:ln w="12700">
            <a:solidFill>
              <a:schemeClr val="bg2"/>
            </a:solidFill>
            <a:prstDash val="solid"/>
          </a:ln>
        </p:spPr>
      </p:sp>
      <p:sp>
        <p:nvSpPr>
          <p:cNvPr id="23" name="Text 21"/>
          <p:cNvSpPr txBox="1"/>
          <p:nvPr/>
        </p:nvSpPr>
        <p:spPr>
          <a:xfrm>
            <a:off x="6446520" y="1417320"/>
            <a:ext cx="4937760" cy="685800"/>
          </a:xfrm>
          <a:prstGeom prst="rect">
            <a:avLst/>
          </a:prstGeom>
          <a:noFill/>
          <a:ln/>
        </p:spPr>
        <p:txBody>
          <a:bodyPr wrap="square" lIns="0" tIns="0" rIns="0" bIns="0" rtlCol="0" anchor="t"/>
          <a:lstStyle/>
          <a:p>
            <a:pPr indent="0" marL="0">
              <a:buNone/>
            </a:pPr>
            <a:r>
              <a:rPr lang="en-US" sz="1800" b="1" dirty="0">
                <a:solidFill>
                  <a:schemeClr val="accent5"/>
                </a:solidFill>
              </a:rPr>
              <a:t>Multi-agent alternative</a:t>
            </a:r>
            <a:endParaRPr lang="en-US" sz="1400" dirty="0"/>
          </a:p>
          <a:p>
            <a:pPr indent="0" marL="0">
              <a:buNone/>
            </a:pPr>
            <a:r>
              <a:rPr lang="en-US" sz="1300" dirty="0">
                <a:solidFill>
                  <a:schemeClr val="accent5"/>
                </a:solidFill>
              </a:rPr>
              <a:t>A supervisor agent delegates to domain agents with their own tools</a:t>
            </a:r>
            <a:endParaRPr lang="en-US" sz="1400" dirty="0"/>
          </a:p>
        </p:txBody>
      </p:sp>
      <p:sp>
        <p:nvSpPr>
          <p:cNvPr id="24" name="Shape 22"/>
          <p:cNvSpPr/>
          <p:nvPr/>
        </p:nvSpPr>
        <p:spPr>
          <a:xfrm>
            <a:off x="8092440" y="2194560"/>
            <a:ext cx="1645920" cy="640080"/>
          </a:xfrm>
          <a:prstGeom prst="roundRect">
            <a:avLst>
              <a:gd name="adj" fmla="val 11429"/>
            </a:avLst>
          </a:prstGeom>
          <a:solidFill>
            <a:schemeClr val="bg1"/>
          </a:solidFill>
          <a:ln w="9525">
            <a:solidFill>
              <a:schemeClr val="bg1"/>
            </a:solidFill>
            <a:prstDash val="solid"/>
          </a:ln>
        </p:spPr>
      </p:sp>
      <p:sp>
        <p:nvSpPr>
          <p:cNvPr id="25" name="Text 23"/>
          <p:cNvSpPr txBox="1"/>
          <p:nvPr/>
        </p:nvSpPr>
        <p:spPr>
          <a:xfrm>
            <a:off x="8165592" y="2194560"/>
            <a:ext cx="1499616" cy="640080"/>
          </a:xfrm>
          <a:prstGeom prst="rect">
            <a:avLst/>
          </a:prstGeom>
          <a:noFill/>
          <a:ln/>
        </p:spPr>
        <p:txBody>
          <a:bodyPr wrap="square" lIns="0" tIns="0" rIns="0" bIns="0" rtlCol="0" anchor="ctr"/>
          <a:lstStyle/>
          <a:p>
            <a:pPr algn="ctr" indent="0" marL="0">
              <a:buNone/>
            </a:pPr>
            <a:r>
              <a:rPr lang="en-US" sz="1400" b="1" dirty="0">
                <a:solidFill>
                  <a:schemeClr val="tx1"/>
                </a:solidFill>
              </a:rPr>
              <a:t>Supervisor</a:t>
            </a:r>
            <a:endParaRPr lang="en-US" sz="1400" dirty="0"/>
          </a:p>
          <a:p>
            <a:pPr algn="ctr" indent="0" marL="0">
              <a:buNone/>
            </a:pPr>
            <a:r>
              <a:rPr lang="en-US" sz="1100" dirty="0">
                <a:solidFill>
                  <a:schemeClr val="accent5"/>
                </a:solidFill>
              </a:rPr>
              <a:t>LLM loop</a:t>
            </a:r>
            <a:endParaRPr lang="en-US" sz="1400" dirty="0"/>
          </a:p>
        </p:txBody>
      </p:sp>
      <p:sp>
        <p:nvSpPr>
          <p:cNvPr id="26" name="Shape 24"/>
          <p:cNvSpPr/>
          <p:nvPr/>
        </p:nvSpPr>
        <p:spPr>
          <a:xfrm>
            <a:off x="6446520" y="3246120"/>
            <a:ext cx="1554480" cy="548640"/>
          </a:xfrm>
          <a:prstGeom prst="roundRect">
            <a:avLst>
              <a:gd name="adj" fmla="val 10000"/>
            </a:avLst>
          </a:prstGeom>
          <a:solidFill>
            <a:schemeClr val="accent2"/>
          </a:solidFill>
          <a:ln w="12700">
            <a:solidFill>
              <a:schemeClr val="accent2"/>
            </a:solidFill>
            <a:prstDash val="solid"/>
          </a:ln>
        </p:spPr>
      </p:sp>
      <p:sp>
        <p:nvSpPr>
          <p:cNvPr id="27" name="Text 25"/>
          <p:cNvSpPr txBox="1"/>
          <p:nvPr/>
        </p:nvSpPr>
        <p:spPr>
          <a:xfrm>
            <a:off x="6446520" y="3246120"/>
            <a:ext cx="1554480" cy="548640"/>
          </a:xfrm>
          <a:prstGeom prst="rect">
            <a:avLst/>
          </a:prstGeom>
          <a:noFill/>
          <a:ln/>
        </p:spPr>
        <p:txBody>
          <a:bodyPr wrap="square" lIns="0" tIns="0" rIns="0" bIns="0" rtlCol="0" anchor="ctr"/>
          <a:lstStyle/>
          <a:p>
            <a:pPr algn="ctr" indent="0" marL="0">
              <a:buNone/>
            </a:pPr>
            <a:r>
              <a:rPr lang="en-US" sz="1200" b="1" dirty="0">
                <a:solidFill>
                  <a:schemeClr val="bg1"/>
                </a:solidFill>
              </a:rPr>
              <a:t>Safety agent</a:t>
            </a:r>
            <a:endParaRPr lang="en-US" sz="1200" dirty="0"/>
          </a:p>
        </p:txBody>
      </p:sp>
      <p:sp>
        <p:nvSpPr>
          <p:cNvPr id="28" name="Shape 26"/>
          <p:cNvSpPr/>
          <p:nvPr/>
        </p:nvSpPr>
        <p:spPr>
          <a:xfrm flipH="1">
            <a:off x="7223760" y="2834640"/>
            <a:ext cx="1691640" cy="393192"/>
          </a:xfrm>
          <a:prstGeom prst="line">
            <a:avLst/>
          </a:prstGeom>
          <a:noFill/>
          <a:ln w="22225">
            <a:solidFill>
              <a:schemeClr val="accent5"/>
            </a:solidFill>
            <a:prstDash val="dash"/>
            <a:tailEnd type="triangle"/>
          </a:ln>
        </p:spPr>
      </p:sp>
      <p:sp>
        <p:nvSpPr>
          <p:cNvPr id="29" name="Shape 27"/>
          <p:cNvSpPr/>
          <p:nvPr/>
        </p:nvSpPr>
        <p:spPr>
          <a:xfrm>
            <a:off x="8183880" y="3246120"/>
            <a:ext cx="1554480" cy="548640"/>
          </a:xfrm>
          <a:prstGeom prst="roundRect">
            <a:avLst>
              <a:gd name="adj" fmla="val 10000"/>
            </a:avLst>
          </a:prstGeom>
          <a:solidFill>
            <a:schemeClr val="accent3"/>
          </a:solidFill>
          <a:ln w="12700">
            <a:solidFill>
              <a:schemeClr val="accent3"/>
            </a:solidFill>
            <a:prstDash val="solid"/>
          </a:ln>
        </p:spPr>
      </p:sp>
      <p:sp>
        <p:nvSpPr>
          <p:cNvPr id="30" name="Text 28"/>
          <p:cNvSpPr txBox="1"/>
          <p:nvPr/>
        </p:nvSpPr>
        <p:spPr>
          <a:xfrm>
            <a:off x="8183880" y="3246120"/>
            <a:ext cx="1554480" cy="548640"/>
          </a:xfrm>
          <a:prstGeom prst="rect">
            <a:avLst/>
          </a:prstGeom>
          <a:noFill/>
          <a:ln/>
        </p:spPr>
        <p:txBody>
          <a:bodyPr wrap="square" lIns="0" tIns="0" rIns="0" bIns="0" rtlCol="0" anchor="ctr"/>
          <a:lstStyle/>
          <a:p>
            <a:pPr algn="ctr" indent="0" marL="0">
              <a:buNone/>
            </a:pPr>
            <a:r>
              <a:rPr lang="en-US" sz="1200" b="1" dirty="0">
                <a:solidFill>
                  <a:schemeClr val="bg1"/>
                </a:solidFill>
              </a:rPr>
              <a:t>Maint. agent</a:t>
            </a:r>
            <a:endParaRPr lang="en-US" sz="1200" dirty="0"/>
          </a:p>
        </p:txBody>
      </p:sp>
      <p:sp>
        <p:nvSpPr>
          <p:cNvPr id="31" name="Shape 29"/>
          <p:cNvSpPr/>
          <p:nvPr/>
        </p:nvSpPr>
        <p:spPr>
          <a:xfrm>
            <a:off x="8915400" y="2834640"/>
            <a:ext cx="45720" cy="393192"/>
          </a:xfrm>
          <a:prstGeom prst="line">
            <a:avLst/>
          </a:prstGeom>
          <a:noFill/>
          <a:ln w="22225">
            <a:solidFill>
              <a:schemeClr val="accent5"/>
            </a:solidFill>
            <a:prstDash val="dash"/>
            <a:tailEnd type="triangle"/>
          </a:ln>
        </p:spPr>
      </p:sp>
      <p:sp>
        <p:nvSpPr>
          <p:cNvPr id="32" name="Shape 30"/>
          <p:cNvSpPr/>
          <p:nvPr/>
        </p:nvSpPr>
        <p:spPr>
          <a:xfrm>
            <a:off x="9921240" y="3246120"/>
            <a:ext cx="1554480" cy="548640"/>
          </a:xfrm>
          <a:prstGeom prst="roundRect">
            <a:avLst>
              <a:gd name="adj" fmla="val 10000"/>
            </a:avLst>
          </a:prstGeom>
          <a:solidFill>
            <a:schemeClr val="accent4"/>
          </a:solidFill>
          <a:ln w="12700">
            <a:solidFill>
              <a:schemeClr val="accent4"/>
            </a:solidFill>
            <a:prstDash val="solid"/>
          </a:ln>
        </p:spPr>
      </p:sp>
      <p:sp>
        <p:nvSpPr>
          <p:cNvPr id="33" name="Text 31"/>
          <p:cNvSpPr txBox="1"/>
          <p:nvPr/>
        </p:nvSpPr>
        <p:spPr>
          <a:xfrm>
            <a:off x="9921240" y="3246120"/>
            <a:ext cx="1554480" cy="548640"/>
          </a:xfrm>
          <a:prstGeom prst="rect">
            <a:avLst/>
          </a:prstGeom>
          <a:noFill/>
          <a:ln/>
        </p:spPr>
        <p:txBody>
          <a:bodyPr wrap="square" lIns="0" tIns="0" rIns="0" bIns="0" rtlCol="0" anchor="ctr"/>
          <a:lstStyle/>
          <a:p>
            <a:pPr algn="ctr" indent="0" marL="0">
              <a:buNone/>
            </a:pPr>
            <a:r>
              <a:rPr lang="en-US" sz="1200" b="1" dirty="0">
                <a:solidFill>
                  <a:schemeClr val="bg1"/>
                </a:solidFill>
              </a:rPr>
              <a:t>Quality agent</a:t>
            </a:r>
            <a:endParaRPr lang="en-US" sz="1200" dirty="0"/>
          </a:p>
        </p:txBody>
      </p:sp>
      <p:sp>
        <p:nvSpPr>
          <p:cNvPr id="34" name="Shape 32"/>
          <p:cNvSpPr/>
          <p:nvPr/>
        </p:nvSpPr>
        <p:spPr>
          <a:xfrm>
            <a:off x="8915400" y="2834640"/>
            <a:ext cx="1783080" cy="393192"/>
          </a:xfrm>
          <a:prstGeom prst="line">
            <a:avLst/>
          </a:prstGeom>
          <a:noFill/>
          <a:ln w="22225">
            <a:solidFill>
              <a:schemeClr val="accent5"/>
            </a:solidFill>
            <a:prstDash val="dash"/>
            <a:tailEnd type="triangle"/>
          </a:ln>
        </p:spPr>
      </p:sp>
      <p:sp>
        <p:nvSpPr>
          <p:cNvPr id="35" name="Shape 33"/>
          <p:cNvSpPr/>
          <p:nvPr/>
        </p:nvSpPr>
        <p:spPr>
          <a:xfrm>
            <a:off x="548640" y="4663440"/>
            <a:ext cx="411480" cy="411480"/>
          </a:xfrm>
          <a:prstGeom prst="ellipse">
            <a:avLst/>
          </a:prstGeom>
          <a:solidFill>
            <a:schemeClr val="accent6"/>
          </a:solidFill>
          <a:ln w="12700">
            <a:solidFill>
              <a:schemeClr val="accent6"/>
            </a:solidFill>
            <a:prstDash val="solid"/>
          </a:ln>
        </p:spPr>
      </p:sp>
      <p:sp>
        <p:nvSpPr>
          <p:cNvPr id="36" name="Text 34"/>
          <p:cNvSpPr txBox="1"/>
          <p:nvPr/>
        </p:nvSpPr>
        <p:spPr>
          <a:xfrm>
            <a:off x="548640" y="46634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37" name="Text 35"/>
          <p:cNvSpPr txBox="1"/>
          <p:nvPr/>
        </p:nvSpPr>
        <p:spPr>
          <a:xfrm>
            <a:off x="1097280" y="4572000"/>
            <a:ext cx="3063240" cy="1005840"/>
          </a:xfrm>
          <a:prstGeom prst="rect">
            <a:avLst/>
          </a:prstGeom>
          <a:noFill/>
          <a:ln/>
        </p:spPr>
        <p:txBody>
          <a:bodyPr wrap="square" lIns="0" tIns="0" rIns="0" bIns="0" rtlCol="0" anchor="t"/>
          <a:lstStyle/>
          <a:p>
            <a:pPr indent="0" marL="0">
              <a:buNone/>
            </a:pPr>
            <a:r>
              <a:rPr lang="en-US" sz="1500" b="1" dirty="0">
                <a:solidFill>
                  <a:schemeClr val="tx1"/>
                </a:solidFill>
              </a:rPr>
              <a:t>Predictable and auditable</a:t>
            </a:r>
            <a:endParaRPr lang="en-US" sz="1400" dirty="0"/>
          </a:p>
          <a:p>
            <a:pPr indent="0" marL="0">
              <a:buNone/>
            </a:pPr>
            <a:r>
              <a:rPr lang="en-US" sz="1400" dirty="0">
                <a:solidFill>
                  <a:schemeClr val="tx1"/>
                </a:solidFill>
              </a:rPr>
              <a:t>A safety-critical answer follows the same reviewed path every time.</a:t>
            </a:r>
            <a:endParaRPr lang="en-US" sz="1400" dirty="0"/>
          </a:p>
        </p:txBody>
      </p:sp>
      <p:sp>
        <p:nvSpPr>
          <p:cNvPr id="38" name="Shape 36"/>
          <p:cNvSpPr/>
          <p:nvPr/>
        </p:nvSpPr>
        <p:spPr>
          <a:xfrm>
            <a:off x="4297680" y="4663440"/>
            <a:ext cx="411480" cy="411480"/>
          </a:xfrm>
          <a:prstGeom prst="ellipse">
            <a:avLst/>
          </a:prstGeom>
          <a:solidFill>
            <a:schemeClr val="accent6"/>
          </a:solidFill>
          <a:ln w="12700">
            <a:solidFill>
              <a:schemeClr val="accent6"/>
            </a:solidFill>
            <a:prstDash val="solid"/>
          </a:ln>
        </p:spPr>
      </p:sp>
      <p:sp>
        <p:nvSpPr>
          <p:cNvPr id="39" name="Text 37"/>
          <p:cNvSpPr txBox="1"/>
          <p:nvPr/>
        </p:nvSpPr>
        <p:spPr>
          <a:xfrm>
            <a:off x="4297680" y="46634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40" name="Text 38"/>
          <p:cNvSpPr txBox="1"/>
          <p:nvPr/>
        </p:nvSpPr>
        <p:spPr>
          <a:xfrm>
            <a:off x="4846320" y="4572000"/>
            <a:ext cx="3063240" cy="1005840"/>
          </a:xfrm>
          <a:prstGeom prst="rect">
            <a:avLst/>
          </a:prstGeom>
          <a:noFill/>
          <a:ln/>
        </p:spPr>
        <p:txBody>
          <a:bodyPr wrap="square" lIns="0" tIns="0" rIns="0" bIns="0" rtlCol="0" anchor="t"/>
          <a:lstStyle/>
          <a:p>
            <a:pPr indent="0" marL="0">
              <a:buNone/>
            </a:pPr>
            <a:r>
              <a:rPr lang="en-US" sz="1500" b="1" dirty="0">
                <a:solidFill>
                  <a:schemeClr val="tx1"/>
                </a:solidFill>
              </a:rPr>
              <a:t>Cheaper and faster</a:t>
            </a:r>
            <a:endParaRPr lang="en-US" sz="1400" dirty="0"/>
          </a:p>
          <a:p>
            <a:pPr indent="0" marL="0">
              <a:buNone/>
            </a:pPr>
            <a:r>
              <a:rPr lang="en-US" sz="1400" dirty="0">
                <a:solidFill>
                  <a:schemeClr val="tx1"/>
                </a:solidFill>
              </a:rPr>
              <a:t>3 LLM calls per question instead of 6-12 agent turns - it matters on a CPU.</a:t>
            </a:r>
            <a:endParaRPr lang="en-US" sz="1400" dirty="0"/>
          </a:p>
        </p:txBody>
      </p:sp>
      <p:sp>
        <p:nvSpPr>
          <p:cNvPr id="41" name="Shape 39"/>
          <p:cNvSpPr/>
          <p:nvPr/>
        </p:nvSpPr>
        <p:spPr>
          <a:xfrm>
            <a:off x="8046720" y="4663440"/>
            <a:ext cx="411480" cy="411480"/>
          </a:xfrm>
          <a:prstGeom prst="ellipse">
            <a:avLst/>
          </a:prstGeom>
          <a:solidFill>
            <a:schemeClr val="accent6"/>
          </a:solidFill>
          <a:ln w="12700">
            <a:solidFill>
              <a:schemeClr val="accent6"/>
            </a:solidFill>
            <a:prstDash val="solid"/>
          </a:ln>
        </p:spPr>
      </p:sp>
      <p:sp>
        <p:nvSpPr>
          <p:cNvPr id="42" name="Text 40"/>
          <p:cNvSpPr txBox="1"/>
          <p:nvPr/>
        </p:nvSpPr>
        <p:spPr>
          <a:xfrm>
            <a:off x="8046720" y="466344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43" name="Text 41"/>
          <p:cNvSpPr txBox="1"/>
          <p:nvPr/>
        </p:nvSpPr>
        <p:spPr>
          <a:xfrm>
            <a:off x="8595360" y="4572000"/>
            <a:ext cx="3063240" cy="1005840"/>
          </a:xfrm>
          <a:prstGeom prst="rect">
            <a:avLst/>
          </a:prstGeom>
          <a:noFill/>
          <a:ln/>
        </p:spPr>
        <p:txBody>
          <a:bodyPr wrap="square" lIns="0" tIns="0" rIns="0" bIns="0" rtlCol="0" anchor="t"/>
          <a:lstStyle/>
          <a:p>
            <a:pPr indent="0" marL="0">
              <a:buNone/>
            </a:pPr>
            <a:r>
              <a:rPr lang="en-US" sz="1500" b="1" dirty="0">
                <a:solidFill>
                  <a:schemeClr val="tx1"/>
                </a:solidFill>
              </a:rPr>
              <a:t>Same routing quality</a:t>
            </a:r>
            <a:endParaRPr lang="en-US" sz="1400" dirty="0"/>
          </a:p>
          <a:p>
            <a:pPr indent="0" marL="0">
              <a:buNone/>
            </a:pPr>
            <a:r>
              <a:rPr lang="en-US" sz="1400" dirty="0">
                <a:solidFill>
                  <a:schemeClr val="tx1"/>
                </a:solidFill>
              </a:rPr>
              <a:t>The domains are document sets, not different skills or tools.</a:t>
            </a:r>
            <a:endParaRPr lang="en-US" sz="1400" dirty="0"/>
          </a:p>
        </p:txBody>
      </p:sp>
      <p:sp>
        <p:nvSpPr>
          <p:cNvPr id="44" name="Text 42"/>
          <p:cNvSpPr txBox="1"/>
          <p:nvPr/>
        </p:nvSpPr>
        <p:spPr>
          <a:xfrm>
            <a:off x="548640" y="5715000"/>
            <a:ext cx="11064240" cy="548640"/>
          </a:xfrm>
          <a:prstGeom prst="rect">
            <a:avLst/>
          </a:prstGeom>
          <a:noFill/>
          <a:ln/>
        </p:spPr>
        <p:txBody>
          <a:bodyPr wrap="square" lIns="0" tIns="0" rIns="0" bIns="0" rtlCol="0" anchor="t"/>
          <a:lstStyle/>
          <a:p>
            <a:pPr indent="0" marL="0">
              <a:buNone/>
            </a:pPr>
            <a:r>
              <a:rPr lang="en-US" sz="1400" dirty="0">
                <a:solidFill>
                  <a:schemeClr val="accent5"/>
                </a:solidFill>
              </a:rPr>
              <a:t>Go multi-agent when domains need their own tools (CMMS work orders, MES lookups, SDS database): each branch becomes a sub-agent and the router becomes the supervisor.</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Design decisions and trade-offs</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737360"/>
                <a:gridCol w="3291840"/>
                <a:gridCol w="2651760"/>
                <a:gridCol w="3383280"/>
              </a:tblGrid>
              <a:tr h="512064">
                <a:tc>
                  <a:txBody>
                    <a:bodyPr/>
                    <a:lstStyle/>
                    <a:p>
                      <a:pPr indent="0" marL="0">
                        <a:buNone/>
                      </a:pPr>
                      <a:r>
                        <a:rPr lang="en-US" sz="1400" b="1" dirty="0">
                          <a:solidFill>
                            <a:srgbClr val="FFFFFF"/>
                          </a:solidFill>
                        </a:rPr>
                        <a:t>Decision</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Chosen</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Alternative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Why</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r>
              <a:tr h="512064">
                <a:tc>
                  <a:txBody>
                    <a:bodyPr/>
                    <a:lstStyle/>
                    <a:p>
                      <a:pPr indent="0" marL="0">
                        <a:buNone/>
                      </a:pPr>
                      <a:r>
                        <a:rPr lang="en-US" sz="1300" b="1" dirty="0">
                          <a:solidFill>
                            <a:srgbClr val="1B2430"/>
                          </a:solidFill>
                        </a:rPr>
                        <a:t>Orchestration</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One LangGraph workflow</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Multi-agent supervisor</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Same reviewed safety path; 2-3 LLM calls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B2430"/>
                          </a:solidFill>
                        </a:rPr>
                        <a:t>Index layout</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One collection per source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One collection + filter</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Routing = which index; owner isolation</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B2430"/>
                          </a:solidFill>
                        </a:rPr>
                        <a:t>Chunking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Structure-aware: sections, whole tables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Fixed-size windows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Steps and table rows stay together</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B2430"/>
                          </a:solidFill>
                        </a:rPr>
                        <a:t>Retrieval</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Hybrid BM25 + vector (RRF)</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Vector only</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Exact part numbers, alarm codes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B2430"/>
                          </a:solidFill>
                        </a:rPr>
                        <a:t>Guardrails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Rules first + LLM verifier</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LLM judge only</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Exact on numbers; works on CPU</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B2430"/>
                          </a:solidFill>
                        </a:rPr>
                        <a:t>Models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Ollama locally, Bedrock by config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One provider</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Free prototype, managed production</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12064">
                <a:tc>
                  <a:txBody>
                    <a:bodyPr/>
                    <a:lstStyle/>
                    <a:p>
                      <a:pPr indent="0" marL="0">
                        <a:buNone/>
                      </a:pPr>
                      <a:r>
                        <a:rPr lang="en-US" sz="1300" b="1" dirty="0">
                          <a:solidFill>
                            <a:srgbClr val="1B2430"/>
                          </a:solidFill>
                        </a:rPr>
                        <a:t>Vector store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Chroma (embedded)</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OpenSearch / Bedrock KB</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Zero-ops now; swap at scale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64240" cy="320040"/>
          </a:xfrm>
          <a:prstGeom prst="rect">
            <a:avLst/>
          </a:prstGeom>
          <a:noFill/>
          <a:ln/>
        </p:spPr>
        <p:txBody>
          <a:bodyPr wrap="square" lIns="0" tIns="0" rIns="0" bIns="0" rtlCol="0" anchor="t"/>
          <a:lstStyle/>
          <a:p>
            <a:pPr indent="0" marL="0">
              <a:buNone/>
            </a:pPr>
            <a:r>
              <a:rPr lang="en-US" sz="1200" dirty="0">
                <a:solidFill>
                  <a:schemeClr val="accent5"/>
                </a:solidFill>
              </a:rPr>
              <a:t>Full rationale per decision: docs/DESIGN.md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How a question reaches the right documents</a:t>
            </a:r>
            <a:endParaRPr lang="en-US" sz="3600" dirty="0"/>
          </a:p>
        </p:txBody>
      </p:sp>
      <p:sp>
        <p:nvSpPr>
          <p:cNvPr id="3" name="Shape 1"/>
          <p:cNvSpPr/>
          <p:nvPr/>
        </p:nvSpPr>
        <p:spPr>
          <a:xfrm>
            <a:off x="548640" y="1325880"/>
            <a:ext cx="2011680" cy="868680"/>
          </a:xfrm>
          <a:prstGeom prst="roundRect">
            <a:avLst>
              <a:gd name="adj" fmla="val 8421"/>
            </a:avLst>
          </a:prstGeom>
          <a:solidFill>
            <a:schemeClr val="bg2"/>
          </a:solidFill>
          <a:ln w="9525">
            <a:solidFill>
              <a:schemeClr val="bg2"/>
            </a:solidFill>
            <a:prstDash val="solid"/>
          </a:ln>
        </p:spPr>
      </p:sp>
      <p:sp>
        <p:nvSpPr>
          <p:cNvPr id="4" name="Text 2"/>
          <p:cNvSpPr txBox="1"/>
          <p:nvPr/>
        </p:nvSpPr>
        <p:spPr>
          <a:xfrm>
            <a:off x="621792" y="1325880"/>
            <a:ext cx="1865376" cy="868680"/>
          </a:xfrm>
          <a:prstGeom prst="rect">
            <a:avLst/>
          </a:prstGeom>
          <a:noFill/>
          <a:ln/>
        </p:spPr>
        <p:txBody>
          <a:bodyPr wrap="square" lIns="0" tIns="0" rIns="0" bIns="0" rtlCol="0" anchor="ctr"/>
          <a:lstStyle/>
          <a:p>
            <a:pPr algn="ctr" indent="0" marL="0">
              <a:buNone/>
            </a:pPr>
            <a:r>
              <a:rPr lang="en-US" sz="1400" b="1" dirty="0">
                <a:solidFill>
                  <a:schemeClr val="tx1"/>
                </a:solidFill>
              </a:rPr>
              <a:t>Registry</a:t>
            </a:r>
            <a:endParaRPr lang="en-US" sz="1400" dirty="0"/>
          </a:p>
          <a:p>
            <a:pPr algn="ctr" indent="0" marL="0">
              <a:buNone/>
            </a:pPr>
            <a:r>
              <a:rPr lang="en-US" sz="1100" dirty="0">
                <a:solidFill>
                  <a:schemeClr val="accent5"/>
                </a:solidFill>
              </a:rPr>
              <a:t>sources.py describes each source</a:t>
            </a:r>
            <a:endParaRPr lang="en-US" sz="1400" dirty="0"/>
          </a:p>
        </p:txBody>
      </p:sp>
      <p:sp>
        <p:nvSpPr>
          <p:cNvPr id="5" name="Shape 3"/>
          <p:cNvSpPr/>
          <p:nvPr/>
        </p:nvSpPr>
        <p:spPr>
          <a:xfrm>
            <a:off x="2578608" y="1755648"/>
            <a:ext cx="210312" cy="914"/>
          </a:xfrm>
          <a:prstGeom prst="line">
            <a:avLst/>
          </a:prstGeom>
          <a:noFill/>
          <a:ln w="25400">
            <a:solidFill>
              <a:schemeClr val="accent6"/>
            </a:solidFill>
            <a:prstDash val="solid"/>
            <a:tailEnd type="triangle"/>
          </a:ln>
        </p:spPr>
      </p:sp>
      <p:sp>
        <p:nvSpPr>
          <p:cNvPr id="6" name="Shape 4"/>
          <p:cNvSpPr/>
          <p:nvPr/>
        </p:nvSpPr>
        <p:spPr>
          <a:xfrm>
            <a:off x="2807208" y="1325880"/>
            <a:ext cx="2011680" cy="868680"/>
          </a:xfrm>
          <a:prstGeom prst="roundRect">
            <a:avLst>
              <a:gd name="adj" fmla="val 8421"/>
            </a:avLst>
          </a:prstGeom>
          <a:solidFill>
            <a:schemeClr val="bg2"/>
          </a:solidFill>
          <a:ln w="9525">
            <a:solidFill>
              <a:schemeClr val="bg2"/>
            </a:solidFill>
            <a:prstDash val="solid"/>
          </a:ln>
        </p:spPr>
      </p:sp>
      <p:sp>
        <p:nvSpPr>
          <p:cNvPr id="7" name="Text 5"/>
          <p:cNvSpPr txBox="1"/>
          <p:nvPr/>
        </p:nvSpPr>
        <p:spPr>
          <a:xfrm>
            <a:off x="2880360" y="1325880"/>
            <a:ext cx="1865376" cy="868680"/>
          </a:xfrm>
          <a:prstGeom prst="rect">
            <a:avLst/>
          </a:prstGeom>
          <a:noFill/>
          <a:ln/>
        </p:spPr>
        <p:txBody>
          <a:bodyPr wrap="square" lIns="0" tIns="0" rIns="0" bIns="0" rtlCol="0" anchor="ctr"/>
          <a:lstStyle/>
          <a:p>
            <a:pPr algn="ctr" indent="0" marL="0">
              <a:buNone/>
            </a:pPr>
            <a:r>
              <a:rPr lang="en-US" sz="1400" b="1" dirty="0">
                <a:solidFill>
                  <a:schemeClr val="tx1"/>
                </a:solidFill>
              </a:rPr>
              <a:t>LLM router</a:t>
            </a:r>
            <a:endParaRPr lang="en-US" sz="1400" dirty="0"/>
          </a:p>
          <a:p>
            <a:pPr algn="ctr" indent="0" marL="0">
              <a:buNone/>
            </a:pPr>
            <a:r>
              <a:rPr lang="en-US" sz="1100" dirty="0">
                <a:solidFill>
                  <a:schemeClr val="accent5"/>
                </a:solidFill>
              </a:rPr>
              <a:t>returns RouteDecision JSON</a:t>
            </a:r>
            <a:endParaRPr lang="en-US" sz="1400" dirty="0"/>
          </a:p>
        </p:txBody>
      </p:sp>
      <p:sp>
        <p:nvSpPr>
          <p:cNvPr id="8" name="Shape 6"/>
          <p:cNvSpPr/>
          <p:nvPr/>
        </p:nvSpPr>
        <p:spPr>
          <a:xfrm>
            <a:off x="4837176" y="1755648"/>
            <a:ext cx="210312" cy="914"/>
          </a:xfrm>
          <a:prstGeom prst="line">
            <a:avLst/>
          </a:prstGeom>
          <a:noFill/>
          <a:ln w="25400">
            <a:solidFill>
              <a:schemeClr val="accent6"/>
            </a:solidFill>
            <a:prstDash val="solid"/>
            <a:tailEnd type="triangle"/>
          </a:ln>
        </p:spPr>
      </p:sp>
      <p:sp>
        <p:nvSpPr>
          <p:cNvPr id="9" name="Shape 7"/>
          <p:cNvSpPr/>
          <p:nvPr/>
        </p:nvSpPr>
        <p:spPr>
          <a:xfrm>
            <a:off x="5065776" y="1325880"/>
            <a:ext cx="2011680" cy="868680"/>
          </a:xfrm>
          <a:prstGeom prst="roundRect">
            <a:avLst>
              <a:gd name="adj" fmla="val 8421"/>
            </a:avLst>
          </a:prstGeom>
          <a:solidFill>
            <a:schemeClr val="bg2"/>
          </a:solidFill>
          <a:ln w="9525">
            <a:solidFill>
              <a:schemeClr val="bg2"/>
            </a:solidFill>
            <a:prstDash val="solid"/>
          </a:ln>
        </p:spPr>
      </p:sp>
      <p:sp>
        <p:nvSpPr>
          <p:cNvPr id="10" name="Text 8"/>
          <p:cNvSpPr txBox="1"/>
          <p:nvPr/>
        </p:nvSpPr>
        <p:spPr>
          <a:xfrm>
            <a:off x="5138928" y="1325880"/>
            <a:ext cx="1865376" cy="868680"/>
          </a:xfrm>
          <a:prstGeom prst="rect">
            <a:avLst/>
          </a:prstGeom>
          <a:noFill/>
          <a:ln/>
        </p:spPr>
        <p:txBody>
          <a:bodyPr wrap="square" lIns="0" tIns="0" rIns="0" bIns="0" rtlCol="0" anchor="ctr"/>
          <a:lstStyle/>
          <a:p>
            <a:pPr algn="ctr" indent="0" marL="0">
              <a:buNone/>
            </a:pPr>
            <a:r>
              <a:rPr lang="en-US" sz="1400" b="1" dirty="0">
                <a:solidFill>
                  <a:schemeClr val="tx1"/>
                </a:solidFill>
              </a:rPr>
              <a:t>Policy</a:t>
            </a:r>
            <a:endParaRPr lang="en-US" sz="1400" dirty="0"/>
          </a:p>
          <a:p>
            <a:pPr algn="ctr" indent="0" marL="0">
              <a:buNone/>
            </a:pPr>
            <a:r>
              <a:rPr lang="en-US" sz="1100" dirty="0">
                <a:solidFill>
                  <a:schemeClr val="accent5"/>
                </a:solidFill>
              </a:rPr>
              <a:t>plan_retrieval() adds or widens</a:t>
            </a:r>
            <a:endParaRPr lang="en-US" sz="1400" dirty="0"/>
          </a:p>
        </p:txBody>
      </p:sp>
      <p:sp>
        <p:nvSpPr>
          <p:cNvPr id="11" name="Shape 9"/>
          <p:cNvSpPr/>
          <p:nvPr/>
        </p:nvSpPr>
        <p:spPr>
          <a:xfrm>
            <a:off x="7095744" y="1755648"/>
            <a:ext cx="210312" cy="914"/>
          </a:xfrm>
          <a:prstGeom prst="line">
            <a:avLst/>
          </a:prstGeom>
          <a:noFill/>
          <a:ln w="25400">
            <a:solidFill>
              <a:schemeClr val="accent6"/>
            </a:solidFill>
            <a:prstDash val="solid"/>
            <a:tailEnd type="triangle"/>
          </a:ln>
        </p:spPr>
      </p:sp>
      <p:sp>
        <p:nvSpPr>
          <p:cNvPr id="12" name="Shape 10"/>
          <p:cNvSpPr/>
          <p:nvPr/>
        </p:nvSpPr>
        <p:spPr>
          <a:xfrm>
            <a:off x="7324344" y="1325880"/>
            <a:ext cx="2011680" cy="868680"/>
          </a:xfrm>
          <a:prstGeom prst="roundRect">
            <a:avLst>
              <a:gd name="adj" fmla="val 8421"/>
            </a:avLst>
          </a:prstGeom>
          <a:solidFill>
            <a:schemeClr val="bg2"/>
          </a:solidFill>
          <a:ln w="9525">
            <a:solidFill>
              <a:schemeClr val="bg2"/>
            </a:solidFill>
            <a:prstDash val="solid"/>
          </a:ln>
        </p:spPr>
      </p:sp>
      <p:sp>
        <p:nvSpPr>
          <p:cNvPr id="13" name="Text 11"/>
          <p:cNvSpPr txBox="1"/>
          <p:nvPr/>
        </p:nvSpPr>
        <p:spPr>
          <a:xfrm>
            <a:off x="7397496" y="1325880"/>
            <a:ext cx="1865376" cy="868680"/>
          </a:xfrm>
          <a:prstGeom prst="rect">
            <a:avLst/>
          </a:prstGeom>
          <a:noFill/>
          <a:ln/>
        </p:spPr>
        <p:txBody>
          <a:bodyPr wrap="square" lIns="0" tIns="0" rIns="0" bIns="0" rtlCol="0" anchor="ctr"/>
          <a:lstStyle/>
          <a:p>
            <a:pPr algn="ctr" indent="0" marL="0">
              <a:buNone/>
            </a:pPr>
            <a:r>
              <a:rPr lang="en-US" sz="1400" b="1" dirty="0">
                <a:solidFill>
                  <a:schemeClr val="tx1"/>
                </a:solidFill>
              </a:rPr>
              <a:t>Dispatch</a:t>
            </a:r>
            <a:endParaRPr lang="en-US" sz="1400" dirty="0"/>
          </a:p>
          <a:p>
            <a:pPr algn="ctr" indent="0" marL="0">
              <a:buNone/>
            </a:pPr>
            <a:r>
              <a:rPr lang="en-US" sz="1100" dirty="0">
                <a:solidFill>
                  <a:schemeClr val="accent5"/>
                </a:solidFill>
              </a:rPr>
              <a:t>one Send() per target source</a:t>
            </a:r>
            <a:endParaRPr lang="en-US" sz="1400" dirty="0"/>
          </a:p>
        </p:txBody>
      </p:sp>
      <p:sp>
        <p:nvSpPr>
          <p:cNvPr id="14" name="Shape 12"/>
          <p:cNvSpPr/>
          <p:nvPr/>
        </p:nvSpPr>
        <p:spPr>
          <a:xfrm>
            <a:off x="9354312" y="1755648"/>
            <a:ext cx="210312" cy="914"/>
          </a:xfrm>
          <a:prstGeom prst="line">
            <a:avLst/>
          </a:prstGeom>
          <a:noFill/>
          <a:ln w="25400">
            <a:solidFill>
              <a:schemeClr val="accent6"/>
            </a:solidFill>
            <a:prstDash val="solid"/>
            <a:tailEnd type="triangle"/>
          </a:ln>
        </p:spPr>
      </p:sp>
      <p:sp>
        <p:nvSpPr>
          <p:cNvPr id="15" name="Shape 13"/>
          <p:cNvSpPr/>
          <p:nvPr/>
        </p:nvSpPr>
        <p:spPr>
          <a:xfrm>
            <a:off x="9582912" y="1325880"/>
            <a:ext cx="2011680" cy="868680"/>
          </a:xfrm>
          <a:prstGeom prst="roundRect">
            <a:avLst>
              <a:gd name="adj" fmla="val 8421"/>
            </a:avLst>
          </a:prstGeom>
          <a:solidFill>
            <a:schemeClr val="bg2"/>
          </a:solidFill>
          <a:ln w="9525">
            <a:solidFill>
              <a:schemeClr val="bg2"/>
            </a:solidFill>
            <a:prstDash val="solid"/>
          </a:ln>
        </p:spPr>
      </p:sp>
      <p:sp>
        <p:nvSpPr>
          <p:cNvPr id="16" name="Text 14"/>
          <p:cNvSpPr txBox="1"/>
          <p:nvPr/>
        </p:nvSpPr>
        <p:spPr>
          <a:xfrm>
            <a:off x="9656064" y="1325880"/>
            <a:ext cx="1865376" cy="868680"/>
          </a:xfrm>
          <a:prstGeom prst="rect">
            <a:avLst/>
          </a:prstGeom>
          <a:noFill/>
          <a:ln/>
        </p:spPr>
        <p:txBody>
          <a:bodyPr wrap="square" lIns="0" tIns="0" rIns="0" bIns="0" rtlCol="0" anchor="ctr"/>
          <a:lstStyle/>
          <a:p>
            <a:pPr algn="ctr" indent="0" marL="0">
              <a:buNone/>
            </a:pPr>
            <a:r>
              <a:rPr lang="en-US" sz="1400" b="1" dirty="0">
                <a:solidFill>
                  <a:schemeClr val="tx1"/>
                </a:solidFill>
              </a:rPr>
              <a:t>Search</a:t>
            </a:r>
            <a:endParaRPr lang="en-US" sz="1400" dirty="0"/>
          </a:p>
          <a:p>
            <a:pPr algn="ctr" indent="0" marL="0">
              <a:buNone/>
            </a:pPr>
            <a:r>
              <a:rPr lang="en-US" sz="1100" dirty="0">
                <a:solidFill>
                  <a:schemeClr val="accent5"/>
                </a:solidFill>
              </a:rPr>
              <a:t>each retriever hits only its own collection</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2514600"/>
          <a:ext cx="11064240" cy="914400"/>
        </p:xfrm>
        <a:graphic>
          <a:graphicData uri="http://schemas.openxmlformats.org/drawingml/2006/table">
            <a:tbl>
              <a:tblPr/>
              <a:tblGrid>
                <a:gridCol w="3017520"/>
                <a:gridCol w="1920240"/>
                <a:gridCol w="3291840"/>
                <a:gridCol w="2834640"/>
              </a:tblGrid>
              <a:tr h="457200">
                <a:tc>
                  <a:txBody>
                    <a:bodyPr/>
                    <a:lstStyle/>
                    <a:p>
                      <a:pPr indent="0" marL="0">
                        <a:buNone/>
                      </a:pPr>
                      <a:r>
                        <a:rPr lang="en-US" sz="1400" b="1" dirty="0">
                          <a:solidFill>
                            <a:srgbClr val="FFFFFF"/>
                          </a:solidFill>
                        </a:rPr>
                        <a:t>Supervisor question</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Router decided</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Policy applied</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Collections searched</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r>
              <a:tr h="457200">
                <a:tc>
                  <a:txBody>
                    <a:bodyPr/>
                    <a:lstStyle/>
                    <a:p>
                      <a:pPr indent="0" marL="0">
                        <a:buNone/>
                      </a:pPr>
                      <a:r>
                        <a:rPr lang="en-US" sz="1300" dirty="0">
                          <a:solidFill>
                            <a:srgbClr val="1B2430"/>
                          </a:solidFill>
                        </a:rPr>
                        <a:t>Replace the HP-200 cylinder seal</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maintenance, 0.95</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hands-on task: + safety with LOTO/PPE query</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maintenance_manuals, safety_procedures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rPr>
                        <a:t>10 gallons of solvent spilled</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safety, 0.99</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emergency: banner + safety mandatory</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safety_procedures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rPr>
                        <a:t>8 points above the X-bar center line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quality, 0.90</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none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quality_standards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1B2430"/>
                          </a:solidFill>
                        </a:rPr>
                        <a:t>What's on the cafeteria menu?</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out_of_scope, 0.95</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confident decline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none - no LLM answer</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i="1" dirty="0">
                          <a:solidFill>
                            <a:srgbClr val="1B2430"/>
                          </a:solidFill>
                        </a:rPr>
                        <a:t>Any question the router is unsure of</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i="1" dirty="0">
                          <a:solidFill>
                            <a:srgbClr val="1B2430"/>
                          </a:solidFill>
                        </a:rPr>
                        <a:t>confidence &lt; 0.6</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i="1" dirty="0">
                          <a:solidFill>
                            <a:srgbClr val="1B2430"/>
                          </a:solidFill>
                        </a:rPr>
                        <a:t>fan out to every source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i="1" dirty="0">
                          <a:solidFill>
                            <a:srgbClr val="1B2430"/>
                          </a:solidFill>
                        </a:rPr>
                        <a:t>all three; grading filters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18" name="Text 15"/>
          <p:cNvSpPr txBox="1"/>
          <p:nvPr/>
        </p:nvSpPr>
        <p:spPr>
          <a:xfrm>
            <a:off x="548640" y="5760720"/>
            <a:ext cx="11064240" cy="320040"/>
          </a:xfrm>
          <a:prstGeom prst="rect">
            <a:avLst/>
          </a:prstGeom>
          <a:noFill/>
          <a:ln/>
        </p:spPr>
        <p:txBody>
          <a:bodyPr wrap="square" lIns="0" tIns="0" rIns="0" bIns="0" rtlCol="0" anchor="t"/>
          <a:lstStyle/>
          <a:p>
            <a:pPr indent="0" marL="0">
              <a:buNone/>
            </a:pPr>
            <a:r>
              <a:rPr lang="en-US" sz="1200" dirty="0">
                <a:solidFill>
                  <a:schemeClr val="accent5"/>
                </a:solidFill>
              </a:rPr>
              <a:t>First four rows are actual routing decisions from the live run on llama3.2; the last row is the policy rule.</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Routing: LLM decides, policy enforces</a:t>
            </a:r>
            <a:endParaRPr lang="en-US" sz="3600" dirty="0"/>
          </a:p>
        </p:txBody>
      </p:sp>
      <p:sp>
        <p:nvSpPr>
          <p:cNvPr id="3" name="Shape 1"/>
          <p:cNvSpPr/>
          <p:nvPr/>
        </p:nvSpPr>
        <p:spPr>
          <a:xfrm>
            <a:off x="548640" y="1371600"/>
            <a:ext cx="5212080" cy="3017520"/>
          </a:xfrm>
          <a:prstGeom prst="roundRect">
            <a:avLst>
              <a:gd name="adj" fmla="val 2424"/>
            </a:avLst>
          </a:prstGeom>
          <a:solidFill>
            <a:schemeClr val="tx2"/>
          </a:solidFill>
          <a:ln w="12700">
            <a:solidFill>
              <a:schemeClr val="tx2"/>
            </a:solidFill>
            <a:prstDash val="solid"/>
          </a:ln>
        </p:spPr>
      </p:sp>
      <p:sp>
        <p:nvSpPr>
          <p:cNvPr id="4" name="Text 2"/>
          <p:cNvSpPr txBox="1"/>
          <p:nvPr/>
        </p:nvSpPr>
        <p:spPr>
          <a:xfrm>
            <a:off x="777240" y="1600200"/>
            <a:ext cx="4846320" cy="265176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class RouteDecision(BaseModel):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primary_source: Literal[</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"safety", "maintenance",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"quality", "out_of_scope"]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secondary_sources: list[...]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confidence: float   # 0..1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rationale: str</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llm.with_structured_output(</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RouteDecision)</a:t>
            </a:r>
            <a:endParaRPr lang="en-US" sz="1400" dirty="0"/>
          </a:p>
        </p:txBody>
      </p:sp>
      <p:sp>
        <p:nvSpPr>
          <p:cNvPr id="5" name="Text 3"/>
          <p:cNvSpPr txBox="1"/>
          <p:nvPr/>
        </p:nvSpPr>
        <p:spPr>
          <a:xfrm>
            <a:off x="548640" y="4617720"/>
            <a:ext cx="5212080" cy="640080"/>
          </a:xfrm>
          <a:prstGeom prst="rect">
            <a:avLst/>
          </a:prstGeom>
          <a:noFill/>
          <a:ln/>
        </p:spPr>
        <p:txBody>
          <a:bodyPr wrap="square" lIns="0" tIns="0" rIns="0" bIns="0" rtlCol="0" anchor="t"/>
          <a:lstStyle/>
          <a:p>
            <a:pPr indent="0" marL="0">
              <a:buNone/>
            </a:pPr>
            <a:r>
              <a:rPr lang="en-US" sz="1400" dirty="0">
                <a:solidFill>
                  <a:schemeClr val="accent5"/>
                </a:solidFill>
              </a:rPr>
              <a:t>Prompt is generated from the source registry, </a:t>
            </a:r>
            <a:pPr indent="0" marL="0">
              <a:buNone/>
            </a:pPr>
            <a:r>
              <a:rPr lang="en-US" sz="1400" dirty="0">
                <a:solidFill>
                  <a:schemeClr val="accent5"/>
                </a:solidFill>
              </a:rPr>
              <a:t>so adding a source is one registry entry and a folder.</a:t>
            </a:r>
            <a:endParaRPr lang="en-US" sz="1400" dirty="0"/>
          </a:p>
        </p:txBody>
      </p:sp>
      <p:sp>
        <p:nvSpPr>
          <p:cNvPr id="6" name="Text 4"/>
          <p:cNvSpPr txBox="1"/>
          <p:nvPr/>
        </p:nvSpPr>
        <p:spPr>
          <a:xfrm>
            <a:off x="548640" y="5349240"/>
            <a:ext cx="5212080" cy="640080"/>
          </a:xfrm>
          <a:prstGeom prst="rect">
            <a:avLst/>
          </a:prstGeom>
          <a:noFill/>
          <a:ln/>
        </p:spPr>
        <p:txBody>
          <a:bodyPr wrap="square" lIns="0" tIns="0" rIns="0" bIns="0" rtlCol="0" anchor="t"/>
          <a:lstStyle/>
          <a:p>
            <a:pPr indent="0" marL="0">
              <a:buNone/>
            </a:pPr>
            <a:r>
              <a:rPr lang="en-US" sz="1400" dirty="0">
                <a:solidFill>
                  <a:schemeClr val="accent5"/>
                </a:solidFill>
              </a:rPr>
              <a:t>If the LLM fails or returns invalid JSON, a keyword router takes over - the request never crashes.</a:t>
            </a:r>
            <a:endParaRPr lang="en-US" sz="1400" dirty="0"/>
          </a:p>
        </p:txBody>
      </p:sp>
      <p:sp>
        <p:nvSpPr>
          <p:cNvPr id="7" name="Text 5"/>
          <p:cNvSpPr txBox="1"/>
          <p:nvPr/>
        </p:nvSpPr>
        <p:spPr>
          <a:xfrm>
            <a:off x="6309360" y="1325880"/>
            <a:ext cx="5303520" cy="365760"/>
          </a:xfrm>
          <a:prstGeom prst="rect">
            <a:avLst/>
          </a:prstGeom>
          <a:noFill/>
          <a:ln/>
        </p:spPr>
        <p:txBody>
          <a:bodyPr wrap="square" lIns="0" tIns="0" rIns="0" bIns="0" rtlCol="0" anchor="t"/>
          <a:lstStyle/>
          <a:p>
            <a:pPr indent="0" marL="0">
              <a:buNone/>
            </a:pPr>
            <a:r>
              <a:rPr lang="en-US" sz="1800" b="1" dirty="0">
                <a:solidFill>
                  <a:schemeClr val="accent5"/>
                </a:solidFill>
              </a:rPr>
              <a:t>Plant policy applied after the classifier</a:t>
            </a:r>
            <a:endParaRPr lang="en-US" sz="1800" dirty="0"/>
          </a:p>
        </p:txBody>
      </p:sp>
      <p:sp>
        <p:nvSpPr>
          <p:cNvPr id="8" name="Shape 6"/>
          <p:cNvSpPr/>
          <p:nvPr/>
        </p:nvSpPr>
        <p:spPr>
          <a:xfrm>
            <a:off x="6309360" y="1828800"/>
            <a:ext cx="5303520" cy="932688"/>
          </a:xfrm>
          <a:prstGeom prst="roundRect">
            <a:avLst>
              <a:gd name="adj" fmla="val 7843"/>
            </a:avLst>
          </a:prstGeom>
          <a:solidFill>
            <a:schemeClr val="bg2"/>
          </a:solidFill>
          <a:ln w="12700">
            <a:solidFill>
              <a:schemeClr val="bg2"/>
            </a:solidFill>
            <a:prstDash val="solid"/>
          </a:ln>
        </p:spPr>
      </p:sp>
      <p:sp>
        <p:nvSpPr>
          <p:cNvPr id="9" name="Shape 7"/>
          <p:cNvSpPr/>
          <p:nvPr/>
        </p:nvSpPr>
        <p:spPr>
          <a:xfrm>
            <a:off x="6492240" y="2039112"/>
            <a:ext cx="512064" cy="512064"/>
          </a:xfrm>
          <a:prstGeom prst="ellipse">
            <a:avLst/>
          </a:prstGeom>
          <a:solidFill>
            <a:schemeClr val="accent6"/>
          </a:solidFill>
          <a:ln w="12700">
            <a:solidFill>
              <a:schemeClr val="accent6"/>
            </a:solidFill>
            <a:prstDash val="solid"/>
          </a:ln>
        </p:spPr>
      </p:sp>
      <p:sp>
        <p:nvSpPr>
          <p:cNvPr id="10" name="Text 8"/>
          <p:cNvSpPr txBox="1"/>
          <p:nvPr/>
        </p:nvSpPr>
        <p:spPr>
          <a:xfrm>
            <a:off x="6492240" y="2039112"/>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Text 9"/>
          <p:cNvSpPr txBox="1"/>
          <p:nvPr/>
        </p:nvSpPr>
        <p:spPr>
          <a:xfrm>
            <a:off x="7178040" y="1920240"/>
            <a:ext cx="4297680" cy="777240"/>
          </a:xfrm>
          <a:prstGeom prst="rect">
            <a:avLst/>
          </a:prstGeom>
          <a:noFill/>
          <a:ln/>
        </p:spPr>
        <p:txBody>
          <a:bodyPr wrap="square" lIns="0" tIns="0" rIns="0" bIns="0" rtlCol="0" anchor="ctr"/>
          <a:lstStyle/>
          <a:p>
            <a:pPr indent="0" marL="0">
              <a:buNone/>
            </a:pPr>
            <a:r>
              <a:rPr lang="en-US" sz="1600" b="1" dirty="0">
                <a:solidFill>
                  <a:schemeClr val="tx1"/>
                </a:solidFill>
              </a:rPr>
              <a:t>Low confidence (&lt; 0.6)</a:t>
            </a:r>
            <a:endParaRPr lang="en-US" sz="1400" dirty="0"/>
          </a:p>
          <a:p>
            <a:pPr indent="0" marL="0">
              <a:buNone/>
            </a:pPr>
            <a:r>
              <a:rPr lang="en-US" sz="1400" dirty="0">
                <a:solidFill>
                  <a:schemeClr val="tx1"/>
                </a:solidFill>
              </a:rPr>
              <a:t>Search every source; the relevance gate removes noise.</a:t>
            </a:r>
            <a:endParaRPr lang="en-US" sz="1400" dirty="0"/>
          </a:p>
        </p:txBody>
      </p:sp>
      <p:sp>
        <p:nvSpPr>
          <p:cNvPr id="12" name="Shape 10"/>
          <p:cNvSpPr/>
          <p:nvPr/>
        </p:nvSpPr>
        <p:spPr>
          <a:xfrm>
            <a:off x="6309360" y="2907792"/>
            <a:ext cx="5303520" cy="932688"/>
          </a:xfrm>
          <a:prstGeom prst="roundRect">
            <a:avLst>
              <a:gd name="adj" fmla="val 7843"/>
            </a:avLst>
          </a:prstGeom>
          <a:solidFill>
            <a:schemeClr val="bg2"/>
          </a:solidFill>
          <a:ln w="12700">
            <a:solidFill>
              <a:schemeClr val="bg2"/>
            </a:solidFill>
            <a:prstDash val="solid"/>
          </a:ln>
        </p:spPr>
      </p:sp>
      <p:sp>
        <p:nvSpPr>
          <p:cNvPr id="13" name="Shape 11"/>
          <p:cNvSpPr/>
          <p:nvPr/>
        </p:nvSpPr>
        <p:spPr>
          <a:xfrm>
            <a:off x="6492240" y="3118104"/>
            <a:ext cx="512064" cy="512064"/>
          </a:xfrm>
          <a:prstGeom prst="ellipse">
            <a:avLst/>
          </a:prstGeom>
          <a:solidFill>
            <a:schemeClr val="accent5"/>
          </a:solidFill>
          <a:ln w="12700">
            <a:solidFill>
              <a:schemeClr val="accent5"/>
            </a:solidFill>
            <a:prstDash val="solid"/>
          </a:ln>
        </p:spPr>
      </p:sp>
      <p:sp>
        <p:nvSpPr>
          <p:cNvPr id="14" name="Text 12"/>
          <p:cNvSpPr txBox="1"/>
          <p:nvPr/>
        </p:nvSpPr>
        <p:spPr>
          <a:xfrm>
            <a:off x="6492240" y="3118104"/>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Text 13"/>
          <p:cNvSpPr txBox="1"/>
          <p:nvPr/>
        </p:nvSpPr>
        <p:spPr>
          <a:xfrm>
            <a:off x="7178040" y="2999232"/>
            <a:ext cx="4297680" cy="777240"/>
          </a:xfrm>
          <a:prstGeom prst="rect">
            <a:avLst/>
          </a:prstGeom>
          <a:noFill/>
          <a:ln/>
        </p:spPr>
        <p:txBody>
          <a:bodyPr wrap="square" lIns="0" tIns="0" rIns="0" bIns="0" rtlCol="0" anchor="ctr"/>
          <a:lstStyle/>
          <a:p>
            <a:pPr indent="0" marL="0">
              <a:buNone/>
            </a:pPr>
            <a:r>
              <a:rPr lang="en-US" sz="1600" b="1" dirty="0">
                <a:solidFill>
                  <a:schemeClr val="tx1"/>
                </a:solidFill>
              </a:rPr>
              <a:t>Confident out-of-scope</a:t>
            </a:r>
            <a:endParaRPr lang="en-US" sz="1400" dirty="0"/>
          </a:p>
          <a:p>
            <a:pPr indent="0" marL="0">
              <a:buNone/>
            </a:pPr>
            <a:r>
              <a:rPr lang="en-US" sz="1400" dirty="0">
                <a:solidFill>
                  <a:schemeClr val="tx1"/>
                </a:solidFill>
              </a:rPr>
              <a:t>Decline politely - no retrieval, no generated answer.</a:t>
            </a:r>
            <a:endParaRPr lang="en-US" sz="1400" dirty="0"/>
          </a:p>
        </p:txBody>
      </p:sp>
      <p:sp>
        <p:nvSpPr>
          <p:cNvPr id="16" name="Shape 14"/>
          <p:cNvSpPr/>
          <p:nvPr/>
        </p:nvSpPr>
        <p:spPr>
          <a:xfrm>
            <a:off x="6309360" y="3986784"/>
            <a:ext cx="5303520" cy="932688"/>
          </a:xfrm>
          <a:prstGeom prst="roundRect">
            <a:avLst>
              <a:gd name="adj" fmla="val 7843"/>
            </a:avLst>
          </a:prstGeom>
          <a:solidFill>
            <a:schemeClr val="bg2"/>
          </a:solidFill>
          <a:ln w="12700">
            <a:solidFill>
              <a:schemeClr val="bg2"/>
            </a:solidFill>
            <a:prstDash val="solid"/>
          </a:ln>
        </p:spPr>
      </p:sp>
      <p:sp>
        <p:nvSpPr>
          <p:cNvPr id="17" name="Shape 15"/>
          <p:cNvSpPr/>
          <p:nvPr/>
        </p:nvSpPr>
        <p:spPr>
          <a:xfrm>
            <a:off x="6492240" y="4197096"/>
            <a:ext cx="512064" cy="512064"/>
          </a:xfrm>
          <a:prstGeom prst="ellipse">
            <a:avLst/>
          </a:prstGeom>
          <a:solidFill>
            <a:schemeClr val="accent2"/>
          </a:solidFill>
          <a:ln w="12700">
            <a:solidFill>
              <a:schemeClr val="accent2"/>
            </a:solidFill>
            <a:prstDash val="solid"/>
          </a:ln>
        </p:spPr>
      </p:sp>
      <p:sp>
        <p:nvSpPr>
          <p:cNvPr id="18" name="Text 16"/>
          <p:cNvSpPr txBox="1"/>
          <p:nvPr/>
        </p:nvSpPr>
        <p:spPr>
          <a:xfrm>
            <a:off x="6492240" y="4197096"/>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Text 17"/>
          <p:cNvSpPr txBox="1"/>
          <p:nvPr/>
        </p:nvSpPr>
        <p:spPr>
          <a:xfrm>
            <a:off x="7178040" y="4078224"/>
            <a:ext cx="4297680" cy="777240"/>
          </a:xfrm>
          <a:prstGeom prst="rect">
            <a:avLst/>
          </a:prstGeom>
          <a:noFill/>
          <a:ln/>
        </p:spPr>
        <p:txBody>
          <a:bodyPr wrap="square" lIns="0" tIns="0" rIns="0" bIns="0" rtlCol="0" anchor="ctr"/>
          <a:lstStyle/>
          <a:p>
            <a:pPr indent="0" marL="0">
              <a:buNone/>
            </a:pPr>
            <a:r>
              <a:rPr lang="en-US" sz="1600" b="1" dirty="0">
                <a:solidFill>
                  <a:schemeClr val="tx1"/>
                </a:solidFill>
              </a:rPr>
              <a:t>Emergency language</a:t>
            </a:r>
            <a:endParaRPr lang="en-US" sz="1400" dirty="0"/>
          </a:p>
          <a:p>
            <a:pPr indent="0" marL="0">
              <a:buNone/>
            </a:pPr>
            <a:r>
              <a:rPr lang="en-US" sz="1400" dirty="0">
                <a:solidFill>
                  <a:schemeClr val="tx1"/>
                </a:solidFill>
              </a:rPr>
              <a:t>Safety always searched; a fixed emergency banner is prepended.</a:t>
            </a:r>
            <a:endParaRPr lang="en-US" sz="1400" dirty="0"/>
          </a:p>
        </p:txBody>
      </p:sp>
      <p:sp>
        <p:nvSpPr>
          <p:cNvPr id="20" name="Shape 18"/>
          <p:cNvSpPr/>
          <p:nvPr/>
        </p:nvSpPr>
        <p:spPr>
          <a:xfrm>
            <a:off x="6309360" y="5065776"/>
            <a:ext cx="5303520" cy="932688"/>
          </a:xfrm>
          <a:prstGeom prst="roundRect">
            <a:avLst>
              <a:gd name="adj" fmla="val 7843"/>
            </a:avLst>
          </a:prstGeom>
          <a:solidFill>
            <a:schemeClr val="bg2"/>
          </a:solidFill>
          <a:ln w="12700">
            <a:solidFill>
              <a:schemeClr val="bg2"/>
            </a:solidFill>
            <a:prstDash val="solid"/>
          </a:ln>
        </p:spPr>
      </p:sp>
      <p:sp>
        <p:nvSpPr>
          <p:cNvPr id="21" name="Shape 19"/>
          <p:cNvSpPr/>
          <p:nvPr/>
        </p:nvSpPr>
        <p:spPr>
          <a:xfrm>
            <a:off x="6492240" y="5276088"/>
            <a:ext cx="512064" cy="512064"/>
          </a:xfrm>
          <a:prstGeom prst="ellipse">
            <a:avLst/>
          </a:prstGeom>
          <a:solidFill>
            <a:schemeClr val="accent3"/>
          </a:solidFill>
          <a:ln w="12700">
            <a:solidFill>
              <a:schemeClr val="accent3"/>
            </a:solidFill>
            <a:prstDash val="solid"/>
          </a:ln>
        </p:spPr>
      </p:sp>
      <p:sp>
        <p:nvSpPr>
          <p:cNvPr id="22" name="Text 20"/>
          <p:cNvSpPr txBox="1"/>
          <p:nvPr/>
        </p:nvSpPr>
        <p:spPr>
          <a:xfrm>
            <a:off x="6492240" y="5276088"/>
            <a:ext cx="512064" cy="512064"/>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Text 21"/>
          <p:cNvSpPr txBox="1"/>
          <p:nvPr/>
        </p:nvSpPr>
        <p:spPr>
          <a:xfrm>
            <a:off x="7178040" y="5157216"/>
            <a:ext cx="4297680" cy="777240"/>
          </a:xfrm>
          <a:prstGeom prst="rect">
            <a:avLst/>
          </a:prstGeom>
          <a:noFill/>
          <a:ln/>
        </p:spPr>
        <p:txBody>
          <a:bodyPr wrap="square" lIns="0" tIns="0" rIns="0" bIns="0" rtlCol="0" anchor="ctr"/>
          <a:lstStyle/>
          <a:p>
            <a:pPr indent="0" marL="0">
              <a:buNone/>
            </a:pPr>
            <a:r>
              <a:rPr lang="en-US" sz="1600" b="1" dirty="0">
                <a:solidFill>
                  <a:schemeClr val="tx1"/>
                </a:solidFill>
              </a:rPr>
              <a:t>Hands-on maintenance</a:t>
            </a:r>
            <a:endParaRPr lang="en-US" sz="1400" dirty="0"/>
          </a:p>
          <a:p>
            <a:pPr indent="0" marL="0">
              <a:buNone/>
            </a:pPr>
            <a:r>
              <a:rPr lang="en-US" sz="1400" dirty="0">
                <a:solidFill>
                  <a:schemeClr val="tx1"/>
                </a:solidFill>
              </a:rPr>
              <a:t>Add a LOTO/PPE-focused safety search that survives grading.</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Extraction and structure-aware chunking</a:t>
            </a:r>
            <a:endParaRPr lang="en-US" sz="3600" dirty="0"/>
          </a:p>
        </p:txBody>
      </p:sp>
      <p:sp>
        <p:nvSpPr>
          <p:cNvPr id="3" name="Text 1"/>
          <p:cNvSpPr txBox="1"/>
          <p:nvPr/>
        </p:nvSpPr>
        <p:spPr>
          <a:xfrm>
            <a:off x="548640" y="1280160"/>
            <a:ext cx="5394960" cy="365760"/>
          </a:xfrm>
          <a:prstGeom prst="rect">
            <a:avLst/>
          </a:prstGeom>
          <a:noFill/>
          <a:ln/>
        </p:spPr>
        <p:txBody>
          <a:bodyPr wrap="square" lIns="0" tIns="0" rIns="0" bIns="0" rtlCol="0" anchor="t"/>
          <a:lstStyle/>
          <a:p>
            <a:pPr indent="0" marL="0">
              <a:buNone/>
            </a:pPr>
            <a:r>
              <a:rPr lang="en-US" sz="1700" b="1" dirty="0">
                <a:solidFill>
                  <a:schemeClr val="accent5"/>
                </a:solidFill>
              </a:rPr>
              <a:t>Extraction: every format becomes Markdown</a:t>
            </a:r>
            <a:endParaRPr lang="en-US" sz="1700" dirty="0"/>
          </a:p>
        </p:txBody>
      </p:sp>
      <p:sp>
        <p:nvSpPr>
          <p:cNvPr id="4" name="Shape 2"/>
          <p:cNvSpPr/>
          <p:nvPr/>
        </p:nvSpPr>
        <p:spPr>
          <a:xfrm>
            <a:off x="548640" y="1737360"/>
            <a:ext cx="5394960" cy="731520"/>
          </a:xfrm>
          <a:prstGeom prst="roundRect">
            <a:avLst>
              <a:gd name="adj" fmla="val 10000"/>
            </a:avLst>
          </a:prstGeom>
          <a:solidFill>
            <a:schemeClr val="bg2"/>
          </a:solidFill>
          <a:ln w="12700">
            <a:solidFill>
              <a:schemeClr val="bg2"/>
            </a:solidFill>
            <a:prstDash val="solid"/>
          </a:ln>
        </p:spPr>
      </p:sp>
      <p:sp>
        <p:nvSpPr>
          <p:cNvPr id="5" name="Text 3"/>
          <p:cNvSpPr txBox="1"/>
          <p:nvPr/>
        </p:nvSpPr>
        <p:spPr>
          <a:xfrm>
            <a:off x="731520" y="1737360"/>
            <a:ext cx="822960" cy="7315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.md</a:t>
            </a:r>
            <a:endParaRPr lang="en-US" sz="1500" dirty="0"/>
          </a:p>
        </p:txBody>
      </p:sp>
      <p:sp>
        <p:nvSpPr>
          <p:cNvPr id="6" name="Text 4"/>
          <p:cNvSpPr txBox="1"/>
          <p:nvPr/>
        </p:nvSpPr>
        <p:spPr>
          <a:xfrm>
            <a:off x="1600200" y="1737360"/>
            <a:ext cx="4206240" cy="731520"/>
          </a:xfrm>
          <a:prstGeom prst="rect">
            <a:avLst/>
          </a:prstGeom>
          <a:noFill/>
          <a:ln/>
        </p:spPr>
        <p:txBody>
          <a:bodyPr wrap="square" lIns="0" tIns="0" rIns="0" bIns="0" rtlCol="0" anchor="ctr"/>
          <a:lstStyle/>
          <a:p>
            <a:pPr indent="0" marL="0">
              <a:buNone/>
            </a:pPr>
            <a:r>
              <a:rPr lang="en-US" sz="1400" dirty="0">
                <a:solidFill>
                  <a:schemeClr val="tx1"/>
                </a:solidFill>
              </a:rPr>
              <a:t>YAML front matter; native headings, pipe tables, lists</a:t>
            </a:r>
            <a:endParaRPr lang="en-US" sz="1400" dirty="0"/>
          </a:p>
        </p:txBody>
      </p:sp>
      <p:sp>
        <p:nvSpPr>
          <p:cNvPr id="7" name="Shape 5"/>
          <p:cNvSpPr/>
          <p:nvPr/>
        </p:nvSpPr>
        <p:spPr>
          <a:xfrm>
            <a:off x="548640" y="2606040"/>
            <a:ext cx="5394960" cy="731520"/>
          </a:xfrm>
          <a:prstGeom prst="roundRect">
            <a:avLst>
              <a:gd name="adj" fmla="val 10000"/>
            </a:avLst>
          </a:prstGeom>
          <a:solidFill>
            <a:schemeClr val="bg2"/>
          </a:solidFill>
          <a:ln w="12700">
            <a:solidFill>
              <a:schemeClr val="bg2"/>
            </a:solidFill>
            <a:prstDash val="solid"/>
          </a:ln>
        </p:spPr>
      </p:sp>
      <p:sp>
        <p:nvSpPr>
          <p:cNvPr id="8" name="Text 6"/>
          <p:cNvSpPr txBox="1"/>
          <p:nvPr/>
        </p:nvSpPr>
        <p:spPr>
          <a:xfrm>
            <a:off x="731520" y="2606040"/>
            <a:ext cx="822960" cy="7315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.docx</a:t>
            </a:r>
            <a:endParaRPr lang="en-US" sz="1500" dirty="0"/>
          </a:p>
        </p:txBody>
      </p:sp>
      <p:sp>
        <p:nvSpPr>
          <p:cNvPr id="9" name="Text 7"/>
          <p:cNvSpPr txBox="1"/>
          <p:nvPr/>
        </p:nvSpPr>
        <p:spPr>
          <a:xfrm>
            <a:off x="1600200" y="2606040"/>
            <a:ext cx="4206240" cy="731520"/>
          </a:xfrm>
          <a:prstGeom prst="rect">
            <a:avLst/>
          </a:prstGeom>
          <a:noFill/>
          <a:ln/>
        </p:spPr>
        <p:txBody>
          <a:bodyPr wrap="square" lIns="0" tIns="0" rIns="0" bIns="0" rtlCol="0" anchor="ctr"/>
          <a:lstStyle/>
          <a:p>
            <a:pPr indent="0" marL="0">
              <a:buNone/>
            </a:pPr>
            <a:r>
              <a:rPr lang="en-US" sz="1400" dirty="0">
                <a:solidFill>
                  <a:schemeClr val="tx1"/>
                </a:solidFill>
              </a:rPr>
              <a:t>Heading styles to #/##/###; tables to Markdown, in body order</a:t>
            </a:r>
            <a:endParaRPr lang="en-US" sz="1400" dirty="0"/>
          </a:p>
        </p:txBody>
      </p:sp>
      <p:sp>
        <p:nvSpPr>
          <p:cNvPr id="10" name="Shape 8"/>
          <p:cNvSpPr/>
          <p:nvPr/>
        </p:nvSpPr>
        <p:spPr>
          <a:xfrm>
            <a:off x="548640" y="3474720"/>
            <a:ext cx="5394960" cy="731520"/>
          </a:xfrm>
          <a:prstGeom prst="roundRect">
            <a:avLst>
              <a:gd name="adj" fmla="val 10000"/>
            </a:avLst>
          </a:prstGeom>
          <a:solidFill>
            <a:schemeClr val="bg2"/>
          </a:solidFill>
          <a:ln w="12700">
            <a:solidFill>
              <a:schemeClr val="bg2"/>
            </a:solidFill>
            <a:prstDash val="solid"/>
          </a:ln>
        </p:spPr>
      </p:sp>
      <p:sp>
        <p:nvSpPr>
          <p:cNvPr id="11" name="Text 9"/>
          <p:cNvSpPr txBox="1"/>
          <p:nvPr/>
        </p:nvSpPr>
        <p:spPr>
          <a:xfrm>
            <a:off x="731520" y="3474720"/>
            <a:ext cx="822960" cy="731520"/>
          </a:xfrm>
          <a:prstGeom prst="rect">
            <a:avLst/>
          </a:prstGeom>
          <a:noFill/>
          <a:ln/>
        </p:spPr>
        <p:txBody>
          <a:bodyPr wrap="square" lIns="0" tIns="0" rIns="0" bIns="0" rtlCol="0" anchor="ctr"/>
          <a:lstStyle/>
          <a:p>
            <a:pPr indent="0" marL="0">
              <a:buNone/>
            </a:pPr>
            <a:r>
              <a:rPr lang="en-US" sz="1500" b="1" dirty="0">
                <a:solidFill>
                  <a:schemeClr val="tx1"/>
                </a:solidFill>
                <a:latin typeface="Courier New" pitchFamily="34" charset="0"/>
                <a:ea typeface="Courier New" pitchFamily="34" charset="-122"/>
                <a:cs typeface="Courier New" pitchFamily="34" charset="-120"/>
              </a:rPr>
              <a:t>.pdf</a:t>
            </a:r>
            <a:endParaRPr lang="en-US" sz="1500" dirty="0"/>
          </a:p>
        </p:txBody>
      </p:sp>
      <p:sp>
        <p:nvSpPr>
          <p:cNvPr id="12" name="Text 10"/>
          <p:cNvSpPr txBox="1"/>
          <p:nvPr/>
        </p:nvSpPr>
        <p:spPr>
          <a:xfrm>
            <a:off x="1600200" y="3474720"/>
            <a:ext cx="4206240" cy="731520"/>
          </a:xfrm>
          <a:prstGeom prst="rect">
            <a:avLst/>
          </a:prstGeom>
          <a:noFill/>
          <a:ln/>
        </p:spPr>
        <p:txBody>
          <a:bodyPr wrap="square" lIns="0" tIns="0" rIns="0" bIns="0" rtlCol="0" anchor="ctr"/>
          <a:lstStyle/>
          <a:p>
            <a:pPr indent="0" marL="0">
              <a:buNone/>
            </a:pPr>
            <a:r>
              <a:rPr lang="en-US" sz="1400" dirty="0">
                <a:solidFill>
                  <a:schemeClr val="tx1"/>
                </a:solidFill>
              </a:rPr>
              <a:t>Font-size headings; tables placed in reading order (pdfplumber)</a:t>
            </a:r>
            <a:endParaRPr lang="en-US" sz="1400" dirty="0"/>
          </a:p>
        </p:txBody>
      </p:sp>
      <p:sp>
        <p:nvSpPr>
          <p:cNvPr id="13" name="Text 11"/>
          <p:cNvSpPr txBox="1"/>
          <p:nvPr/>
        </p:nvSpPr>
        <p:spPr>
          <a:xfrm>
            <a:off x="6309360" y="1280160"/>
            <a:ext cx="5303520" cy="365760"/>
          </a:xfrm>
          <a:prstGeom prst="rect">
            <a:avLst/>
          </a:prstGeom>
          <a:noFill/>
          <a:ln/>
        </p:spPr>
        <p:txBody>
          <a:bodyPr wrap="square" lIns="0" tIns="0" rIns="0" bIns="0" rtlCol="0" anchor="t"/>
          <a:lstStyle/>
          <a:p>
            <a:pPr indent="0" marL="0">
              <a:buNone/>
            </a:pPr>
            <a:r>
              <a:rPr lang="en-US" sz="1700" b="1" dirty="0">
                <a:solidFill>
                  <a:schemeClr val="accent5"/>
                </a:solidFill>
              </a:rPr>
              <a:t>Chunking rules</a:t>
            </a:r>
            <a:endParaRPr lang="en-US" sz="1700" dirty="0"/>
          </a:p>
        </p:txBody>
      </p:sp>
      <p:sp>
        <p:nvSpPr>
          <p:cNvPr id="14" name="Shape 12"/>
          <p:cNvSpPr/>
          <p:nvPr/>
        </p:nvSpPr>
        <p:spPr>
          <a:xfrm>
            <a:off x="6309360" y="1783080"/>
            <a:ext cx="411480" cy="411480"/>
          </a:xfrm>
          <a:prstGeom prst="ellipse">
            <a:avLst/>
          </a:prstGeom>
          <a:solidFill>
            <a:schemeClr val="accent4"/>
          </a:solidFill>
          <a:ln w="12700">
            <a:solidFill>
              <a:schemeClr val="accent4"/>
            </a:solidFill>
            <a:prstDash val="solid"/>
          </a:ln>
        </p:spPr>
      </p:sp>
      <p:sp>
        <p:nvSpPr>
          <p:cNvPr id="15" name="Text 13"/>
          <p:cNvSpPr txBox="1"/>
          <p:nvPr/>
        </p:nvSpPr>
        <p:spPr>
          <a:xfrm>
            <a:off x="6309360" y="1783080"/>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6" name="Text 14"/>
          <p:cNvSpPr txBox="1"/>
          <p:nvPr/>
        </p:nvSpPr>
        <p:spPr>
          <a:xfrm>
            <a:off x="6858000" y="1737360"/>
            <a:ext cx="4754880" cy="621792"/>
          </a:xfrm>
          <a:prstGeom prst="rect">
            <a:avLst/>
          </a:prstGeom>
          <a:noFill/>
          <a:ln/>
        </p:spPr>
        <p:txBody>
          <a:bodyPr wrap="square" lIns="0" tIns="0" rIns="0" bIns="0" rtlCol="0" anchor="t"/>
          <a:lstStyle/>
          <a:p>
            <a:pPr indent="0" marL="0">
              <a:buNone/>
            </a:pPr>
            <a:r>
              <a:rPr lang="en-US" sz="1500" b="1" dirty="0">
                <a:solidFill>
                  <a:schemeClr val="tx1"/>
                </a:solidFill>
              </a:rPr>
              <a:t>Never cross a section</a:t>
            </a:r>
            <a:endParaRPr lang="en-US" sz="1400" dirty="0"/>
          </a:p>
          <a:p>
            <a:pPr indent="0" marL="0">
              <a:buNone/>
            </a:pPr>
            <a:r>
              <a:rPr lang="en-US" sz="1300" dirty="0">
                <a:solidFill>
                  <a:schemeClr val="accent5"/>
                </a:solidFill>
              </a:rPr>
              <a:t>chunk = one heading path, cited as Title &gt; Section</a:t>
            </a:r>
            <a:endParaRPr lang="en-US" sz="1400" dirty="0"/>
          </a:p>
        </p:txBody>
      </p:sp>
      <p:sp>
        <p:nvSpPr>
          <p:cNvPr id="17" name="Shape 15"/>
          <p:cNvSpPr/>
          <p:nvPr/>
        </p:nvSpPr>
        <p:spPr>
          <a:xfrm>
            <a:off x="6309360" y="2441448"/>
            <a:ext cx="411480" cy="411480"/>
          </a:xfrm>
          <a:prstGeom prst="ellipse">
            <a:avLst/>
          </a:prstGeom>
          <a:solidFill>
            <a:schemeClr val="accent4"/>
          </a:solidFill>
          <a:ln w="12700">
            <a:solidFill>
              <a:schemeClr val="accent4"/>
            </a:solidFill>
            <a:prstDash val="solid"/>
          </a:ln>
        </p:spPr>
      </p:sp>
      <p:sp>
        <p:nvSpPr>
          <p:cNvPr id="18" name="Text 16"/>
          <p:cNvSpPr txBox="1"/>
          <p:nvPr/>
        </p:nvSpPr>
        <p:spPr>
          <a:xfrm>
            <a:off x="6309360" y="2441448"/>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19" name="Text 17"/>
          <p:cNvSpPr txBox="1"/>
          <p:nvPr/>
        </p:nvSpPr>
        <p:spPr>
          <a:xfrm>
            <a:off x="6858000" y="2395728"/>
            <a:ext cx="4754880" cy="621792"/>
          </a:xfrm>
          <a:prstGeom prst="rect">
            <a:avLst/>
          </a:prstGeom>
          <a:noFill/>
          <a:ln/>
        </p:spPr>
        <p:txBody>
          <a:bodyPr wrap="square" lIns="0" tIns="0" rIns="0" bIns="0" rtlCol="0" anchor="t"/>
          <a:lstStyle/>
          <a:p>
            <a:pPr indent="0" marL="0">
              <a:buNone/>
            </a:pPr>
            <a:r>
              <a:rPr lang="en-US" sz="1500" b="1" dirty="0">
                <a:solidFill>
                  <a:schemeClr val="tx1"/>
                </a:solidFill>
              </a:rPr>
              <a:t>Never split a table that fits</a:t>
            </a:r>
            <a:endParaRPr lang="en-US" sz="1400" dirty="0"/>
          </a:p>
          <a:p>
            <a:pPr indent="0" marL="0">
              <a:buNone/>
            </a:pPr>
            <a:r>
              <a:rPr lang="en-US" sz="1300" dirty="0">
                <a:solidFill>
                  <a:schemeClr val="accent5"/>
                </a:solidFill>
              </a:rPr>
              <a:t>bigger tables split by rows, header repeated</a:t>
            </a:r>
            <a:endParaRPr lang="en-US" sz="1400" dirty="0"/>
          </a:p>
        </p:txBody>
      </p:sp>
      <p:sp>
        <p:nvSpPr>
          <p:cNvPr id="20" name="Shape 18"/>
          <p:cNvSpPr/>
          <p:nvPr/>
        </p:nvSpPr>
        <p:spPr>
          <a:xfrm>
            <a:off x="6309360" y="3099816"/>
            <a:ext cx="411480" cy="411480"/>
          </a:xfrm>
          <a:prstGeom prst="ellipse">
            <a:avLst/>
          </a:prstGeom>
          <a:solidFill>
            <a:schemeClr val="accent4"/>
          </a:solidFill>
          <a:ln w="12700">
            <a:solidFill>
              <a:schemeClr val="accent4"/>
            </a:solidFill>
            <a:prstDash val="solid"/>
          </a:ln>
        </p:spPr>
      </p:sp>
      <p:sp>
        <p:nvSpPr>
          <p:cNvPr id="21" name="Text 19"/>
          <p:cNvSpPr txBox="1"/>
          <p:nvPr/>
        </p:nvSpPr>
        <p:spPr>
          <a:xfrm>
            <a:off x="6309360" y="3099816"/>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2" name="Text 20"/>
          <p:cNvSpPr txBox="1"/>
          <p:nvPr/>
        </p:nvSpPr>
        <p:spPr>
          <a:xfrm>
            <a:off x="6858000" y="3054096"/>
            <a:ext cx="4754880" cy="621792"/>
          </a:xfrm>
          <a:prstGeom prst="rect">
            <a:avLst/>
          </a:prstGeom>
          <a:noFill/>
          <a:ln/>
        </p:spPr>
        <p:txBody>
          <a:bodyPr wrap="square" lIns="0" tIns="0" rIns="0" bIns="0" rtlCol="0" anchor="t"/>
          <a:lstStyle/>
          <a:p>
            <a:pPr indent="0" marL="0">
              <a:buNone/>
            </a:pPr>
            <a:r>
              <a:rPr lang="en-US" sz="1500" b="1" dirty="0">
                <a:solidFill>
                  <a:schemeClr val="tx1"/>
                </a:solidFill>
              </a:rPr>
              <a:t>Pack a section up to the size</a:t>
            </a:r>
            <a:endParaRPr lang="en-US" sz="1400" dirty="0"/>
          </a:p>
          <a:p>
            <a:pPr indent="0" marL="0">
              <a:buNone/>
            </a:pPr>
            <a:r>
              <a:rPr lang="en-US" sz="1300" dirty="0">
                <a:solidFill>
                  <a:schemeClr val="accent5"/>
                </a:solidFill>
              </a:rPr>
              <a:t>only oversized paragraphs are split, with overlap</a:t>
            </a:r>
            <a:endParaRPr lang="en-US" sz="1400" dirty="0"/>
          </a:p>
        </p:txBody>
      </p:sp>
      <p:sp>
        <p:nvSpPr>
          <p:cNvPr id="23" name="Shape 21"/>
          <p:cNvSpPr/>
          <p:nvPr/>
        </p:nvSpPr>
        <p:spPr>
          <a:xfrm>
            <a:off x="6309360" y="3758184"/>
            <a:ext cx="411480" cy="411480"/>
          </a:xfrm>
          <a:prstGeom prst="ellipse">
            <a:avLst/>
          </a:prstGeom>
          <a:solidFill>
            <a:schemeClr val="accent4"/>
          </a:solidFill>
          <a:ln w="12700">
            <a:solidFill>
              <a:schemeClr val="accent4"/>
            </a:solidFill>
            <a:prstDash val="solid"/>
          </a:ln>
        </p:spPr>
      </p:sp>
      <p:sp>
        <p:nvSpPr>
          <p:cNvPr id="24" name="Text 22"/>
          <p:cNvSpPr txBox="1"/>
          <p:nvPr/>
        </p:nvSpPr>
        <p:spPr>
          <a:xfrm>
            <a:off x="6309360" y="3758184"/>
            <a:ext cx="411480" cy="411480"/>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sp>
        <p:nvSpPr>
          <p:cNvPr id="25" name="Text 23"/>
          <p:cNvSpPr txBox="1"/>
          <p:nvPr/>
        </p:nvSpPr>
        <p:spPr>
          <a:xfrm>
            <a:off x="6858000" y="3712464"/>
            <a:ext cx="4754880" cy="621792"/>
          </a:xfrm>
          <a:prstGeom prst="rect">
            <a:avLst/>
          </a:prstGeom>
          <a:noFill/>
          <a:ln/>
        </p:spPr>
        <p:txBody>
          <a:bodyPr wrap="square" lIns="0" tIns="0" rIns="0" bIns="0" rtlCol="0" anchor="t"/>
          <a:lstStyle/>
          <a:p>
            <a:pPr indent="0" marL="0">
              <a:buNone/>
            </a:pPr>
            <a:r>
              <a:rPr lang="en-US" sz="1500" b="1" dirty="0">
                <a:solidFill>
                  <a:schemeClr val="tx1"/>
                </a:solidFill>
              </a:rPr>
              <a:t>Prefix a contextual header</a:t>
            </a:r>
            <a:endParaRPr lang="en-US" sz="1400" dirty="0"/>
          </a:p>
          <a:p>
            <a:pPr indent="0" marL="0">
              <a:buNone/>
            </a:pPr>
            <a:r>
              <a:rPr lang="en-US" sz="1300" dirty="0">
                <a:solidFill>
                  <a:schemeClr val="accent5"/>
                </a:solidFill>
              </a:rPr>
              <a:t>so a bare table row is findable by 'HP-200 torque'</a:t>
            </a:r>
            <a:endParaRPr lang="en-US" sz="1400" dirty="0"/>
          </a:p>
        </p:txBody>
      </p:sp>
      <p:sp>
        <p:nvSpPr>
          <p:cNvPr id="26" name="Text 24"/>
          <p:cNvSpPr txBox="1"/>
          <p:nvPr/>
        </p:nvSpPr>
        <p:spPr>
          <a:xfrm>
            <a:off x="548640" y="4526280"/>
            <a:ext cx="2651760" cy="731520"/>
          </a:xfrm>
          <a:prstGeom prst="rect">
            <a:avLst/>
          </a:prstGeom>
          <a:noFill/>
          <a:ln/>
        </p:spPr>
        <p:txBody>
          <a:bodyPr wrap="square" lIns="0" tIns="0" rIns="0" bIns="0" rtlCol="0" anchor="t"/>
          <a:lstStyle/>
          <a:p>
            <a:pPr indent="0" marL="0">
              <a:buNone/>
            </a:pPr>
            <a:r>
              <a:rPr lang="en-US" sz="4000" b="1" dirty="0">
                <a:solidFill>
                  <a:schemeClr val="accent4"/>
                </a:solidFill>
                <a:latin typeface="Arial" pitchFamily="34" charset="0"/>
                <a:ea typeface="Arial" pitchFamily="34" charset="-122"/>
                <a:cs typeface="Arial" pitchFamily="34" charset="-120"/>
              </a:rPr>
              <a:t>900</a:t>
            </a:r>
            <a:endParaRPr lang="en-US" sz="4000" dirty="0"/>
          </a:p>
        </p:txBody>
      </p:sp>
      <p:sp>
        <p:nvSpPr>
          <p:cNvPr id="27" name="Text 25"/>
          <p:cNvSpPr txBox="1"/>
          <p:nvPr/>
        </p:nvSpPr>
        <p:spPr>
          <a:xfrm>
            <a:off x="548640" y="5257800"/>
            <a:ext cx="2560320" cy="457200"/>
          </a:xfrm>
          <a:prstGeom prst="rect">
            <a:avLst/>
          </a:prstGeom>
          <a:noFill/>
          <a:ln/>
        </p:spPr>
        <p:txBody>
          <a:bodyPr wrap="square" lIns="0" tIns="0" rIns="0" bIns="0" rtlCol="0" anchor="t"/>
          <a:lstStyle/>
          <a:p>
            <a:pPr indent="0" marL="0">
              <a:buNone/>
            </a:pPr>
            <a:r>
              <a:rPr lang="en-US" sz="1400" dirty="0">
                <a:solidFill>
                  <a:schemeClr val="tx1"/>
                </a:solidFill>
              </a:rPr>
              <a:t>chars per chunk (~225 tokens)</a:t>
            </a:r>
            <a:endParaRPr lang="en-US" sz="1400" dirty="0"/>
          </a:p>
        </p:txBody>
      </p:sp>
      <p:sp>
        <p:nvSpPr>
          <p:cNvPr id="28" name="Text 26"/>
          <p:cNvSpPr txBox="1"/>
          <p:nvPr/>
        </p:nvSpPr>
        <p:spPr>
          <a:xfrm>
            <a:off x="3383280" y="4526280"/>
            <a:ext cx="2651760" cy="731520"/>
          </a:xfrm>
          <a:prstGeom prst="rect">
            <a:avLst/>
          </a:prstGeom>
          <a:noFill/>
          <a:ln/>
        </p:spPr>
        <p:txBody>
          <a:bodyPr wrap="square" lIns="0" tIns="0" rIns="0" bIns="0" rtlCol="0" anchor="t"/>
          <a:lstStyle/>
          <a:p>
            <a:pPr indent="0" marL="0">
              <a:buNone/>
            </a:pPr>
            <a:r>
              <a:rPr lang="en-US" sz="4000" b="1" dirty="0">
                <a:solidFill>
                  <a:schemeClr val="accent4"/>
                </a:solidFill>
                <a:latin typeface="Arial" pitchFamily="34" charset="0"/>
                <a:ea typeface="Arial" pitchFamily="34" charset="-122"/>
                <a:cs typeface="Arial" pitchFamily="34" charset="-120"/>
              </a:rPr>
              <a:t>2,500</a:t>
            </a:r>
            <a:endParaRPr lang="en-US" sz="4000" dirty="0"/>
          </a:p>
        </p:txBody>
      </p:sp>
      <p:sp>
        <p:nvSpPr>
          <p:cNvPr id="29" name="Text 27"/>
          <p:cNvSpPr txBox="1"/>
          <p:nvPr/>
        </p:nvSpPr>
        <p:spPr>
          <a:xfrm>
            <a:off x="3383280" y="5257800"/>
            <a:ext cx="2560320" cy="457200"/>
          </a:xfrm>
          <a:prstGeom prst="rect">
            <a:avLst/>
          </a:prstGeom>
          <a:noFill/>
          <a:ln/>
        </p:spPr>
        <p:txBody>
          <a:bodyPr wrap="square" lIns="0" tIns="0" rIns="0" bIns="0" rtlCol="0" anchor="t"/>
          <a:lstStyle/>
          <a:p>
            <a:pPr indent="0" marL="0">
              <a:buNone/>
            </a:pPr>
            <a:r>
              <a:rPr lang="en-US" sz="1400" dirty="0">
                <a:solidFill>
                  <a:schemeClr val="tx1"/>
                </a:solidFill>
              </a:rPr>
              <a:t>chars: max table kept whole</a:t>
            </a:r>
            <a:endParaRPr lang="en-US" sz="1400" dirty="0"/>
          </a:p>
        </p:txBody>
      </p:sp>
      <p:sp>
        <p:nvSpPr>
          <p:cNvPr id="30" name="Text 28"/>
          <p:cNvSpPr txBox="1"/>
          <p:nvPr/>
        </p:nvSpPr>
        <p:spPr>
          <a:xfrm>
            <a:off x="6217920" y="4526280"/>
            <a:ext cx="2651760" cy="731520"/>
          </a:xfrm>
          <a:prstGeom prst="rect">
            <a:avLst/>
          </a:prstGeom>
          <a:noFill/>
          <a:ln/>
        </p:spPr>
        <p:txBody>
          <a:bodyPr wrap="square" lIns="0" tIns="0" rIns="0" bIns="0" rtlCol="0" anchor="t"/>
          <a:lstStyle/>
          <a:p>
            <a:pPr indent="0" marL="0">
              <a:buNone/>
            </a:pPr>
            <a:r>
              <a:rPr lang="en-US" sz="4000" b="1" dirty="0">
                <a:solidFill>
                  <a:schemeClr val="accent4"/>
                </a:solidFill>
                <a:latin typeface="Arial" pitchFamily="34" charset="0"/>
                <a:ea typeface="Arial" pitchFamily="34" charset="-122"/>
                <a:cs typeface="Arial" pitchFamily="34" charset="-120"/>
              </a:rPr>
              <a:t>120</a:t>
            </a:r>
            <a:endParaRPr lang="en-US" sz="4000" dirty="0"/>
          </a:p>
        </p:txBody>
      </p:sp>
      <p:sp>
        <p:nvSpPr>
          <p:cNvPr id="31" name="Text 29"/>
          <p:cNvSpPr txBox="1"/>
          <p:nvPr/>
        </p:nvSpPr>
        <p:spPr>
          <a:xfrm>
            <a:off x="6217920" y="5257800"/>
            <a:ext cx="2560320" cy="457200"/>
          </a:xfrm>
          <a:prstGeom prst="rect">
            <a:avLst/>
          </a:prstGeom>
          <a:noFill/>
          <a:ln/>
        </p:spPr>
        <p:txBody>
          <a:bodyPr wrap="square" lIns="0" tIns="0" rIns="0" bIns="0" rtlCol="0" anchor="t"/>
          <a:lstStyle/>
          <a:p>
            <a:pPr indent="0" marL="0">
              <a:buNone/>
            </a:pPr>
            <a:r>
              <a:rPr lang="en-US" sz="1400" dirty="0">
                <a:solidFill>
                  <a:schemeClr val="tx1"/>
                </a:solidFill>
              </a:rPr>
              <a:t>chars overlap (long paragraphs)</a:t>
            </a:r>
            <a:endParaRPr lang="en-US" sz="1400" dirty="0"/>
          </a:p>
        </p:txBody>
      </p:sp>
      <p:sp>
        <p:nvSpPr>
          <p:cNvPr id="32" name="Text 30"/>
          <p:cNvSpPr txBox="1"/>
          <p:nvPr/>
        </p:nvSpPr>
        <p:spPr>
          <a:xfrm>
            <a:off x="9052560" y="4526280"/>
            <a:ext cx="2651760" cy="731520"/>
          </a:xfrm>
          <a:prstGeom prst="rect">
            <a:avLst/>
          </a:prstGeom>
          <a:noFill/>
          <a:ln/>
        </p:spPr>
        <p:txBody>
          <a:bodyPr wrap="square" lIns="0" tIns="0" rIns="0" bIns="0" rtlCol="0" anchor="t"/>
          <a:lstStyle/>
          <a:p>
            <a:pPr indent="0" marL="0">
              <a:buNone/>
            </a:pPr>
            <a:r>
              <a:rPr lang="en-US" sz="4000" b="1" dirty="0">
                <a:solidFill>
                  <a:schemeClr val="accent4"/>
                </a:solidFill>
                <a:latin typeface="Arial" pitchFamily="34" charset="0"/>
                <a:ea typeface="Arial" pitchFamily="34" charset="-122"/>
                <a:cs typeface="Arial" pitchFamily="34" charset="-120"/>
              </a:rPr>
              <a:t>71</a:t>
            </a:r>
            <a:endParaRPr lang="en-US" sz="4000" dirty="0"/>
          </a:p>
        </p:txBody>
      </p:sp>
      <p:sp>
        <p:nvSpPr>
          <p:cNvPr id="33" name="Text 31"/>
          <p:cNvSpPr txBox="1"/>
          <p:nvPr/>
        </p:nvSpPr>
        <p:spPr>
          <a:xfrm>
            <a:off x="9052560" y="5257800"/>
            <a:ext cx="2560320" cy="457200"/>
          </a:xfrm>
          <a:prstGeom prst="rect">
            <a:avLst/>
          </a:prstGeom>
          <a:noFill/>
          <a:ln/>
        </p:spPr>
        <p:txBody>
          <a:bodyPr wrap="square" lIns="0" tIns="0" rIns="0" bIns="0" rtlCol="0" anchor="t"/>
          <a:lstStyle/>
          <a:p>
            <a:pPr indent="0" marL="0">
              <a:buNone/>
            </a:pPr>
            <a:r>
              <a:rPr lang="en-US" sz="1400" dirty="0">
                <a:solidFill>
                  <a:schemeClr val="tx1"/>
                </a:solidFill>
              </a:rPr>
              <a:t>chunks, avg 400 chars, 13 docs</a:t>
            </a:r>
            <a:endParaRPr lang="en-US" sz="1400" dirty="0"/>
          </a:p>
        </p:txBody>
      </p:sp>
      <p:sp>
        <p:nvSpPr>
          <p:cNvPr id="34" name="Text 32"/>
          <p:cNvSpPr txBox="1"/>
          <p:nvPr/>
        </p:nvSpPr>
        <p:spPr>
          <a:xfrm>
            <a:off x="548640" y="5760720"/>
            <a:ext cx="11064240" cy="502920"/>
          </a:xfrm>
          <a:prstGeom prst="rect">
            <a:avLst/>
          </a:prstGeom>
          <a:noFill/>
          <a:ln/>
        </p:spPr>
        <p:txBody>
          <a:bodyPr wrap="square" lIns="0" tIns="0" rIns="0" bIns="0" rtlCol="0" anchor="t"/>
          <a:lstStyle/>
          <a:p>
            <a:pPr indent="0" marL="0">
              <a:buNone/>
            </a:pPr>
            <a:r>
              <a:rPr lang="en-US" sz="1200" dirty="0">
                <a:solidFill>
                  <a:schemeClr val="accent5"/>
                </a:solidFill>
              </a:rPr>
              <a:t>Sizes are .env settings; the index stores a fingerprint of model + chunk settings and rebuilds itself when they change. Word and PDF versions of the same document produce identical chunks (tested).</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Hybrid retrieval over per-source indexes</a:t>
            </a:r>
            <a:endParaRPr lang="en-US" sz="3600" dirty="0"/>
          </a:p>
        </p:txBody>
      </p:sp>
      <p:sp>
        <p:nvSpPr>
          <p:cNvPr id="3" name="Text 1"/>
          <p:cNvSpPr txBox="1"/>
          <p:nvPr/>
        </p:nvSpPr>
        <p:spPr>
          <a:xfrm>
            <a:off x="548640" y="1325880"/>
            <a:ext cx="6583680" cy="365760"/>
          </a:xfrm>
          <a:prstGeom prst="rect">
            <a:avLst/>
          </a:prstGeom>
          <a:noFill/>
          <a:ln/>
        </p:spPr>
        <p:txBody>
          <a:bodyPr wrap="square" lIns="0" tIns="0" rIns="0" bIns="0" rtlCol="0" anchor="t"/>
          <a:lstStyle/>
          <a:p>
            <a:pPr indent="0" marL="0">
              <a:buNone/>
            </a:pPr>
            <a:r>
              <a:rPr lang="en-US" sz="1800" b="1" dirty="0">
                <a:solidFill>
                  <a:schemeClr val="accent5"/>
                </a:solidFill>
              </a:rPr>
              <a:t>Query time, per routed source</a:t>
            </a:r>
            <a:endParaRPr lang="en-US" sz="1800" dirty="0"/>
          </a:p>
        </p:txBody>
      </p:sp>
      <p:sp>
        <p:nvSpPr>
          <p:cNvPr id="4" name="Shape 2"/>
          <p:cNvSpPr/>
          <p:nvPr/>
        </p:nvSpPr>
        <p:spPr>
          <a:xfrm>
            <a:off x="548640" y="1920240"/>
            <a:ext cx="502920" cy="502920"/>
          </a:xfrm>
          <a:prstGeom prst="ellipse">
            <a:avLst/>
          </a:prstGeom>
          <a:solidFill>
            <a:schemeClr val="accent6"/>
          </a:solidFill>
          <a:ln w="12700">
            <a:solidFill>
              <a:schemeClr val="accent6"/>
            </a:solidFill>
            <a:prstDash val="solid"/>
          </a:ln>
        </p:spPr>
      </p:sp>
      <p:sp>
        <p:nvSpPr>
          <p:cNvPr id="5" name="Text 3"/>
          <p:cNvSpPr txBox="1"/>
          <p:nvPr/>
        </p:nvSpPr>
        <p:spPr>
          <a:xfrm>
            <a:off x="548640" y="192024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6" name="Text 4"/>
          <p:cNvSpPr txBox="1"/>
          <p:nvPr/>
        </p:nvSpPr>
        <p:spPr>
          <a:xfrm>
            <a:off x="1280160" y="1828800"/>
            <a:ext cx="5760720" cy="868680"/>
          </a:xfrm>
          <a:prstGeom prst="rect">
            <a:avLst/>
          </a:prstGeom>
          <a:noFill/>
          <a:ln/>
        </p:spPr>
        <p:txBody>
          <a:bodyPr wrap="square" lIns="0" tIns="0" rIns="0" bIns="0" rtlCol="0" anchor="t"/>
          <a:lstStyle/>
          <a:p>
            <a:pPr indent="0" marL="0">
              <a:buNone/>
            </a:pPr>
            <a:r>
              <a:rPr lang="en-US" sz="1600" b="1" dirty="0">
                <a:solidFill>
                  <a:schemeClr val="tx1"/>
                </a:solidFill>
              </a:rPr>
              <a:t>Vector search</a:t>
            </a:r>
            <a:endParaRPr lang="en-US" sz="1400" dirty="0"/>
          </a:p>
          <a:p>
            <a:pPr indent="0" marL="0">
              <a:buNone/>
            </a:pPr>
            <a:r>
              <a:rPr lang="en-US" sz="1400" dirty="0">
                <a:solidFill>
                  <a:schemeClr val="accent5"/>
                </a:solidFill>
              </a:rPr>
              <a:t>Chroma cosine similarity (nomic-embed-text or Titan v2)</a:t>
            </a:r>
            <a:endParaRPr lang="en-US" sz="1400" dirty="0"/>
          </a:p>
        </p:txBody>
      </p:sp>
      <p:sp>
        <p:nvSpPr>
          <p:cNvPr id="7" name="Shape 5"/>
          <p:cNvSpPr/>
          <p:nvPr/>
        </p:nvSpPr>
        <p:spPr>
          <a:xfrm>
            <a:off x="548640" y="2907792"/>
            <a:ext cx="502920" cy="502920"/>
          </a:xfrm>
          <a:prstGeom prst="ellipse">
            <a:avLst/>
          </a:prstGeom>
          <a:solidFill>
            <a:schemeClr val="accent6"/>
          </a:solidFill>
          <a:ln w="12700">
            <a:solidFill>
              <a:schemeClr val="accent6"/>
            </a:solidFill>
            <a:prstDash val="solid"/>
          </a:ln>
        </p:spPr>
      </p:sp>
      <p:sp>
        <p:nvSpPr>
          <p:cNvPr id="8" name="Text 6"/>
          <p:cNvSpPr txBox="1"/>
          <p:nvPr/>
        </p:nvSpPr>
        <p:spPr>
          <a:xfrm>
            <a:off x="548640" y="2907792"/>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280160" y="2816352"/>
            <a:ext cx="5760720" cy="868680"/>
          </a:xfrm>
          <a:prstGeom prst="rect">
            <a:avLst/>
          </a:prstGeom>
          <a:noFill/>
          <a:ln/>
        </p:spPr>
        <p:txBody>
          <a:bodyPr wrap="square" lIns="0" tIns="0" rIns="0" bIns="0" rtlCol="0" anchor="t"/>
          <a:lstStyle/>
          <a:p>
            <a:pPr indent="0" marL="0">
              <a:buNone/>
            </a:pPr>
            <a:r>
              <a:rPr lang="en-US" sz="1600" b="1" dirty="0">
                <a:solidFill>
                  <a:schemeClr val="tx1"/>
                </a:solidFill>
              </a:rPr>
              <a:t>BM25 keyword search</a:t>
            </a:r>
            <a:endParaRPr lang="en-US" sz="1400" dirty="0"/>
          </a:p>
          <a:p>
            <a:pPr indent="0" marL="0">
              <a:buNone/>
            </a:pPr>
            <a:r>
              <a:rPr lang="en-US" sz="1400" dirty="0">
                <a:solidFill>
                  <a:schemeClr val="accent5"/>
                </a:solidFill>
              </a:rPr>
              <a:t>Exact plant vocabulary: part numbers, alarm codes, 'gland retainer'</a:t>
            </a:r>
            <a:endParaRPr lang="en-US" sz="1400" dirty="0"/>
          </a:p>
        </p:txBody>
      </p:sp>
      <p:sp>
        <p:nvSpPr>
          <p:cNvPr id="10" name="Shape 8"/>
          <p:cNvSpPr/>
          <p:nvPr/>
        </p:nvSpPr>
        <p:spPr>
          <a:xfrm>
            <a:off x="548640" y="3895344"/>
            <a:ext cx="502920" cy="502920"/>
          </a:xfrm>
          <a:prstGeom prst="ellipse">
            <a:avLst/>
          </a:prstGeom>
          <a:solidFill>
            <a:schemeClr val="accent6"/>
          </a:solidFill>
          <a:ln w="12700">
            <a:solidFill>
              <a:schemeClr val="accent6"/>
            </a:solidFill>
            <a:prstDash val="solid"/>
          </a:ln>
        </p:spPr>
      </p:sp>
      <p:sp>
        <p:nvSpPr>
          <p:cNvPr id="11" name="Text 9"/>
          <p:cNvSpPr txBox="1"/>
          <p:nvPr/>
        </p:nvSpPr>
        <p:spPr>
          <a:xfrm>
            <a:off x="548640" y="3895344"/>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2" name="Text 10"/>
          <p:cNvSpPr txBox="1"/>
          <p:nvPr/>
        </p:nvSpPr>
        <p:spPr>
          <a:xfrm>
            <a:off x="1280160" y="3803904"/>
            <a:ext cx="5760720" cy="868680"/>
          </a:xfrm>
          <a:prstGeom prst="rect">
            <a:avLst/>
          </a:prstGeom>
          <a:noFill/>
          <a:ln/>
        </p:spPr>
        <p:txBody>
          <a:bodyPr wrap="square" lIns="0" tIns="0" rIns="0" bIns="0" rtlCol="0" anchor="t"/>
          <a:lstStyle/>
          <a:p>
            <a:pPr indent="0" marL="0">
              <a:buNone/>
            </a:pPr>
            <a:r>
              <a:rPr lang="en-US" sz="1600" b="1" dirty="0">
                <a:solidFill>
                  <a:schemeClr val="tx1"/>
                </a:solidFill>
              </a:rPr>
              <a:t>Reciprocal rank fusion</a:t>
            </a:r>
            <a:endParaRPr lang="en-US" sz="1400" dirty="0"/>
          </a:p>
          <a:p>
            <a:pPr indent="0" marL="0">
              <a:buNone/>
            </a:pPr>
            <a:r>
              <a:rPr lang="en-US" sz="1400" dirty="0">
                <a:solidFill>
                  <a:schemeClr val="accent5"/>
                </a:solidFill>
              </a:rPr>
              <a:t>Merge both rankings; keep cosine as the absolute relevance signal</a:t>
            </a:r>
            <a:endParaRPr lang="en-US" sz="1400" dirty="0"/>
          </a:p>
        </p:txBody>
      </p:sp>
      <p:sp>
        <p:nvSpPr>
          <p:cNvPr id="13" name="Shape 11"/>
          <p:cNvSpPr/>
          <p:nvPr/>
        </p:nvSpPr>
        <p:spPr>
          <a:xfrm>
            <a:off x="548640" y="4882896"/>
            <a:ext cx="502920" cy="502920"/>
          </a:xfrm>
          <a:prstGeom prst="ellipse">
            <a:avLst/>
          </a:prstGeom>
          <a:solidFill>
            <a:schemeClr val="accent6"/>
          </a:solidFill>
          <a:ln w="12700">
            <a:solidFill>
              <a:schemeClr val="accent6"/>
            </a:solidFill>
            <a:prstDash val="solid"/>
          </a:ln>
        </p:spPr>
      </p:sp>
      <p:sp>
        <p:nvSpPr>
          <p:cNvPr id="14" name="Text 12"/>
          <p:cNvSpPr txBox="1"/>
          <p:nvPr/>
        </p:nvSpPr>
        <p:spPr>
          <a:xfrm>
            <a:off x="548640" y="4882896"/>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5" name="Text 13"/>
          <p:cNvSpPr txBox="1"/>
          <p:nvPr/>
        </p:nvSpPr>
        <p:spPr>
          <a:xfrm>
            <a:off x="1280160" y="4791456"/>
            <a:ext cx="5760720" cy="868680"/>
          </a:xfrm>
          <a:prstGeom prst="rect">
            <a:avLst/>
          </a:prstGeom>
          <a:noFill/>
          <a:ln/>
        </p:spPr>
        <p:txBody>
          <a:bodyPr wrap="square" lIns="0" tIns="0" rIns="0" bIns="0" rtlCol="0" anchor="t"/>
          <a:lstStyle/>
          <a:p>
            <a:pPr indent="0" marL="0">
              <a:buNone/>
            </a:pPr>
            <a:r>
              <a:rPr lang="en-US" sz="1600" b="1" dirty="0">
                <a:solidFill>
                  <a:schemeClr val="tx1"/>
                </a:solidFill>
              </a:rPr>
              <a:t>Relevance gate + interleave</a:t>
            </a:r>
            <a:endParaRPr lang="en-US" sz="1400" dirty="0"/>
          </a:p>
          <a:p>
            <a:pPr indent="0" marL="0">
              <a:buNone/>
            </a:pPr>
            <a:r>
              <a:rPr lang="en-US" sz="1400" dirty="0">
                <a:solidFill>
                  <a:schemeClr val="accent5"/>
                </a:solidFill>
              </a:rPr>
              <a:t>Drop chunks below 0.55; interleave sources, max 6 excerpts</a:t>
            </a:r>
            <a:endParaRPr lang="en-US" sz="1400" dirty="0"/>
          </a:p>
        </p:txBody>
      </p:sp>
      <p:sp>
        <p:nvSpPr>
          <p:cNvPr id="16" name="Shape 14"/>
          <p:cNvSpPr/>
          <p:nvPr/>
        </p:nvSpPr>
        <p:spPr>
          <a:xfrm>
            <a:off x="7498080" y="1371600"/>
            <a:ext cx="4114800" cy="4480560"/>
          </a:xfrm>
          <a:prstGeom prst="roundRect">
            <a:avLst>
              <a:gd name="adj" fmla="val 1778"/>
            </a:avLst>
          </a:prstGeom>
          <a:solidFill>
            <a:schemeClr val="bg2"/>
          </a:solidFill>
          <a:ln w="12700">
            <a:solidFill>
              <a:schemeClr val="bg2"/>
            </a:solidFill>
            <a:prstDash val="solid"/>
          </a:ln>
        </p:spPr>
      </p:sp>
      <p:sp>
        <p:nvSpPr>
          <p:cNvPr id="17" name="Text 15"/>
          <p:cNvSpPr txBox="1"/>
          <p:nvPr/>
        </p:nvSpPr>
        <p:spPr>
          <a:xfrm>
            <a:off x="7726680" y="1554480"/>
            <a:ext cx="3657600" cy="365760"/>
          </a:xfrm>
          <a:prstGeom prst="rect">
            <a:avLst/>
          </a:prstGeom>
          <a:noFill/>
          <a:ln/>
        </p:spPr>
        <p:txBody>
          <a:bodyPr wrap="square" lIns="0" tIns="0" rIns="0" bIns="0" rtlCol="0" anchor="t"/>
          <a:lstStyle/>
          <a:p>
            <a:pPr indent="0" marL="0">
              <a:buNone/>
            </a:pPr>
            <a:r>
              <a:rPr lang="en-US" sz="1600" b="1" dirty="0">
                <a:solidFill>
                  <a:schemeClr val="tx1"/>
                </a:solidFill>
              </a:rPr>
              <a:t>Why hybrid: measured on our corpus</a:t>
            </a:r>
            <a:endParaRPr lang="en-US" sz="1600" dirty="0"/>
          </a:p>
        </p:txBody>
      </p:sp>
      <p:sp>
        <p:nvSpPr>
          <p:cNvPr id="18" name="Text 16"/>
          <p:cNvSpPr txBox="1"/>
          <p:nvPr/>
        </p:nvSpPr>
        <p:spPr>
          <a:xfrm>
            <a:off x="7726680" y="2011680"/>
            <a:ext cx="3657600" cy="640080"/>
          </a:xfrm>
          <a:prstGeom prst="rect">
            <a:avLst/>
          </a:prstGeom>
          <a:noFill/>
          <a:ln/>
        </p:spPr>
        <p:txBody>
          <a:bodyPr wrap="square" lIns="0" tIns="0" rIns="0" bIns="0" rtlCol="0" anchor="t"/>
          <a:lstStyle/>
          <a:p>
            <a:pPr indent="0" marL="0">
              <a:buNone/>
            </a:pPr>
            <a:r>
              <a:rPr lang="en-US" sz="1400" i="1" dirty="0">
                <a:solidFill>
                  <a:schemeClr val="tx1"/>
                </a:solidFill>
              </a:rPr>
              <a:t>Query: "What is the torque for the gland retainer bolts?"</a:t>
            </a:r>
            <a:endParaRPr lang="en-US" sz="1400" dirty="0"/>
          </a:p>
        </p:txBody>
      </p:sp>
      <p:sp>
        <p:nvSpPr>
          <p:cNvPr id="19" name="Text 17"/>
          <p:cNvSpPr txBox="1"/>
          <p:nvPr/>
        </p:nvSpPr>
        <p:spPr>
          <a:xfrm>
            <a:off x="7726680" y="2788920"/>
            <a:ext cx="3657600" cy="274320"/>
          </a:xfrm>
          <a:prstGeom prst="rect">
            <a:avLst/>
          </a:prstGeom>
          <a:noFill/>
          <a:ln/>
        </p:spPr>
        <p:txBody>
          <a:bodyPr wrap="square" lIns="0" tIns="0" rIns="0" bIns="0" rtlCol="0" anchor="t"/>
          <a:lstStyle/>
          <a:p>
            <a:pPr indent="0" marL="0">
              <a:buNone/>
            </a:pPr>
            <a:r>
              <a:rPr lang="en-US" sz="1400" b="1" dirty="0">
                <a:solidFill>
                  <a:schemeClr val="accent5"/>
                </a:solidFill>
              </a:rPr>
              <a:t>Vector only</a:t>
            </a:r>
            <a:endParaRPr lang="en-US" sz="1400" dirty="0"/>
          </a:p>
        </p:txBody>
      </p:sp>
      <p:sp>
        <p:nvSpPr>
          <p:cNvPr id="20" name="Text 18"/>
          <p:cNvSpPr txBox="1"/>
          <p:nvPr/>
        </p:nvSpPr>
        <p:spPr>
          <a:xfrm>
            <a:off x="7726680" y="3063240"/>
            <a:ext cx="3657600" cy="731520"/>
          </a:xfrm>
          <a:prstGeom prst="rect">
            <a:avLst/>
          </a:prstGeom>
          <a:noFill/>
          <a:ln/>
        </p:spPr>
        <p:txBody>
          <a:bodyPr wrap="square" lIns="0" tIns="0" rIns="0" bIns="0" rtlCol="0" anchor="ctr"/>
          <a:lstStyle/>
          <a:p>
            <a:pPr indent="0" marL="0">
              <a:buNone/>
            </a:pPr>
            <a:r>
              <a:rPr lang="en-US" sz="4000" b="1" dirty="0">
                <a:solidFill>
                  <a:schemeClr val="accent2"/>
                </a:solidFill>
              </a:rPr>
              <a:t>#2</a:t>
            </a:r>
            <a:pPr indent="0" marL="0">
              <a:buNone/>
            </a:pPr>
            <a:r>
              <a:rPr lang="en-US" sz="1400" dirty="0">
                <a:solidFill>
                  <a:schemeClr val="tx1"/>
                </a:solidFill>
              </a:rPr>
              <a:t>   behind 'Belt Tension'</a:t>
            </a:r>
            <a:endParaRPr lang="en-US" sz="1400" dirty="0"/>
          </a:p>
        </p:txBody>
      </p:sp>
      <p:sp>
        <p:nvSpPr>
          <p:cNvPr id="21" name="Text 19"/>
          <p:cNvSpPr txBox="1"/>
          <p:nvPr/>
        </p:nvSpPr>
        <p:spPr>
          <a:xfrm>
            <a:off x="7726680" y="3931920"/>
            <a:ext cx="3657600" cy="274320"/>
          </a:xfrm>
          <a:prstGeom prst="rect">
            <a:avLst/>
          </a:prstGeom>
          <a:noFill/>
          <a:ln/>
        </p:spPr>
        <p:txBody>
          <a:bodyPr wrap="square" lIns="0" tIns="0" rIns="0" bIns="0" rtlCol="0" anchor="t"/>
          <a:lstStyle/>
          <a:p>
            <a:pPr indent="0" marL="0">
              <a:buNone/>
            </a:pPr>
            <a:r>
              <a:rPr lang="en-US" sz="1400" b="1" dirty="0">
                <a:solidFill>
                  <a:schemeClr val="accent5"/>
                </a:solidFill>
              </a:rPr>
              <a:t>Hybrid (vector + BM25)</a:t>
            </a:r>
            <a:endParaRPr lang="en-US" sz="1400" dirty="0"/>
          </a:p>
        </p:txBody>
      </p:sp>
      <p:sp>
        <p:nvSpPr>
          <p:cNvPr id="22" name="Text 20"/>
          <p:cNvSpPr txBox="1"/>
          <p:nvPr/>
        </p:nvSpPr>
        <p:spPr>
          <a:xfrm>
            <a:off x="7726680" y="4206240"/>
            <a:ext cx="3657600" cy="731520"/>
          </a:xfrm>
          <a:prstGeom prst="rect">
            <a:avLst/>
          </a:prstGeom>
          <a:noFill/>
          <a:ln/>
        </p:spPr>
        <p:txBody>
          <a:bodyPr wrap="square" lIns="0" tIns="0" rIns="0" bIns="0" rtlCol="0" anchor="ctr"/>
          <a:lstStyle/>
          <a:p>
            <a:pPr indent="0" marL="0">
              <a:buNone/>
            </a:pPr>
            <a:r>
              <a:rPr lang="en-US" sz="4000" b="1" dirty="0">
                <a:solidFill>
                  <a:schemeClr val="accent4"/>
                </a:solidFill>
              </a:rPr>
              <a:t>#1</a:t>
            </a:r>
            <a:pPr indent="0" marL="0">
              <a:buNone/>
            </a:pPr>
            <a:r>
              <a:rPr lang="en-US" sz="1400" dirty="0">
                <a:solidFill>
                  <a:schemeClr val="tx1"/>
                </a:solidFill>
              </a:rPr>
              <a:t>   HP-200 seal procedure</a:t>
            </a:r>
            <a:endParaRPr lang="en-US" sz="1400" dirty="0"/>
          </a:p>
        </p:txBody>
      </p:sp>
      <p:sp>
        <p:nvSpPr>
          <p:cNvPr id="23" name="Text 21"/>
          <p:cNvSpPr txBox="1"/>
          <p:nvPr/>
        </p:nvSpPr>
        <p:spPr>
          <a:xfrm>
            <a:off x="7726680" y="4983480"/>
            <a:ext cx="3657600" cy="777240"/>
          </a:xfrm>
          <a:prstGeom prst="rect">
            <a:avLst/>
          </a:prstGeom>
          <a:noFill/>
          <a:ln/>
        </p:spPr>
        <p:txBody>
          <a:bodyPr wrap="square" lIns="0" tIns="0" rIns="0" bIns="0" rtlCol="0" anchor="t"/>
          <a:lstStyle/>
          <a:p>
            <a:pPr indent="0" marL="0">
              <a:buNone/>
            </a:pPr>
            <a:r>
              <a:rPr lang="en-US" sz="1300" dirty="0">
                <a:solidFill>
                  <a:schemeClr val="accent5"/>
                </a:solidFill>
              </a:rPr>
              <a:t>Off-topic queries score below 0.50 everywhere, so the gate also detects 'not in the docs'.</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Code map: one responsibility per module</a:t>
            </a:r>
            <a:endParaRPr lang="en-US" sz="3600" dirty="0"/>
          </a:p>
        </p:txBody>
      </p:sp>
      <p:sp>
        <p:nvSpPr>
          <p:cNvPr id="3" name="Shape 1"/>
          <p:cNvSpPr/>
          <p:nvPr/>
        </p:nvSpPr>
        <p:spPr>
          <a:xfrm>
            <a:off x="548640" y="1325880"/>
            <a:ext cx="2103120" cy="457200"/>
          </a:xfrm>
          <a:prstGeom prst="roundRect">
            <a:avLst>
              <a:gd name="adj" fmla="val 12000"/>
            </a:avLst>
          </a:prstGeom>
          <a:solidFill>
            <a:schemeClr val="accent1"/>
          </a:solidFill>
          <a:ln w="12700">
            <a:solidFill>
              <a:schemeClr val="accent1"/>
            </a:solidFill>
            <a:prstDash val="solid"/>
          </a:ln>
        </p:spPr>
      </p:sp>
      <p:sp>
        <p:nvSpPr>
          <p:cNvPr id="4" name="Text 2"/>
          <p:cNvSpPr txBox="1"/>
          <p:nvPr/>
        </p:nvSpPr>
        <p:spPr>
          <a:xfrm>
            <a:off x="548640" y="132588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Config and models</a:t>
            </a:r>
            <a:endParaRPr lang="en-US" sz="1400" dirty="0"/>
          </a:p>
        </p:txBody>
      </p:sp>
      <p:sp>
        <p:nvSpPr>
          <p:cNvPr id="5" name="Shape 3"/>
          <p:cNvSpPr/>
          <p:nvPr/>
        </p:nvSpPr>
        <p:spPr>
          <a:xfrm>
            <a:off x="548640" y="1920240"/>
            <a:ext cx="2103120" cy="822960"/>
          </a:xfrm>
          <a:prstGeom prst="roundRect">
            <a:avLst>
              <a:gd name="adj" fmla="val 8889"/>
            </a:avLst>
          </a:prstGeom>
          <a:solidFill>
            <a:schemeClr val="bg2"/>
          </a:solidFill>
          <a:ln w="12700">
            <a:solidFill>
              <a:schemeClr val="bg2"/>
            </a:solidFill>
            <a:prstDash val="solid"/>
          </a:ln>
        </p:spPr>
      </p:sp>
      <p:sp>
        <p:nvSpPr>
          <p:cNvPr id="6" name="Text 4"/>
          <p:cNvSpPr txBox="1"/>
          <p:nvPr/>
        </p:nvSpPr>
        <p:spPr>
          <a:xfrm>
            <a:off x="685800" y="192024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config.py</a:t>
            </a:r>
            <a:endParaRPr lang="en-US" sz="1400" dirty="0"/>
          </a:p>
          <a:p>
            <a:pPr indent="0" marL="0">
              <a:buNone/>
            </a:pPr>
            <a:r>
              <a:rPr lang="en-US" sz="1300" dirty="0">
                <a:solidFill>
                  <a:schemeClr val="accent5"/>
                </a:solidFill>
              </a:rPr>
              <a:t>settings from .env</a:t>
            </a:r>
            <a:endParaRPr lang="en-US" sz="1400" dirty="0"/>
          </a:p>
        </p:txBody>
      </p:sp>
      <p:sp>
        <p:nvSpPr>
          <p:cNvPr id="7" name="Shape 5"/>
          <p:cNvSpPr/>
          <p:nvPr/>
        </p:nvSpPr>
        <p:spPr>
          <a:xfrm>
            <a:off x="548640" y="2880360"/>
            <a:ext cx="2103120" cy="822960"/>
          </a:xfrm>
          <a:prstGeom prst="roundRect">
            <a:avLst>
              <a:gd name="adj" fmla="val 8889"/>
            </a:avLst>
          </a:prstGeom>
          <a:solidFill>
            <a:schemeClr val="bg2"/>
          </a:solidFill>
          <a:ln w="12700">
            <a:solidFill>
              <a:schemeClr val="bg2"/>
            </a:solidFill>
            <a:prstDash val="solid"/>
          </a:ln>
        </p:spPr>
      </p:sp>
      <p:sp>
        <p:nvSpPr>
          <p:cNvPr id="8" name="Text 6"/>
          <p:cNvSpPr txBox="1"/>
          <p:nvPr/>
        </p:nvSpPr>
        <p:spPr>
          <a:xfrm>
            <a:off x="685800" y="288036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llm.py</a:t>
            </a:r>
            <a:endParaRPr lang="en-US" sz="1400" dirty="0"/>
          </a:p>
          <a:p>
            <a:pPr indent="0" marL="0">
              <a:buNone/>
            </a:pPr>
            <a:r>
              <a:rPr lang="en-US" sz="1300" dirty="0">
                <a:solidFill>
                  <a:schemeClr val="accent5"/>
                </a:solidFill>
              </a:rPr>
              <a:t>Ollama / Bedrock factories</a:t>
            </a:r>
            <a:endParaRPr lang="en-US" sz="1400" dirty="0"/>
          </a:p>
        </p:txBody>
      </p:sp>
      <p:sp>
        <p:nvSpPr>
          <p:cNvPr id="9" name="Shape 7"/>
          <p:cNvSpPr/>
          <p:nvPr/>
        </p:nvSpPr>
        <p:spPr>
          <a:xfrm>
            <a:off x="548640" y="3840480"/>
            <a:ext cx="2103120" cy="822960"/>
          </a:xfrm>
          <a:prstGeom prst="roundRect">
            <a:avLst>
              <a:gd name="adj" fmla="val 8889"/>
            </a:avLst>
          </a:prstGeom>
          <a:solidFill>
            <a:schemeClr val="bg2"/>
          </a:solidFill>
          <a:ln w="12700">
            <a:solidFill>
              <a:schemeClr val="bg2"/>
            </a:solidFill>
            <a:prstDash val="solid"/>
          </a:ln>
        </p:spPr>
      </p:sp>
      <p:sp>
        <p:nvSpPr>
          <p:cNvPr id="10" name="Text 8"/>
          <p:cNvSpPr txBox="1"/>
          <p:nvPr/>
        </p:nvSpPr>
        <p:spPr>
          <a:xfrm>
            <a:off x="685800" y="384048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sources.py</a:t>
            </a:r>
            <a:endParaRPr lang="en-US" sz="1400" dirty="0"/>
          </a:p>
          <a:p>
            <a:pPr indent="0" marL="0">
              <a:buNone/>
            </a:pPr>
            <a:r>
              <a:rPr lang="en-US" sz="1300" dirty="0">
                <a:solidFill>
                  <a:schemeClr val="accent5"/>
                </a:solidFill>
              </a:rPr>
              <a:t>source registry</a:t>
            </a:r>
            <a:endParaRPr lang="en-US" sz="1400" dirty="0"/>
          </a:p>
        </p:txBody>
      </p:sp>
      <p:sp>
        <p:nvSpPr>
          <p:cNvPr id="11" name="Shape 9"/>
          <p:cNvSpPr/>
          <p:nvPr/>
        </p:nvSpPr>
        <p:spPr>
          <a:xfrm>
            <a:off x="2807208" y="1325880"/>
            <a:ext cx="2103120" cy="457200"/>
          </a:xfrm>
          <a:prstGeom prst="roundRect">
            <a:avLst>
              <a:gd name="adj" fmla="val 12000"/>
            </a:avLst>
          </a:prstGeom>
          <a:solidFill>
            <a:schemeClr val="accent4"/>
          </a:solidFill>
          <a:ln w="12700">
            <a:solidFill>
              <a:schemeClr val="accent4"/>
            </a:solidFill>
            <a:prstDash val="solid"/>
          </a:ln>
        </p:spPr>
      </p:sp>
      <p:sp>
        <p:nvSpPr>
          <p:cNvPr id="12" name="Text 10"/>
          <p:cNvSpPr txBox="1"/>
          <p:nvPr/>
        </p:nvSpPr>
        <p:spPr>
          <a:xfrm>
            <a:off x="2807208" y="132588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Knowledge</a:t>
            </a:r>
            <a:endParaRPr lang="en-US" sz="1400" dirty="0"/>
          </a:p>
        </p:txBody>
      </p:sp>
      <p:sp>
        <p:nvSpPr>
          <p:cNvPr id="13" name="Shape 11"/>
          <p:cNvSpPr/>
          <p:nvPr/>
        </p:nvSpPr>
        <p:spPr>
          <a:xfrm>
            <a:off x="2807208" y="1920240"/>
            <a:ext cx="2103120" cy="822960"/>
          </a:xfrm>
          <a:prstGeom prst="roundRect">
            <a:avLst>
              <a:gd name="adj" fmla="val 8889"/>
            </a:avLst>
          </a:prstGeom>
          <a:solidFill>
            <a:schemeClr val="bg2"/>
          </a:solidFill>
          <a:ln w="12700">
            <a:solidFill>
              <a:schemeClr val="bg2"/>
            </a:solidFill>
            <a:prstDash val="solid"/>
          </a:ln>
        </p:spPr>
      </p:sp>
      <p:sp>
        <p:nvSpPr>
          <p:cNvPr id="14" name="Text 12"/>
          <p:cNvSpPr txBox="1"/>
          <p:nvPr/>
        </p:nvSpPr>
        <p:spPr>
          <a:xfrm>
            <a:off x="2944368" y="192024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loaders.py</a:t>
            </a:r>
            <a:endParaRPr lang="en-US" sz="1400" dirty="0"/>
          </a:p>
          <a:p>
            <a:pPr indent="0" marL="0">
              <a:buNone/>
            </a:pPr>
            <a:r>
              <a:rPr lang="en-US" sz="1300" dirty="0">
                <a:solidFill>
                  <a:schemeClr val="accent5"/>
                </a:solidFill>
              </a:rPr>
              <a:t>md, docx, pdf -&gt; Markdown</a:t>
            </a:r>
            <a:endParaRPr lang="en-US" sz="1400" dirty="0"/>
          </a:p>
        </p:txBody>
      </p:sp>
      <p:sp>
        <p:nvSpPr>
          <p:cNvPr id="15" name="Shape 13"/>
          <p:cNvSpPr/>
          <p:nvPr/>
        </p:nvSpPr>
        <p:spPr>
          <a:xfrm>
            <a:off x="2807208" y="2880360"/>
            <a:ext cx="2103120" cy="822960"/>
          </a:xfrm>
          <a:prstGeom prst="roundRect">
            <a:avLst>
              <a:gd name="adj" fmla="val 8889"/>
            </a:avLst>
          </a:prstGeom>
          <a:solidFill>
            <a:schemeClr val="bg2"/>
          </a:solidFill>
          <a:ln w="12700">
            <a:solidFill>
              <a:schemeClr val="bg2"/>
            </a:solidFill>
            <a:prstDash val="solid"/>
          </a:ln>
        </p:spPr>
      </p:sp>
      <p:sp>
        <p:nvSpPr>
          <p:cNvPr id="16" name="Text 14"/>
          <p:cNvSpPr txBox="1"/>
          <p:nvPr/>
        </p:nvSpPr>
        <p:spPr>
          <a:xfrm>
            <a:off x="2944368" y="288036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chunking.py</a:t>
            </a:r>
            <a:endParaRPr lang="en-US" sz="1400" dirty="0"/>
          </a:p>
          <a:p>
            <a:pPr indent="0" marL="0">
              <a:buNone/>
            </a:pPr>
            <a:r>
              <a:rPr lang="en-US" sz="1300" dirty="0">
                <a:solidFill>
                  <a:schemeClr val="accent5"/>
                </a:solidFill>
              </a:rPr>
              <a:t>sections + whole tables</a:t>
            </a:r>
            <a:endParaRPr lang="en-US" sz="1400" dirty="0"/>
          </a:p>
        </p:txBody>
      </p:sp>
      <p:sp>
        <p:nvSpPr>
          <p:cNvPr id="17" name="Shape 15"/>
          <p:cNvSpPr/>
          <p:nvPr/>
        </p:nvSpPr>
        <p:spPr>
          <a:xfrm>
            <a:off x="2807208" y="3840480"/>
            <a:ext cx="2103120" cy="822960"/>
          </a:xfrm>
          <a:prstGeom prst="roundRect">
            <a:avLst>
              <a:gd name="adj" fmla="val 8889"/>
            </a:avLst>
          </a:prstGeom>
          <a:solidFill>
            <a:schemeClr val="bg2"/>
          </a:solidFill>
          <a:ln w="12700">
            <a:solidFill>
              <a:schemeClr val="bg2"/>
            </a:solidFill>
            <a:prstDash val="solid"/>
          </a:ln>
        </p:spPr>
      </p:sp>
      <p:sp>
        <p:nvSpPr>
          <p:cNvPr id="18" name="Text 16"/>
          <p:cNvSpPr txBox="1"/>
          <p:nvPr/>
        </p:nvSpPr>
        <p:spPr>
          <a:xfrm>
            <a:off x="2944368" y="384048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ingest.py</a:t>
            </a:r>
            <a:endParaRPr lang="en-US" sz="1400" dirty="0"/>
          </a:p>
          <a:p>
            <a:pPr indent="0" marL="0">
              <a:buNone/>
            </a:pPr>
            <a:r>
              <a:rPr lang="en-US" sz="1300" dirty="0">
                <a:solidFill>
                  <a:schemeClr val="accent5"/>
                </a:solidFill>
              </a:rPr>
              <a:t>index per source</a:t>
            </a:r>
            <a:endParaRPr lang="en-US" sz="1400" dirty="0"/>
          </a:p>
        </p:txBody>
      </p:sp>
      <p:sp>
        <p:nvSpPr>
          <p:cNvPr id="19" name="Shape 17"/>
          <p:cNvSpPr/>
          <p:nvPr/>
        </p:nvSpPr>
        <p:spPr>
          <a:xfrm>
            <a:off x="2807208" y="4800600"/>
            <a:ext cx="2103120" cy="822960"/>
          </a:xfrm>
          <a:prstGeom prst="roundRect">
            <a:avLst>
              <a:gd name="adj" fmla="val 8889"/>
            </a:avLst>
          </a:prstGeom>
          <a:solidFill>
            <a:schemeClr val="bg2"/>
          </a:solidFill>
          <a:ln w="12700">
            <a:solidFill>
              <a:schemeClr val="bg2"/>
            </a:solidFill>
            <a:prstDash val="solid"/>
          </a:ln>
        </p:spPr>
      </p:sp>
      <p:sp>
        <p:nvSpPr>
          <p:cNvPr id="20" name="Text 18"/>
          <p:cNvSpPr txBox="1"/>
          <p:nvPr/>
        </p:nvSpPr>
        <p:spPr>
          <a:xfrm>
            <a:off x="2944368" y="480060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retrieval.py</a:t>
            </a:r>
            <a:endParaRPr lang="en-US" sz="1400" dirty="0"/>
          </a:p>
          <a:p>
            <a:pPr indent="0" marL="0">
              <a:buNone/>
            </a:pPr>
            <a:r>
              <a:rPr lang="en-US" sz="1300" dirty="0">
                <a:solidFill>
                  <a:schemeClr val="accent5"/>
                </a:solidFill>
              </a:rPr>
              <a:t>hybrid BM25 + vector</a:t>
            </a:r>
            <a:endParaRPr lang="en-US" sz="1400" dirty="0"/>
          </a:p>
        </p:txBody>
      </p:sp>
      <p:sp>
        <p:nvSpPr>
          <p:cNvPr id="21" name="Shape 19"/>
          <p:cNvSpPr/>
          <p:nvPr/>
        </p:nvSpPr>
        <p:spPr>
          <a:xfrm>
            <a:off x="5065776" y="1325880"/>
            <a:ext cx="2103120" cy="457200"/>
          </a:xfrm>
          <a:prstGeom prst="roundRect">
            <a:avLst>
              <a:gd name="adj" fmla="val 12000"/>
            </a:avLst>
          </a:prstGeom>
          <a:solidFill>
            <a:schemeClr val="accent6"/>
          </a:solidFill>
          <a:ln w="12700">
            <a:solidFill>
              <a:schemeClr val="accent6"/>
            </a:solidFill>
            <a:prstDash val="solid"/>
          </a:ln>
        </p:spPr>
      </p:sp>
      <p:sp>
        <p:nvSpPr>
          <p:cNvPr id="22" name="Text 20"/>
          <p:cNvSpPr txBox="1"/>
          <p:nvPr/>
        </p:nvSpPr>
        <p:spPr>
          <a:xfrm>
            <a:off x="5065776" y="132588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Orchestration</a:t>
            </a:r>
            <a:endParaRPr lang="en-US" sz="1400" dirty="0"/>
          </a:p>
        </p:txBody>
      </p:sp>
      <p:sp>
        <p:nvSpPr>
          <p:cNvPr id="23" name="Shape 21"/>
          <p:cNvSpPr/>
          <p:nvPr/>
        </p:nvSpPr>
        <p:spPr>
          <a:xfrm>
            <a:off x="5065776" y="1920240"/>
            <a:ext cx="2103120" cy="822960"/>
          </a:xfrm>
          <a:prstGeom prst="roundRect">
            <a:avLst>
              <a:gd name="adj" fmla="val 8889"/>
            </a:avLst>
          </a:prstGeom>
          <a:solidFill>
            <a:schemeClr val="bg2"/>
          </a:solidFill>
          <a:ln w="12700">
            <a:solidFill>
              <a:schemeClr val="bg2"/>
            </a:solidFill>
            <a:prstDash val="solid"/>
          </a:ln>
        </p:spPr>
      </p:sp>
      <p:sp>
        <p:nvSpPr>
          <p:cNvPr id="24" name="Text 22"/>
          <p:cNvSpPr txBox="1"/>
          <p:nvPr/>
        </p:nvSpPr>
        <p:spPr>
          <a:xfrm>
            <a:off x="5202936" y="192024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router.py</a:t>
            </a:r>
            <a:endParaRPr lang="en-US" sz="1400" dirty="0"/>
          </a:p>
          <a:p>
            <a:pPr indent="0" marL="0">
              <a:buNone/>
            </a:pPr>
            <a:r>
              <a:rPr lang="en-US" sz="1300" dirty="0">
                <a:solidFill>
                  <a:schemeClr val="accent5"/>
                </a:solidFill>
              </a:rPr>
              <a:t>RouteDecision + policy</a:t>
            </a:r>
            <a:endParaRPr lang="en-US" sz="1400" dirty="0"/>
          </a:p>
        </p:txBody>
      </p:sp>
      <p:sp>
        <p:nvSpPr>
          <p:cNvPr id="25" name="Shape 23"/>
          <p:cNvSpPr/>
          <p:nvPr/>
        </p:nvSpPr>
        <p:spPr>
          <a:xfrm>
            <a:off x="5065776" y="2880360"/>
            <a:ext cx="2103120" cy="822960"/>
          </a:xfrm>
          <a:prstGeom prst="roundRect">
            <a:avLst>
              <a:gd name="adj" fmla="val 8889"/>
            </a:avLst>
          </a:prstGeom>
          <a:solidFill>
            <a:schemeClr val="bg2"/>
          </a:solidFill>
          <a:ln w="12700">
            <a:solidFill>
              <a:schemeClr val="bg2"/>
            </a:solidFill>
            <a:prstDash val="solid"/>
          </a:ln>
        </p:spPr>
      </p:sp>
      <p:sp>
        <p:nvSpPr>
          <p:cNvPr id="26" name="Text 24"/>
          <p:cNvSpPr txBox="1"/>
          <p:nvPr/>
        </p:nvSpPr>
        <p:spPr>
          <a:xfrm>
            <a:off x="5202936" y="288036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guardrails.py</a:t>
            </a:r>
            <a:endParaRPr lang="en-US" sz="1400" dirty="0"/>
          </a:p>
          <a:p>
            <a:pPr indent="0" marL="0">
              <a:buNone/>
            </a:pPr>
            <a:r>
              <a:rPr lang="en-US" sz="1300" dirty="0">
                <a:solidFill>
                  <a:schemeClr val="accent5"/>
                </a:solidFill>
              </a:rPr>
              <a:t>input + output rules</a:t>
            </a:r>
            <a:endParaRPr lang="en-US" sz="1400" dirty="0"/>
          </a:p>
        </p:txBody>
      </p:sp>
      <p:sp>
        <p:nvSpPr>
          <p:cNvPr id="27" name="Shape 25"/>
          <p:cNvSpPr/>
          <p:nvPr/>
        </p:nvSpPr>
        <p:spPr>
          <a:xfrm>
            <a:off x="5065776" y="3840480"/>
            <a:ext cx="2103120" cy="822960"/>
          </a:xfrm>
          <a:prstGeom prst="roundRect">
            <a:avLst>
              <a:gd name="adj" fmla="val 8889"/>
            </a:avLst>
          </a:prstGeom>
          <a:solidFill>
            <a:schemeClr val="bg2"/>
          </a:solidFill>
          <a:ln w="12700">
            <a:solidFill>
              <a:schemeClr val="bg2"/>
            </a:solidFill>
            <a:prstDash val="solid"/>
          </a:ln>
        </p:spPr>
      </p:sp>
      <p:sp>
        <p:nvSpPr>
          <p:cNvPr id="28" name="Text 26"/>
          <p:cNvSpPr txBox="1"/>
          <p:nvPr/>
        </p:nvSpPr>
        <p:spPr>
          <a:xfrm>
            <a:off x="5202936" y="384048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nodes.py</a:t>
            </a:r>
            <a:endParaRPr lang="en-US" sz="1400" dirty="0"/>
          </a:p>
          <a:p>
            <a:pPr indent="0" marL="0">
              <a:buNone/>
            </a:pPr>
            <a:r>
              <a:rPr lang="en-US" sz="1300" dirty="0">
                <a:solidFill>
                  <a:schemeClr val="accent5"/>
                </a:solidFill>
              </a:rPr>
              <a:t>11 node functions</a:t>
            </a:r>
            <a:endParaRPr lang="en-US" sz="1400" dirty="0"/>
          </a:p>
        </p:txBody>
      </p:sp>
      <p:sp>
        <p:nvSpPr>
          <p:cNvPr id="29" name="Shape 27"/>
          <p:cNvSpPr/>
          <p:nvPr/>
        </p:nvSpPr>
        <p:spPr>
          <a:xfrm>
            <a:off x="5065776" y="4800600"/>
            <a:ext cx="2103120" cy="822960"/>
          </a:xfrm>
          <a:prstGeom prst="roundRect">
            <a:avLst>
              <a:gd name="adj" fmla="val 8889"/>
            </a:avLst>
          </a:prstGeom>
          <a:solidFill>
            <a:schemeClr val="bg2"/>
          </a:solidFill>
          <a:ln w="12700">
            <a:solidFill>
              <a:schemeClr val="bg2"/>
            </a:solidFill>
            <a:prstDash val="solid"/>
          </a:ln>
        </p:spPr>
      </p:sp>
      <p:sp>
        <p:nvSpPr>
          <p:cNvPr id="30" name="Text 28"/>
          <p:cNvSpPr txBox="1"/>
          <p:nvPr/>
        </p:nvSpPr>
        <p:spPr>
          <a:xfrm>
            <a:off x="5202936" y="480060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graph.py / state.py</a:t>
            </a:r>
            <a:endParaRPr lang="en-US" sz="1400" dirty="0"/>
          </a:p>
          <a:p>
            <a:pPr indent="0" marL="0">
              <a:buNone/>
            </a:pPr>
            <a:r>
              <a:rPr lang="en-US" sz="1300" dirty="0">
                <a:solidFill>
                  <a:schemeClr val="accent5"/>
                </a:solidFill>
              </a:rPr>
              <a:t>wiring + reducers</a:t>
            </a:r>
            <a:endParaRPr lang="en-US" sz="1400" dirty="0"/>
          </a:p>
        </p:txBody>
      </p:sp>
      <p:sp>
        <p:nvSpPr>
          <p:cNvPr id="31" name="Shape 29"/>
          <p:cNvSpPr/>
          <p:nvPr/>
        </p:nvSpPr>
        <p:spPr>
          <a:xfrm>
            <a:off x="7324344" y="1325880"/>
            <a:ext cx="2103120" cy="457200"/>
          </a:xfrm>
          <a:prstGeom prst="roundRect">
            <a:avLst>
              <a:gd name="adj" fmla="val 12000"/>
            </a:avLst>
          </a:prstGeom>
          <a:solidFill>
            <a:schemeClr val="accent3"/>
          </a:solidFill>
          <a:ln w="12700">
            <a:solidFill>
              <a:schemeClr val="accent3"/>
            </a:solidFill>
            <a:prstDash val="solid"/>
          </a:ln>
        </p:spPr>
      </p:sp>
      <p:sp>
        <p:nvSpPr>
          <p:cNvPr id="32" name="Text 30"/>
          <p:cNvSpPr txBox="1"/>
          <p:nvPr/>
        </p:nvSpPr>
        <p:spPr>
          <a:xfrm>
            <a:off x="7324344" y="132588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Interfaces</a:t>
            </a:r>
            <a:endParaRPr lang="en-US" sz="1400" dirty="0"/>
          </a:p>
        </p:txBody>
      </p:sp>
      <p:sp>
        <p:nvSpPr>
          <p:cNvPr id="33" name="Shape 31"/>
          <p:cNvSpPr/>
          <p:nvPr/>
        </p:nvSpPr>
        <p:spPr>
          <a:xfrm>
            <a:off x="7324344" y="1920240"/>
            <a:ext cx="2103120" cy="822960"/>
          </a:xfrm>
          <a:prstGeom prst="roundRect">
            <a:avLst>
              <a:gd name="adj" fmla="val 8889"/>
            </a:avLst>
          </a:prstGeom>
          <a:solidFill>
            <a:schemeClr val="bg2"/>
          </a:solidFill>
          <a:ln w="12700">
            <a:solidFill>
              <a:schemeClr val="bg2"/>
            </a:solidFill>
            <a:prstDash val="solid"/>
          </a:ln>
        </p:spPr>
      </p:sp>
      <p:sp>
        <p:nvSpPr>
          <p:cNvPr id="34" name="Text 32"/>
          <p:cNvSpPr txBox="1"/>
          <p:nvPr/>
        </p:nvSpPr>
        <p:spPr>
          <a:xfrm>
            <a:off x="7461504" y="192024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service.py</a:t>
            </a:r>
            <a:endParaRPr lang="en-US" sz="1400" dirty="0"/>
          </a:p>
          <a:p>
            <a:pPr indent="0" marL="0">
              <a:buNone/>
            </a:pPr>
            <a:r>
              <a:rPr lang="en-US" sz="1300" dirty="0">
                <a:solidFill>
                  <a:schemeClr val="accent5"/>
                </a:solidFill>
              </a:rPr>
              <a:t>ask() for all callers</a:t>
            </a:r>
            <a:endParaRPr lang="en-US" sz="1400" dirty="0"/>
          </a:p>
        </p:txBody>
      </p:sp>
      <p:sp>
        <p:nvSpPr>
          <p:cNvPr id="35" name="Shape 33"/>
          <p:cNvSpPr/>
          <p:nvPr/>
        </p:nvSpPr>
        <p:spPr>
          <a:xfrm>
            <a:off x="7324344" y="2880360"/>
            <a:ext cx="2103120" cy="822960"/>
          </a:xfrm>
          <a:prstGeom prst="roundRect">
            <a:avLst>
              <a:gd name="adj" fmla="val 8889"/>
            </a:avLst>
          </a:prstGeom>
          <a:solidFill>
            <a:schemeClr val="bg2"/>
          </a:solidFill>
          <a:ln w="12700">
            <a:solidFill>
              <a:schemeClr val="bg2"/>
            </a:solidFill>
            <a:prstDash val="solid"/>
          </a:ln>
        </p:spPr>
      </p:sp>
      <p:sp>
        <p:nvSpPr>
          <p:cNvPr id="36" name="Text 34"/>
          <p:cNvSpPr txBox="1"/>
          <p:nvPr/>
        </p:nvSpPr>
        <p:spPr>
          <a:xfrm>
            <a:off x="7461504" y="288036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cli.py / api.py</a:t>
            </a:r>
            <a:endParaRPr lang="en-US" sz="1400" dirty="0"/>
          </a:p>
          <a:p>
            <a:pPr indent="0" marL="0">
              <a:buNone/>
            </a:pPr>
            <a:r>
              <a:rPr lang="en-US" sz="1300" dirty="0">
                <a:solidFill>
                  <a:schemeClr val="accent5"/>
                </a:solidFill>
              </a:rPr>
              <a:t>terminal and REST</a:t>
            </a:r>
            <a:endParaRPr lang="en-US" sz="1400" dirty="0"/>
          </a:p>
        </p:txBody>
      </p:sp>
      <p:sp>
        <p:nvSpPr>
          <p:cNvPr id="37" name="Shape 35"/>
          <p:cNvSpPr/>
          <p:nvPr/>
        </p:nvSpPr>
        <p:spPr>
          <a:xfrm>
            <a:off x="7324344" y="3840480"/>
            <a:ext cx="2103120" cy="822960"/>
          </a:xfrm>
          <a:prstGeom prst="roundRect">
            <a:avLst>
              <a:gd name="adj" fmla="val 8889"/>
            </a:avLst>
          </a:prstGeom>
          <a:solidFill>
            <a:schemeClr val="bg2"/>
          </a:solidFill>
          <a:ln w="12700">
            <a:solidFill>
              <a:schemeClr val="bg2"/>
            </a:solidFill>
            <a:prstDash val="solid"/>
          </a:ln>
        </p:spPr>
      </p:sp>
      <p:sp>
        <p:nvSpPr>
          <p:cNvPr id="38" name="Text 36"/>
          <p:cNvSpPr txBox="1"/>
          <p:nvPr/>
        </p:nvSpPr>
        <p:spPr>
          <a:xfrm>
            <a:off x="7461504" y="384048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streamlit_app.py</a:t>
            </a:r>
            <a:endParaRPr lang="en-US" sz="1400" dirty="0"/>
          </a:p>
          <a:p>
            <a:pPr indent="0" marL="0">
              <a:buNone/>
            </a:pPr>
            <a:r>
              <a:rPr lang="en-US" sz="1300" dirty="0">
                <a:solidFill>
                  <a:schemeClr val="accent5"/>
                </a:solidFill>
              </a:rPr>
              <a:t>supervisor UI</a:t>
            </a:r>
            <a:endParaRPr lang="en-US" sz="1400" dirty="0"/>
          </a:p>
        </p:txBody>
      </p:sp>
      <p:sp>
        <p:nvSpPr>
          <p:cNvPr id="39" name="Shape 37"/>
          <p:cNvSpPr/>
          <p:nvPr/>
        </p:nvSpPr>
        <p:spPr>
          <a:xfrm>
            <a:off x="7324344" y="4800600"/>
            <a:ext cx="2103120" cy="822960"/>
          </a:xfrm>
          <a:prstGeom prst="roundRect">
            <a:avLst>
              <a:gd name="adj" fmla="val 8889"/>
            </a:avLst>
          </a:prstGeom>
          <a:solidFill>
            <a:schemeClr val="bg2"/>
          </a:solidFill>
          <a:ln w="12700">
            <a:solidFill>
              <a:schemeClr val="bg2"/>
            </a:solidFill>
            <a:prstDash val="solid"/>
          </a:ln>
        </p:spPr>
      </p:sp>
      <p:sp>
        <p:nvSpPr>
          <p:cNvPr id="40" name="Text 38"/>
          <p:cNvSpPr txBox="1"/>
          <p:nvPr/>
        </p:nvSpPr>
        <p:spPr>
          <a:xfrm>
            <a:off x="7461504" y="480060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agentcore_app.py</a:t>
            </a:r>
            <a:endParaRPr lang="en-US" sz="1400" dirty="0"/>
          </a:p>
          <a:p>
            <a:pPr indent="0" marL="0">
              <a:buNone/>
            </a:pPr>
            <a:r>
              <a:rPr lang="en-US" sz="1300" dirty="0">
                <a:solidFill>
                  <a:schemeClr val="accent5"/>
                </a:solidFill>
              </a:rPr>
              <a:t>AWS runtime</a:t>
            </a:r>
            <a:endParaRPr lang="en-US" sz="1400" dirty="0"/>
          </a:p>
        </p:txBody>
      </p:sp>
      <p:sp>
        <p:nvSpPr>
          <p:cNvPr id="41" name="Shape 39"/>
          <p:cNvSpPr/>
          <p:nvPr/>
        </p:nvSpPr>
        <p:spPr>
          <a:xfrm>
            <a:off x="9582912" y="1325880"/>
            <a:ext cx="2103120" cy="457200"/>
          </a:xfrm>
          <a:prstGeom prst="roundRect">
            <a:avLst>
              <a:gd name="adj" fmla="val 12000"/>
            </a:avLst>
          </a:prstGeom>
          <a:solidFill>
            <a:schemeClr val="accent2"/>
          </a:solidFill>
          <a:ln w="12700">
            <a:solidFill>
              <a:schemeClr val="accent2"/>
            </a:solidFill>
            <a:prstDash val="solid"/>
          </a:ln>
        </p:spPr>
      </p:sp>
      <p:sp>
        <p:nvSpPr>
          <p:cNvPr id="42" name="Text 40"/>
          <p:cNvSpPr txBox="1"/>
          <p:nvPr/>
        </p:nvSpPr>
        <p:spPr>
          <a:xfrm>
            <a:off x="9582912" y="132588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Quality and ops</a:t>
            </a:r>
            <a:endParaRPr lang="en-US" sz="1400" dirty="0"/>
          </a:p>
        </p:txBody>
      </p:sp>
      <p:sp>
        <p:nvSpPr>
          <p:cNvPr id="43" name="Shape 41"/>
          <p:cNvSpPr/>
          <p:nvPr/>
        </p:nvSpPr>
        <p:spPr>
          <a:xfrm>
            <a:off x="9582912" y="1920240"/>
            <a:ext cx="2103120" cy="822960"/>
          </a:xfrm>
          <a:prstGeom prst="roundRect">
            <a:avLst>
              <a:gd name="adj" fmla="val 8889"/>
            </a:avLst>
          </a:prstGeom>
          <a:solidFill>
            <a:schemeClr val="bg2"/>
          </a:solidFill>
          <a:ln w="12700">
            <a:solidFill>
              <a:schemeClr val="bg2"/>
            </a:solidFill>
            <a:prstDash val="solid"/>
          </a:ln>
        </p:spPr>
      </p:sp>
      <p:sp>
        <p:nvSpPr>
          <p:cNvPr id="44" name="Text 42"/>
          <p:cNvSpPr txBox="1"/>
          <p:nvPr/>
        </p:nvSpPr>
        <p:spPr>
          <a:xfrm>
            <a:off x="9720072" y="192024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observability.py</a:t>
            </a:r>
            <a:endParaRPr lang="en-US" sz="1400" dirty="0"/>
          </a:p>
          <a:p>
            <a:pPr indent="0" marL="0">
              <a:buNone/>
            </a:pPr>
            <a:r>
              <a:rPr lang="en-US" sz="1300" dirty="0">
                <a:solidFill>
                  <a:schemeClr val="accent5"/>
                </a:solidFill>
              </a:rPr>
              <a:t>LangSmith + audit log</a:t>
            </a:r>
            <a:endParaRPr lang="en-US" sz="1400" dirty="0"/>
          </a:p>
        </p:txBody>
      </p:sp>
      <p:sp>
        <p:nvSpPr>
          <p:cNvPr id="45" name="Shape 43"/>
          <p:cNvSpPr/>
          <p:nvPr/>
        </p:nvSpPr>
        <p:spPr>
          <a:xfrm>
            <a:off x="9582912" y="2880360"/>
            <a:ext cx="2103120" cy="822960"/>
          </a:xfrm>
          <a:prstGeom prst="roundRect">
            <a:avLst>
              <a:gd name="adj" fmla="val 8889"/>
            </a:avLst>
          </a:prstGeom>
          <a:solidFill>
            <a:schemeClr val="bg2"/>
          </a:solidFill>
          <a:ln w="12700">
            <a:solidFill>
              <a:schemeClr val="bg2"/>
            </a:solidFill>
            <a:prstDash val="solid"/>
          </a:ln>
        </p:spPr>
      </p:sp>
      <p:sp>
        <p:nvSpPr>
          <p:cNvPr id="46" name="Text 44"/>
          <p:cNvSpPr txBox="1"/>
          <p:nvPr/>
        </p:nvSpPr>
        <p:spPr>
          <a:xfrm>
            <a:off x="9720072" y="288036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tests/</a:t>
            </a:r>
            <a:endParaRPr lang="en-US" sz="1400" dirty="0"/>
          </a:p>
          <a:p>
            <a:pPr indent="0" marL="0">
              <a:buNone/>
            </a:pPr>
            <a:r>
              <a:rPr lang="en-US" sz="1300" dirty="0">
                <a:solidFill>
                  <a:schemeClr val="accent5"/>
                </a:solidFill>
              </a:rPr>
              <a:t>44 unit + 3 integration</a:t>
            </a:r>
            <a:endParaRPr lang="en-US" sz="1400" dirty="0"/>
          </a:p>
        </p:txBody>
      </p:sp>
      <p:sp>
        <p:nvSpPr>
          <p:cNvPr id="47" name="Shape 45"/>
          <p:cNvSpPr/>
          <p:nvPr/>
        </p:nvSpPr>
        <p:spPr>
          <a:xfrm>
            <a:off x="9582912" y="3840480"/>
            <a:ext cx="2103120" cy="822960"/>
          </a:xfrm>
          <a:prstGeom prst="roundRect">
            <a:avLst>
              <a:gd name="adj" fmla="val 8889"/>
            </a:avLst>
          </a:prstGeom>
          <a:solidFill>
            <a:schemeClr val="bg2"/>
          </a:solidFill>
          <a:ln w="12700">
            <a:solidFill>
              <a:schemeClr val="bg2"/>
            </a:solidFill>
            <a:prstDash val="solid"/>
          </a:ln>
        </p:spPr>
      </p:sp>
      <p:sp>
        <p:nvSpPr>
          <p:cNvPr id="48" name="Text 46"/>
          <p:cNvSpPr txBox="1"/>
          <p:nvPr/>
        </p:nvSpPr>
        <p:spPr>
          <a:xfrm>
            <a:off x="9720072" y="3840480"/>
            <a:ext cx="1874520" cy="822960"/>
          </a:xfrm>
          <a:prstGeom prst="rect">
            <a:avLst/>
          </a:prstGeom>
          <a:noFill/>
          <a:ln/>
        </p:spPr>
        <p:txBody>
          <a:bodyPr wrap="square" lIns="0" tIns="0" rIns="0" bIns="0" rtlCol="0" anchor="ctr"/>
          <a:lstStyle/>
          <a:p>
            <a:pPr indent="0" marL="0">
              <a:buNone/>
            </a:pPr>
            <a:r>
              <a:rPr lang="en-US" sz="1300" b="1" dirty="0">
                <a:solidFill>
                  <a:schemeClr val="tx1"/>
                </a:solidFill>
                <a:latin typeface="Courier New" pitchFamily="34" charset="0"/>
                <a:ea typeface="Courier New" pitchFamily="34" charset="-122"/>
                <a:cs typeface="Courier New" pitchFamily="34" charset="-120"/>
              </a:rPr>
              <a:t>eval/</a:t>
            </a:r>
            <a:endParaRPr lang="en-US" sz="1400" dirty="0"/>
          </a:p>
          <a:p>
            <a:pPr indent="0" marL="0">
              <a:buNone/>
            </a:pPr>
            <a:r>
              <a:rPr lang="en-US" sz="1300" dirty="0">
                <a:solidFill>
                  <a:schemeClr val="accent5"/>
                </a:solidFill>
              </a:rPr>
              <a:t>routing, answers, guardrails</a:t>
            </a:r>
            <a:endParaRPr lang="en-US" sz="1400" dirty="0"/>
          </a:p>
        </p:txBody>
      </p:sp>
      <p:sp>
        <p:nvSpPr>
          <p:cNvPr id="49" name="Text 47"/>
          <p:cNvSpPr txBox="1"/>
          <p:nvPr/>
        </p:nvSpPr>
        <p:spPr>
          <a:xfrm>
            <a:off x="548640" y="5806440"/>
            <a:ext cx="11064240" cy="548640"/>
          </a:xfrm>
          <a:prstGeom prst="rect">
            <a:avLst/>
          </a:prstGeom>
          <a:noFill/>
          <a:ln/>
        </p:spPr>
        <p:txBody>
          <a:bodyPr wrap="square" lIns="0" tIns="0" rIns="0" bIns="0" rtlCol="0" anchor="t"/>
          <a:lstStyle/>
          <a:p>
            <a:pPr indent="0" marL="0">
              <a:buNone/>
            </a:pPr>
            <a:r>
              <a:rPr lang="en-US" sz="1400" dirty="0">
                <a:solidFill>
                  <a:schemeClr val="tx1"/>
                </a:solidFill>
              </a:rPr>
              <a:t>Read in this order: sources.py -&gt; router.py -&gt; nodes.py -&gt; graph.py -&gt; service.py. Everything a node needs (LLM, retrievers, settings) is injected, so tests swap in fakes.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Code: wiring the graph (graph.py)</a:t>
            </a:r>
            <a:endParaRPr lang="en-US" sz="3600" dirty="0"/>
          </a:p>
        </p:txBody>
      </p:sp>
      <p:sp>
        <p:nvSpPr>
          <p:cNvPr id="3" name="Shape 1"/>
          <p:cNvSpPr/>
          <p:nvPr/>
        </p:nvSpPr>
        <p:spPr>
          <a:xfrm>
            <a:off x="548640" y="1325880"/>
            <a:ext cx="6675120" cy="4206240"/>
          </a:xfrm>
          <a:prstGeom prst="roundRect">
            <a:avLst>
              <a:gd name="adj" fmla="val 1739"/>
            </a:avLst>
          </a:prstGeom>
          <a:solidFill>
            <a:schemeClr val="tx2"/>
          </a:solidFill>
          <a:ln w="12700">
            <a:solidFill>
              <a:schemeClr val="tx2"/>
            </a:solidFill>
            <a:prstDash val="solid"/>
          </a:ln>
        </p:spPr>
      </p:sp>
      <p:sp>
        <p:nvSpPr>
          <p:cNvPr id="4" name="Text 2"/>
          <p:cNvSpPr txBox="1"/>
          <p:nvPr/>
        </p:nvSpPr>
        <p:spPr>
          <a:xfrm>
            <a:off x="777240" y="1508760"/>
            <a:ext cx="6217920" cy="384048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g = StateGraph(GraphState)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g.add_node("route_question", n.route_question)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g.add_node("retrieve", n.retrieve)          # ... 10 nodes</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g.add_conditional_edges("route_question",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n.dispatch, ["retrieve", "out_of_scope"])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g.add_edge("retrieve", "grade_documents")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g.add_conditional_edges("grade_documents",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n.decide_after_grading,</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["generate", "rewrite_query", "no_answer"])</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g.add_edge("rewrite_query", "route_question")</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def dispatch(state):                 # nodes.py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targets = state.get("targets") or []</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if not targets:</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"out_of_scope"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[Send("retrieve", RetrieveTask(**t))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for t in targets]</a:t>
            </a:r>
            <a:endParaRPr lang="en-US" sz="1300" dirty="0"/>
          </a:p>
        </p:txBody>
      </p:sp>
      <p:sp>
        <p:nvSpPr>
          <p:cNvPr id="5" name="Shape 3"/>
          <p:cNvSpPr/>
          <p:nvPr/>
        </p:nvSpPr>
        <p:spPr>
          <a:xfrm>
            <a:off x="7543800" y="1371600"/>
            <a:ext cx="457200" cy="457200"/>
          </a:xfrm>
          <a:prstGeom prst="ellipse">
            <a:avLst/>
          </a:prstGeom>
          <a:solidFill>
            <a:schemeClr val="accent6"/>
          </a:solidFill>
          <a:ln w="12700">
            <a:solidFill>
              <a:schemeClr val="accent6"/>
            </a:solidFill>
            <a:prstDash val="solid"/>
          </a:ln>
        </p:spPr>
      </p:sp>
      <p:sp>
        <p:nvSpPr>
          <p:cNvPr id="6" name="Text 4"/>
          <p:cNvSpPr txBox="1"/>
          <p:nvPr/>
        </p:nvSpPr>
        <p:spPr>
          <a:xfrm>
            <a:off x="7543800"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8138160" y="1325880"/>
            <a:ext cx="3474720" cy="1417320"/>
          </a:xfrm>
          <a:prstGeom prst="rect">
            <a:avLst/>
          </a:prstGeom>
          <a:noFill/>
          <a:ln/>
        </p:spPr>
        <p:txBody>
          <a:bodyPr wrap="square" lIns="0" tIns="0" rIns="0" bIns="0" rtlCol="0" anchor="t"/>
          <a:lstStyle/>
          <a:p>
            <a:pPr indent="0" marL="0">
              <a:buNone/>
            </a:pPr>
            <a:r>
              <a:rPr lang="en-US" sz="1600" b="1" dirty="0">
                <a:solidFill>
                  <a:schemeClr val="tx1"/>
                </a:solidFill>
              </a:rPr>
              <a:t>Send() fan-out</a:t>
            </a:r>
            <a:endParaRPr lang="en-US" sz="1400" dirty="0"/>
          </a:p>
          <a:p>
            <a:pPr indent="0" marL="0">
              <a:buNone/>
            </a:pPr>
            <a:r>
              <a:rPr lang="en-US" sz="1400" dirty="0">
                <a:solidFill>
                  <a:schemeClr val="tx1"/>
                </a:solidFill>
              </a:rPr>
              <a:t>dispatch returns one Send per target source, so retrievers run in parallel in a single step.</a:t>
            </a:r>
            <a:endParaRPr lang="en-US" sz="1400" dirty="0"/>
          </a:p>
        </p:txBody>
      </p:sp>
      <p:sp>
        <p:nvSpPr>
          <p:cNvPr id="8" name="Shape 6"/>
          <p:cNvSpPr/>
          <p:nvPr/>
        </p:nvSpPr>
        <p:spPr>
          <a:xfrm>
            <a:off x="7543800" y="2971800"/>
            <a:ext cx="457200" cy="457200"/>
          </a:xfrm>
          <a:prstGeom prst="ellipse">
            <a:avLst/>
          </a:prstGeom>
          <a:solidFill>
            <a:schemeClr val="accent6"/>
          </a:solidFill>
          <a:ln w="12700">
            <a:solidFill>
              <a:schemeClr val="accent6"/>
            </a:solidFill>
            <a:prstDash val="solid"/>
          </a:ln>
        </p:spPr>
      </p:sp>
      <p:sp>
        <p:nvSpPr>
          <p:cNvPr id="9" name="Text 7"/>
          <p:cNvSpPr txBox="1"/>
          <p:nvPr/>
        </p:nvSpPr>
        <p:spPr>
          <a:xfrm>
            <a:off x="7543800" y="29718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8138160" y="2926080"/>
            <a:ext cx="3474720" cy="1417320"/>
          </a:xfrm>
          <a:prstGeom prst="rect">
            <a:avLst/>
          </a:prstGeom>
          <a:noFill/>
          <a:ln/>
        </p:spPr>
        <p:txBody>
          <a:bodyPr wrap="square" lIns="0" tIns="0" rIns="0" bIns="0" rtlCol="0" anchor="t"/>
          <a:lstStyle/>
          <a:p>
            <a:pPr indent="0" marL="0">
              <a:buNone/>
            </a:pPr>
            <a:r>
              <a:rPr lang="en-US" sz="1600" b="1" dirty="0">
                <a:solidFill>
                  <a:schemeClr val="tx1"/>
                </a:solidFill>
              </a:rPr>
              <a:t>Reducer merges results</a:t>
            </a:r>
            <a:endParaRPr lang="en-US" sz="1400" dirty="0"/>
          </a:p>
          <a:p>
            <a:pPr indent="0" marL="0">
              <a:buNone/>
            </a:pPr>
            <a:r>
              <a:rPr lang="en-US" sz="1400" dirty="0">
                <a:solidFill>
                  <a:schemeClr val="tx1"/>
                </a:solidFill>
              </a:rPr>
              <a:t>documents: Annotated[list, merge_documents] concatenates branch outputs; None resets it before a rewrite.</a:t>
            </a:r>
            <a:endParaRPr lang="en-US" sz="1400" dirty="0"/>
          </a:p>
        </p:txBody>
      </p:sp>
      <p:sp>
        <p:nvSpPr>
          <p:cNvPr id="11" name="Shape 9"/>
          <p:cNvSpPr/>
          <p:nvPr/>
        </p:nvSpPr>
        <p:spPr>
          <a:xfrm>
            <a:off x="7543800" y="4572000"/>
            <a:ext cx="457200" cy="457200"/>
          </a:xfrm>
          <a:prstGeom prst="ellipse">
            <a:avLst/>
          </a:prstGeom>
          <a:solidFill>
            <a:schemeClr val="accent6"/>
          </a:solidFill>
          <a:ln w="12700">
            <a:solidFill>
              <a:schemeClr val="accent6"/>
            </a:solidFill>
            <a:prstDash val="solid"/>
          </a:ln>
        </p:spPr>
      </p:sp>
      <p:sp>
        <p:nvSpPr>
          <p:cNvPr id="12" name="Text 10"/>
          <p:cNvSpPr txBox="1"/>
          <p:nvPr/>
        </p:nvSpPr>
        <p:spPr>
          <a:xfrm>
            <a:off x="7543800" y="45720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8138160" y="4526280"/>
            <a:ext cx="3474720" cy="1417320"/>
          </a:xfrm>
          <a:prstGeom prst="rect">
            <a:avLst/>
          </a:prstGeom>
          <a:noFill/>
          <a:ln/>
        </p:spPr>
        <p:txBody>
          <a:bodyPr wrap="square" lIns="0" tIns="0" rIns="0" bIns="0" rtlCol="0" anchor="t"/>
          <a:lstStyle/>
          <a:p>
            <a:pPr indent="0" marL="0">
              <a:buNone/>
            </a:pPr>
            <a:r>
              <a:rPr lang="en-US" sz="1600" b="1" dirty="0">
                <a:solidFill>
                  <a:schemeClr val="tx1"/>
                </a:solidFill>
              </a:rPr>
              <a:t>Edges are plain functions</a:t>
            </a:r>
            <a:endParaRPr lang="en-US" sz="1400" dirty="0"/>
          </a:p>
          <a:p>
            <a:pPr indent="0" marL="0">
              <a:buNone/>
            </a:pPr>
            <a:r>
              <a:rPr lang="en-US" sz="1400" dirty="0">
                <a:solidFill>
                  <a:schemeClr val="tx1"/>
                </a:solidFill>
              </a:rPr>
              <a:t>decide_after_grading reads state and returns a node name - unit-tested without any model.</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Code: routing decision and policy (router.py)</a:t>
            </a:r>
            <a:endParaRPr lang="en-US" sz="3600" dirty="0"/>
          </a:p>
        </p:txBody>
      </p:sp>
      <p:sp>
        <p:nvSpPr>
          <p:cNvPr id="3" name="Shape 1"/>
          <p:cNvSpPr/>
          <p:nvPr/>
        </p:nvSpPr>
        <p:spPr>
          <a:xfrm>
            <a:off x="548640" y="1325880"/>
            <a:ext cx="5852160" cy="4434840"/>
          </a:xfrm>
          <a:prstGeom prst="roundRect">
            <a:avLst>
              <a:gd name="adj" fmla="val 1649"/>
            </a:avLst>
          </a:prstGeom>
          <a:solidFill>
            <a:schemeClr val="tx2"/>
          </a:solidFill>
          <a:ln w="12700">
            <a:solidFill>
              <a:schemeClr val="tx2"/>
            </a:solidFill>
            <a:prstDash val="solid"/>
          </a:ln>
        </p:spPr>
      </p:sp>
      <p:sp>
        <p:nvSpPr>
          <p:cNvPr id="4" name="Text 2"/>
          <p:cNvSpPr txBox="1"/>
          <p:nvPr/>
        </p:nvSpPr>
        <p:spPr>
          <a:xfrm>
            <a:off x="777240" y="1508760"/>
            <a:ext cx="5394960" cy="4069080"/>
          </a:xfrm>
          <a:prstGeom prst="rect">
            <a:avLst/>
          </a:prstGeom>
          <a:noFill/>
          <a:ln/>
        </p:spPr>
        <p:txBody>
          <a:bodyPr wrap="square" lIns="0" tIns="0" rIns="0" bIns="0" rtlCol="0" anchor="t"/>
          <a:lstStyle/>
          <a:p>
            <a:pPr indent="0" marL="0">
              <a:buNone/>
            </a:pPr>
            <a:r>
              <a:rPr lang="en-US" sz="1300" dirty="0">
                <a:solidFill>
                  <a:schemeClr val="bg1"/>
                </a:solidFill>
                <a:latin typeface="Courier New" pitchFamily="34" charset="0"/>
                <a:ea typeface="Courier New" pitchFamily="34" charset="-122"/>
                <a:cs typeface="Courier New" pitchFamily="34" charset="-120"/>
              </a:rPr>
              <a:t># nodes.route_question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try: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decision = llm_route(llm, query)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method = "llm"</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except Exception:</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decision = keyword_route(query)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method = "keyword-fallback"</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targets = plan_retrieval(decision, query,</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safety_alert, 0.6)</a:t>
            </a:r>
            <a:endParaRPr lang="en-US" sz="1300" dirty="0"/>
          </a:p>
          <a:p>
            <a:pPr indent="0" marL="0">
              <a:buNone/>
            </a:pP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router.plan_retrieval (simplified)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if decision.confidence &lt; threshold:</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sources = ALL_SOURCES       # fan out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elif decision.primary == OUT_OF_SCOPE: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return []                   # decline</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if safety_alert or hands_on_task(q):</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targets.append(RetrievalTarget(</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"safety", LOTO_PREFIX + q,</a:t>
            </a:r>
            <a:endParaRPr lang="en-US" sz="1300" dirty="0"/>
          </a:p>
          <a:p>
            <a:pPr indent="0" marL="0">
              <a:buNone/>
            </a:pPr>
            <a:r>
              <a:rPr lang="en-US" sz="1300" dirty="0">
                <a:solidFill>
                  <a:schemeClr val="bg1"/>
                </a:solidFill>
                <a:latin typeface="Courier New" pitchFamily="34" charset="0"/>
                <a:ea typeface="Courier New" pitchFamily="34" charset="-122"/>
                <a:cs typeface="Courier New" pitchFamily="34" charset="-120"/>
              </a:rPr>
              <a:t>        mandatory=True))</a:t>
            </a:r>
            <a:endParaRPr lang="en-US" sz="1300" dirty="0"/>
          </a:p>
        </p:txBody>
      </p:sp>
      <p:sp>
        <p:nvSpPr>
          <p:cNvPr id="5" name="Shape 3"/>
          <p:cNvSpPr/>
          <p:nvPr/>
        </p:nvSpPr>
        <p:spPr>
          <a:xfrm>
            <a:off x="6720840" y="1371600"/>
            <a:ext cx="457200" cy="457200"/>
          </a:xfrm>
          <a:prstGeom prst="ellipse">
            <a:avLst/>
          </a:prstGeom>
          <a:solidFill>
            <a:schemeClr val="accent6"/>
          </a:solidFill>
          <a:ln w="12700">
            <a:solidFill>
              <a:schemeClr val="accent6"/>
            </a:solidFill>
            <a:prstDash val="solid"/>
          </a:ln>
        </p:spPr>
      </p:sp>
      <p:sp>
        <p:nvSpPr>
          <p:cNvPr id="6" name="Text 4"/>
          <p:cNvSpPr txBox="1"/>
          <p:nvPr/>
        </p:nvSpPr>
        <p:spPr>
          <a:xfrm>
            <a:off x="6720840"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7315200" y="1325880"/>
            <a:ext cx="4297680" cy="1097280"/>
          </a:xfrm>
          <a:prstGeom prst="rect">
            <a:avLst/>
          </a:prstGeom>
          <a:noFill/>
          <a:ln/>
        </p:spPr>
        <p:txBody>
          <a:bodyPr wrap="square" lIns="0" tIns="0" rIns="0" bIns="0" rtlCol="0" anchor="t"/>
          <a:lstStyle/>
          <a:p>
            <a:pPr indent="0" marL="0">
              <a:buNone/>
            </a:pPr>
            <a:r>
              <a:rPr lang="en-US" sz="1600" b="1" dirty="0">
                <a:solidFill>
                  <a:schemeClr val="tx1"/>
                </a:solidFill>
              </a:rPr>
              <a:t>Typed LLM output</a:t>
            </a:r>
            <a:endParaRPr lang="en-US" sz="1400" dirty="0"/>
          </a:p>
          <a:p>
            <a:pPr indent="0" marL="0">
              <a:buNone/>
            </a:pPr>
            <a:r>
              <a:rPr lang="en-US" sz="1400" dirty="0">
                <a:solidFill>
                  <a:schemeClr val="tx1"/>
                </a:solidFill>
              </a:rPr>
              <a:t>llm.with_structured_output(RouteDecision): JSON schema on Ollama, tool calling on Bedrock.</a:t>
            </a:r>
            <a:endParaRPr lang="en-US" sz="1400" dirty="0"/>
          </a:p>
        </p:txBody>
      </p:sp>
      <p:sp>
        <p:nvSpPr>
          <p:cNvPr id="8" name="Shape 6"/>
          <p:cNvSpPr/>
          <p:nvPr/>
        </p:nvSpPr>
        <p:spPr>
          <a:xfrm>
            <a:off x="6720840" y="2578608"/>
            <a:ext cx="457200" cy="457200"/>
          </a:xfrm>
          <a:prstGeom prst="ellipse">
            <a:avLst/>
          </a:prstGeom>
          <a:solidFill>
            <a:schemeClr val="accent6"/>
          </a:solidFill>
          <a:ln w="12700">
            <a:solidFill>
              <a:schemeClr val="accent6"/>
            </a:solidFill>
            <a:prstDash val="solid"/>
          </a:ln>
        </p:spPr>
      </p:sp>
      <p:sp>
        <p:nvSpPr>
          <p:cNvPr id="9" name="Text 7"/>
          <p:cNvSpPr txBox="1"/>
          <p:nvPr/>
        </p:nvSpPr>
        <p:spPr>
          <a:xfrm>
            <a:off x="6720840" y="257860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7315200" y="2532888"/>
            <a:ext cx="4297680" cy="1097280"/>
          </a:xfrm>
          <a:prstGeom prst="rect">
            <a:avLst/>
          </a:prstGeom>
          <a:noFill/>
          <a:ln/>
        </p:spPr>
        <p:txBody>
          <a:bodyPr wrap="square" lIns="0" tIns="0" rIns="0" bIns="0" rtlCol="0" anchor="t"/>
          <a:lstStyle/>
          <a:p>
            <a:pPr indent="0" marL="0">
              <a:buNone/>
            </a:pPr>
            <a:r>
              <a:rPr lang="en-US" sz="1600" b="1" dirty="0">
                <a:solidFill>
                  <a:schemeClr val="tx1"/>
                </a:solidFill>
              </a:rPr>
              <a:t>Never crashes</a:t>
            </a:r>
            <a:endParaRPr lang="en-US" sz="1400" dirty="0"/>
          </a:p>
          <a:p>
            <a:pPr indent="0" marL="0">
              <a:buNone/>
            </a:pPr>
            <a:r>
              <a:rPr lang="en-US" sz="1400" dirty="0">
                <a:solidFill>
                  <a:schemeClr val="tx1"/>
                </a:solidFill>
              </a:rPr>
              <a:t>Any router error falls back to keyword routing generated from the same registry.</a:t>
            </a:r>
            <a:endParaRPr lang="en-US" sz="1400" dirty="0"/>
          </a:p>
        </p:txBody>
      </p:sp>
      <p:sp>
        <p:nvSpPr>
          <p:cNvPr id="11" name="Shape 9"/>
          <p:cNvSpPr/>
          <p:nvPr/>
        </p:nvSpPr>
        <p:spPr>
          <a:xfrm>
            <a:off x="6720840" y="3785616"/>
            <a:ext cx="457200" cy="457200"/>
          </a:xfrm>
          <a:prstGeom prst="ellipse">
            <a:avLst/>
          </a:prstGeom>
          <a:solidFill>
            <a:schemeClr val="accent6"/>
          </a:solidFill>
          <a:ln w="12700">
            <a:solidFill>
              <a:schemeClr val="accent6"/>
            </a:solidFill>
            <a:prstDash val="solid"/>
          </a:ln>
        </p:spPr>
      </p:sp>
      <p:sp>
        <p:nvSpPr>
          <p:cNvPr id="12" name="Text 10"/>
          <p:cNvSpPr txBox="1"/>
          <p:nvPr/>
        </p:nvSpPr>
        <p:spPr>
          <a:xfrm>
            <a:off x="6720840" y="378561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7315200" y="3739896"/>
            <a:ext cx="4297680" cy="1097280"/>
          </a:xfrm>
          <a:prstGeom prst="rect">
            <a:avLst/>
          </a:prstGeom>
          <a:noFill/>
          <a:ln/>
        </p:spPr>
        <p:txBody>
          <a:bodyPr wrap="square" lIns="0" tIns="0" rIns="0" bIns="0" rtlCol="0" anchor="t"/>
          <a:lstStyle/>
          <a:p>
            <a:pPr indent="0" marL="0">
              <a:buNone/>
            </a:pPr>
            <a:r>
              <a:rPr lang="en-US" sz="1600" b="1" dirty="0">
                <a:solidFill>
                  <a:schemeClr val="tx1"/>
                </a:solidFill>
              </a:rPr>
              <a:t>Policy is code</a:t>
            </a:r>
            <a:endParaRPr lang="en-US" sz="1400" dirty="0"/>
          </a:p>
          <a:p>
            <a:pPr indent="0" marL="0">
              <a:buNone/>
            </a:pPr>
            <a:r>
              <a:rPr lang="en-US" sz="1400" dirty="0">
                <a:solidFill>
                  <a:schemeClr val="tx1"/>
                </a:solidFill>
              </a:rPr>
              <a:t>Low confidence widens the search; emergencies and hands-on work force a safety search.</a:t>
            </a:r>
            <a:endParaRPr lang="en-US" sz="1400" dirty="0"/>
          </a:p>
        </p:txBody>
      </p:sp>
      <p:sp>
        <p:nvSpPr>
          <p:cNvPr id="14" name="Shape 12"/>
          <p:cNvSpPr/>
          <p:nvPr/>
        </p:nvSpPr>
        <p:spPr>
          <a:xfrm>
            <a:off x="6720840" y="4992624"/>
            <a:ext cx="457200" cy="457200"/>
          </a:xfrm>
          <a:prstGeom prst="ellipse">
            <a:avLst/>
          </a:prstGeom>
          <a:solidFill>
            <a:schemeClr val="accent6"/>
          </a:solidFill>
          <a:ln w="12700">
            <a:solidFill>
              <a:schemeClr val="accent6"/>
            </a:solidFill>
            <a:prstDash val="solid"/>
          </a:ln>
        </p:spPr>
      </p:sp>
      <p:sp>
        <p:nvSpPr>
          <p:cNvPr id="15" name="Text 13"/>
          <p:cNvSpPr txBox="1"/>
          <p:nvPr/>
        </p:nvSpPr>
        <p:spPr>
          <a:xfrm>
            <a:off x="6720840" y="49926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7315200" y="4946904"/>
            <a:ext cx="4297680" cy="1097280"/>
          </a:xfrm>
          <a:prstGeom prst="rect">
            <a:avLst/>
          </a:prstGeom>
          <a:noFill/>
          <a:ln/>
        </p:spPr>
        <p:txBody>
          <a:bodyPr wrap="square" lIns="0" tIns="0" rIns="0" bIns="0" rtlCol="0" anchor="t"/>
          <a:lstStyle/>
          <a:p>
            <a:pPr indent="0" marL="0">
              <a:buNone/>
            </a:pPr>
            <a:r>
              <a:rPr lang="en-US" sz="1600" b="1" dirty="0">
                <a:solidFill>
                  <a:schemeClr val="tx1"/>
                </a:solidFill>
              </a:rPr>
              <a:t>Mandatory chunks</a:t>
            </a:r>
            <a:endParaRPr lang="en-US" sz="1400" dirty="0"/>
          </a:p>
          <a:p>
            <a:pPr indent="0" marL="0">
              <a:buNone/>
            </a:pPr>
            <a:r>
              <a:rPr lang="en-US" sz="1400" dirty="0">
                <a:solidFill>
                  <a:schemeClr val="tx1"/>
                </a:solidFill>
              </a:rPr>
              <a:t>Policy-added safety results keep their best chunk through grading, so LOTO is never dropped.</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Walkthrough: a seal replacement question</a:t>
            </a:r>
            <a:endParaRPr lang="en-US" sz="3600" dirty="0"/>
          </a:p>
        </p:txBody>
      </p:sp>
      <p:sp>
        <p:nvSpPr>
          <p:cNvPr id="3" name="Shape 1"/>
          <p:cNvSpPr/>
          <p:nvPr/>
        </p:nvSpPr>
        <p:spPr>
          <a:xfrm>
            <a:off x="548640" y="1325880"/>
            <a:ext cx="11064240" cy="640080"/>
          </a:xfrm>
          <a:prstGeom prst="roundRect">
            <a:avLst>
              <a:gd name="adj" fmla="val 11429"/>
            </a:avLst>
          </a:prstGeom>
          <a:solidFill>
            <a:schemeClr val="tx2"/>
          </a:solidFill>
          <a:ln w="12700">
            <a:solidFill>
              <a:schemeClr val="tx2"/>
            </a:solidFill>
            <a:prstDash val="solid"/>
          </a:ln>
        </p:spPr>
      </p:sp>
      <p:sp>
        <p:nvSpPr>
          <p:cNvPr id="4" name="Text 2"/>
          <p:cNvSpPr txBox="1"/>
          <p:nvPr/>
        </p:nvSpPr>
        <p:spPr>
          <a:xfrm>
            <a:off x="777240" y="1325880"/>
            <a:ext cx="10607040" cy="640080"/>
          </a:xfrm>
          <a:prstGeom prst="rect">
            <a:avLst/>
          </a:prstGeom>
          <a:noFill/>
          <a:ln/>
        </p:spPr>
        <p:txBody>
          <a:bodyPr wrap="square" lIns="0" tIns="0" rIns="0" bIns="0" rtlCol="0" anchor="ctr"/>
          <a:lstStyle/>
          <a:p>
            <a:pPr indent="0" marL="0">
              <a:buNone/>
            </a:pPr>
            <a:r>
              <a:rPr lang="en-US" sz="2000" b="1" dirty="0">
                <a:solidFill>
                  <a:schemeClr val="bg1"/>
                </a:solidFill>
              </a:rPr>
              <a:t>"How do I replace the main cylinder seal on the HP-200 press?"</a:t>
            </a:r>
            <a:endParaRPr lang="en-US" sz="2000" dirty="0"/>
          </a:p>
        </p:txBody>
      </p:sp>
      <p:sp>
        <p:nvSpPr>
          <p:cNvPr id="5" name="Shape 3"/>
          <p:cNvSpPr/>
          <p:nvPr/>
        </p:nvSpPr>
        <p:spPr>
          <a:xfrm>
            <a:off x="548640" y="2240280"/>
            <a:ext cx="457200" cy="457200"/>
          </a:xfrm>
          <a:prstGeom prst="ellipse">
            <a:avLst/>
          </a:prstGeom>
          <a:solidFill>
            <a:schemeClr val="accent3"/>
          </a:solidFill>
          <a:ln w="12700">
            <a:solidFill>
              <a:schemeClr val="accent3"/>
            </a:solidFill>
            <a:prstDash val="solid"/>
          </a:ln>
        </p:spPr>
      </p:sp>
      <p:sp>
        <p:nvSpPr>
          <p:cNvPr id="6" name="Text 4"/>
          <p:cNvSpPr txBox="1"/>
          <p:nvPr/>
        </p:nvSpPr>
        <p:spPr>
          <a:xfrm>
            <a:off x="548640" y="224028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143000" y="2240280"/>
            <a:ext cx="4937760" cy="457200"/>
          </a:xfrm>
          <a:prstGeom prst="rect">
            <a:avLst/>
          </a:prstGeom>
          <a:noFill/>
          <a:ln/>
        </p:spPr>
        <p:txBody>
          <a:bodyPr wrap="square" lIns="0" tIns="0" rIns="0" bIns="0" rtlCol="0" anchor="ctr"/>
          <a:lstStyle/>
          <a:p>
            <a:pPr indent="0" marL="0">
              <a:buNone/>
            </a:pPr>
            <a:r>
              <a:rPr lang="en-US" sz="1400" b="1" dirty="0">
                <a:solidFill>
                  <a:schemeClr val="tx1"/>
                </a:solidFill>
              </a:rPr>
              <a:t>Route  </a:t>
            </a:r>
            <a:pPr indent="0" marL="0">
              <a:buNone/>
            </a:pPr>
            <a:r>
              <a:rPr lang="en-US" sz="1400" dirty="0">
                <a:solidFill>
                  <a:schemeClr val="tx1"/>
                </a:solidFill>
              </a:rPr>
              <a:t>maintenance, confidence 0.95 (LLM)</a:t>
            </a:r>
            <a:endParaRPr lang="en-US" sz="1400" dirty="0"/>
          </a:p>
        </p:txBody>
      </p:sp>
      <p:sp>
        <p:nvSpPr>
          <p:cNvPr id="8" name="Shape 6"/>
          <p:cNvSpPr/>
          <p:nvPr/>
        </p:nvSpPr>
        <p:spPr>
          <a:xfrm>
            <a:off x="548640" y="2862072"/>
            <a:ext cx="457200" cy="457200"/>
          </a:xfrm>
          <a:prstGeom prst="ellipse">
            <a:avLst/>
          </a:prstGeom>
          <a:solidFill>
            <a:schemeClr val="accent2"/>
          </a:solidFill>
          <a:ln w="12700">
            <a:solidFill>
              <a:schemeClr val="accent2"/>
            </a:solidFill>
            <a:prstDash val="solid"/>
          </a:ln>
        </p:spPr>
      </p:sp>
      <p:sp>
        <p:nvSpPr>
          <p:cNvPr id="9" name="Text 7"/>
          <p:cNvSpPr txBox="1"/>
          <p:nvPr/>
        </p:nvSpPr>
        <p:spPr>
          <a:xfrm>
            <a:off x="548640" y="286207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143000" y="2862072"/>
            <a:ext cx="4937760" cy="457200"/>
          </a:xfrm>
          <a:prstGeom prst="rect">
            <a:avLst/>
          </a:prstGeom>
          <a:noFill/>
          <a:ln/>
        </p:spPr>
        <p:txBody>
          <a:bodyPr wrap="square" lIns="0" tIns="0" rIns="0" bIns="0" rtlCol="0" anchor="ctr"/>
          <a:lstStyle/>
          <a:p>
            <a:pPr indent="0" marL="0">
              <a:buNone/>
            </a:pPr>
            <a:r>
              <a:rPr lang="en-US" sz="1400" b="1" dirty="0">
                <a:solidFill>
                  <a:schemeClr val="tx1"/>
                </a:solidFill>
              </a:rPr>
              <a:t>Policy  </a:t>
            </a:r>
            <a:pPr indent="0" marL="0">
              <a:buNone/>
            </a:pPr>
            <a:r>
              <a:rPr lang="en-US" sz="1400" dirty="0">
                <a:solidFill>
                  <a:schemeClr val="tx1"/>
                </a:solidFill>
              </a:rPr>
              <a:t>hands-on task: add safety with a LOTO/PPE query</a:t>
            </a:r>
            <a:endParaRPr lang="en-US" sz="1400" dirty="0"/>
          </a:p>
        </p:txBody>
      </p:sp>
      <p:sp>
        <p:nvSpPr>
          <p:cNvPr id="11" name="Shape 9"/>
          <p:cNvSpPr/>
          <p:nvPr/>
        </p:nvSpPr>
        <p:spPr>
          <a:xfrm>
            <a:off x="548640" y="3483864"/>
            <a:ext cx="457200" cy="457200"/>
          </a:xfrm>
          <a:prstGeom prst="ellipse">
            <a:avLst/>
          </a:prstGeom>
          <a:solidFill>
            <a:schemeClr val="accent6"/>
          </a:solidFill>
          <a:ln w="12700">
            <a:solidFill>
              <a:schemeClr val="accent6"/>
            </a:solidFill>
            <a:prstDash val="solid"/>
          </a:ln>
        </p:spPr>
      </p:sp>
      <p:sp>
        <p:nvSpPr>
          <p:cNvPr id="12" name="Text 10"/>
          <p:cNvSpPr txBox="1"/>
          <p:nvPr/>
        </p:nvSpPr>
        <p:spPr>
          <a:xfrm>
            <a:off x="548640" y="348386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143000" y="3483864"/>
            <a:ext cx="4937760" cy="457200"/>
          </a:xfrm>
          <a:prstGeom prst="rect">
            <a:avLst/>
          </a:prstGeom>
          <a:noFill/>
          <a:ln/>
        </p:spPr>
        <p:txBody>
          <a:bodyPr wrap="square" lIns="0" tIns="0" rIns="0" bIns="0" rtlCol="0" anchor="ctr"/>
          <a:lstStyle/>
          <a:p>
            <a:pPr indent="0" marL="0">
              <a:buNone/>
            </a:pPr>
            <a:r>
              <a:rPr lang="en-US" sz="1400" b="1" dirty="0">
                <a:solidFill>
                  <a:schemeClr val="tx1"/>
                </a:solidFill>
              </a:rPr>
              <a:t>Retrieve  </a:t>
            </a:r>
            <a:pPr indent="0" marL="0">
              <a:buNone/>
            </a:pPr>
            <a:r>
              <a:rPr lang="en-US" sz="1400" dirty="0">
                <a:solidFill>
                  <a:schemeClr val="tx1"/>
                </a:solidFill>
              </a:rPr>
              <a:t>maintenance 5 + safety 2 chunks, in parallel</a:t>
            </a:r>
            <a:endParaRPr lang="en-US" sz="1400" dirty="0"/>
          </a:p>
        </p:txBody>
      </p:sp>
      <p:sp>
        <p:nvSpPr>
          <p:cNvPr id="14" name="Shape 12"/>
          <p:cNvSpPr/>
          <p:nvPr/>
        </p:nvSpPr>
        <p:spPr>
          <a:xfrm>
            <a:off x="548640" y="4105656"/>
            <a:ext cx="457200" cy="457200"/>
          </a:xfrm>
          <a:prstGeom prst="ellipse">
            <a:avLst/>
          </a:prstGeom>
          <a:solidFill>
            <a:schemeClr val="accent6"/>
          </a:solidFill>
          <a:ln w="12700">
            <a:solidFill>
              <a:schemeClr val="accent6"/>
            </a:solidFill>
            <a:prstDash val="solid"/>
          </a:ln>
        </p:spPr>
      </p:sp>
      <p:sp>
        <p:nvSpPr>
          <p:cNvPr id="15" name="Text 13"/>
          <p:cNvSpPr txBox="1"/>
          <p:nvPr/>
        </p:nvSpPr>
        <p:spPr>
          <a:xfrm>
            <a:off x="548640" y="410565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143000" y="4105656"/>
            <a:ext cx="4937760" cy="457200"/>
          </a:xfrm>
          <a:prstGeom prst="rect">
            <a:avLst/>
          </a:prstGeom>
          <a:noFill/>
          <a:ln/>
        </p:spPr>
        <p:txBody>
          <a:bodyPr wrap="square" lIns="0" tIns="0" rIns="0" bIns="0" rtlCol="0" anchor="ctr"/>
          <a:lstStyle/>
          <a:p>
            <a:pPr indent="0" marL="0">
              <a:buNone/>
            </a:pPr>
            <a:r>
              <a:rPr lang="en-US" sz="1400" b="1" dirty="0">
                <a:solidFill>
                  <a:schemeClr val="tx1"/>
                </a:solidFill>
              </a:rPr>
              <a:t>Grade  </a:t>
            </a:r>
            <a:pPr indent="0" marL="0">
              <a:buNone/>
            </a:pPr>
            <a:r>
              <a:rPr lang="en-US" sz="1400" dirty="0">
                <a:solidFill>
                  <a:schemeClr val="tx1"/>
                </a:solidFill>
              </a:rPr>
              <a:t>7 relevant, 6 in context; best cosine 0.85</a:t>
            </a:r>
            <a:endParaRPr lang="en-US" sz="1400" dirty="0"/>
          </a:p>
        </p:txBody>
      </p:sp>
      <p:sp>
        <p:nvSpPr>
          <p:cNvPr id="17" name="Shape 15"/>
          <p:cNvSpPr/>
          <p:nvPr/>
        </p:nvSpPr>
        <p:spPr>
          <a:xfrm>
            <a:off x="548640" y="4727448"/>
            <a:ext cx="457200" cy="457200"/>
          </a:xfrm>
          <a:prstGeom prst="ellipse">
            <a:avLst/>
          </a:prstGeom>
          <a:solidFill>
            <a:schemeClr val="accent6"/>
          </a:solidFill>
          <a:ln w="12700">
            <a:solidFill>
              <a:schemeClr val="accent6"/>
            </a:solidFill>
            <a:prstDash val="solid"/>
          </a:ln>
        </p:spPr>
      </p:sp>
      <p:sp>
        <p:nvSpPr>
          <p:cNvPr id="18" name="Text 16"/>
          <p:cNvSpPr txBox="1"/>
          <p:nvPr/>
        </p:nvSpPr>
        <p:spPr>
          <a:xfrm>
            <a:off x="548640" y="472744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9" name="Text 17"/>
          <p:cNvSpPr txBox="1"/>
          <p:nvPr/>
        </p:nvSpPr>
        <p:spPr>
          <a:xfrm>
            <a:off x="1143000" y="4727448"/>
            <a:ext cx="4937760" cy="457200"/>
          </a:xfrm>
          <a:prstGeom prst="rect">
            <a:avLst/>
          </a:prstGeom>
          <a:noFill/>
          <a:ln/>
        </p:spPr>
        <p:txBody>
          <a:bodyPr wrap="square" lIns="0" tIns="0" rIns="0" bIns="0" rtlCol="0" anchor="ctr"/>
          <a:lstStyle/>
          <a:p>
            <a:pPr indent="0" marL="0">
              <a:buNone/>
            </a:pPr>
            <a:r>
              <a:rPr lang="en-US" sz="1400" b="1" dirty="0">
                <a:solidFill>
                  <a:schemeClr val="tx1"/>
                </a:solidFill>
              </a:rPr>
              <a:t>Generate  </a:t>
            </a:r>
            <a:pPr indent="0" marL="0">
              <a:buNone/>
            </a:pPr>
            <a:r>
              <a:rPr lang="en-US" sz="1400" dirty="0">
                <a:solidFill>
                  <a:schemeClr val="tx1"/>
                </a:solidFill>
              </a:rPr>
              <a:t>numbered steps, every line cited</a:t>
            </a:r>
            <a:endParaRPr lang="en-US" sz="1400" dirty="0"/>
          </a:p>
        </p:txBody>
      </p:sp>
      <p:sp>
        <p:nvSpPr>
          <p:cNvPr id="20" name="Shape 18"/>
          <p:cNvSpPr/>
          <p:nvPr/>
        </p:nvSpPr>
        <p:spPr>
          <a:xfrm>
            <a:off x="548640" y="5349240"/>
            <a:ext cx="457200" cy="457200"/>
          </a:xfrm>
          <a:prstGeom prst="ellipse">
            <a:avLst/>
          </a:prstGeom>
          <a:solidFill>
            <a:schemeClr val="accent6"/>
          </a:solidFill>
          <a:ln w="12700">
            <a:solidFill>
              <a:schemeClr val="accent6"/>
            </a:solidFill>
            <a:prstDash val="solid"/>
          </a:ln>
        </p:spPr>
      </p:sp>
      <p:sp>
        <p:nvSpPr>
          <p:cNvPr id="21" name="Text 19"/>
          <p:cNvSpPr txBox="1"/>
          <p:nvPr/>
        </p:nvSpPr>
        <p:spPr>
          <a:xfrm>
            <a:off x="548640" y="534924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6</a:t>
            </a:r>
            <a:endParaRPr lang="en-US" sz="1400" dirty="0"/>
          </a:p>
        </p:txBody>
      </p:sp>
      <p:sp>
        <p:nvSpPr>
          <p:cNvPr id="22" name="Text 20"/>
          <p:cNvSpPr txBox="1"/>
          <p:nvPr/>
        </p:nvSpPr>
        <p:spPr>
          <a:xfrm>
            <a:off x="1143000" y="5349240"/>
            <a:ext cx="4937760" cy="457200"/>
          </a:xfrm>
          <a:prstGeom prst="rect">
            <a:avLst/>
          </a:prstGeom>
          <a:noFill/>
          <a:ln/>
        </p:spPr>
        <p:txBody>
          <a:bodyPr wrap="square" lIns="0" tIns="0" rIns="0" bIns="0" rtlCol="0" anchor="ctr"/>
          <a:lstStyle/>
          <a:p>
            <a:pPr indent="0" marL="0">
              <a:buNone/>
            </a:pPr>
            <a:r>
              <a:rPr lang="en-US" sz="1400" b="1" dirty="0">
                <a:solidFill>
                  <a:schemeClr val="tx1"/>
                </a:solidFill>
              </a:rPr>
              <a:t>Verify  </a:t>
            </a:r>
            <a:pPr indent="0" marL="0">
              <a:buNone/>
            </a:pPr>
            <a:r>
              <a:rPr lang="en-US" sz="1400" dirty="0">
                <a:solidFill>
                  <a:schemeClr val="tx1"/>
                </a:solidFill>
              </a:rPr>
              <a:t>checker flagged 1 claim twice, so a caveat was added</a:t>
            </a:r>
            <a:endParaRPr lang="en-US" sz="1400" dirty="0"/>
          </a:p>
        </p:txBody>
      </p:sp>
      <p:sp>
        <p:nvSpPr>
          <p:cNvPr id="23" name="Shape 21"/>
          <p:cNvSpPr/>
          <p:nvPr/>
        </p:nvSpPr>
        <p:spPr>
          <a:xfrm>
            <a:off x="6400800" y="2240280"/>
            <a:ext cx="5212080" cy="3840480"/>
          </a:xfrm>
          <a:prstGeom prst="roundRect">
            <a:avLst>
              <a:gd name="adj" fmla="val 1905"/>
            </a:avLst>
          </a:prstGeom>
          <a:solidFill>
            <a:schemeClr val="bg2"/>
          </a:solidFill>
          <a:ln w="12700">
            <a:solidFill>
              <a:schemeClr val="bg2"/>
            </a:solidFill>
            <a:prstDash val="solid"/>
          </a:ln>
        </p:spPr>
      </p:sp>
      <p:sp>
        <p:nvSpPr>
          <p:cNvPr id="24" name="Text 22"/>
          <p:cNvSpPr txBox="1"/>
          <p:nvPr/>
        </p:nvSpPr>
        <p:spPr>
          <a:xfrm>
            <a:off x="6629400" y="2377440"/>
            <a:ext cx="4754880" cy="320040"/>
          </a:xfrm>
          <a:prstGeom prst="rect">
            <a:avLst/>
          </a:prstGeom>
          <a:noFill/>
          <a:ln/>
        </p:spPr>
        <p:txBody>
          <a:bodyPr wrap="square" lIns="0" tIns="0" rIns="0" bIns="0" rtlCol="0" anchor="t"/>
          <a:lstStyle/>
          <a:p>
            <a:pPr indent="0" marL="0">
              <a:buNone/>
            </a:pPr>
            <a:r>
              <a:rPr lang="en-US" sz="1400" b="1" dirty="0">
                <a:solidFill>
                  <a:schemeClr val="accent5"/>
                </a:solidFill>
              </a:rPr>
              <a:t>Actual answer, llama3.2 on CPU (excerpt)</a:t>
            </a:r>
            <a:endParaRPr lang="en-US" sz="1400" dirty="0"/>
          </a:p>
        </p:txBody>
      </p:sp>
      <p:sp>
        <p:nvSpPr>
          <p:cNvPr id="25" name="Text 23"/>
          <p:cNvSpPr txBox="1"/>
          <p:nvPr/>
        </p:nvSpPr>
        <p:spPr>
          <a:xfrm>
            <a:off x="6629400" y="2743200"/>
            <a:ext cx="4754880" cy="2377440"/>
          </a:xfrm>
          <a:prstGeom prst="rect">
            <a:avLst/>
          </a:prstGeom>
          <a:noFill/>
          <a:ln/>
        </p:spPr>
        <p:txBody>
          <a:bodyPr wrap="square" lIns="0" tIns="0" rIns="0" bIns="0" rtlCol="0" anchor="t"/>
          <a:lstStyle/>
          <a:p>
            <a:pPr indent="0" marL="0">
              <a:spcAft>
                <a:spcPts val="600"/>
              </a:spcAft>
              <a:buNone/>
            </a:pPr>
            <a:r>
              <a:rPr lang="en-US" sz="1400" dirty="0">
                <a:solidFill>
                  <a:schemeClr val="tx1"/>
                </a:solidFill>
              </a:rPr>
              <a:t>LOTO: apply per SOP-SAF-001 and verify zero energy state [4].</a:t>
            </a:r>
            <a:endParaRPr lang="en-US" sz="1400" dirty="0"/>
          </a:p>
          <a:p>
            <a:pPr indent="0" marL="0">
              <a:spcAft>
                <a:spcPts val="600"/>
              </a:spcAft>
              <a:buNone/>
            </a:pPr>
            <a:r>
              <a:rPr lang="en-US" sz="1400" dirty="0">
                <a:solidFill>
                  <a:schemeClr val="tx1"/>
                </a:solidFill>
              </a:rPr>
              <a:t>1. Bleed the accumulator to 0 psi and lower the ram onto the safety blocks [1].</a:t>
            </a:r>
            <a:endParaRPr lang="en-US" sz="1400" dirty="0"/>
          </a:p>
          <a:p>
            <a:pPr indent="0" marL="0">
              <a:spcAft>
                <a:spcPts val="600"/>
              </a:spcAft>
              <a:buNone/>
            </a:pPr>
            <a:r>
              <a:rPr lang="en-US" sz="1400" dirty="0">
                <a:solidFill>
                  <a:schemeClr val="tx1"/>
                </a:solidFill>
              </a:rPr>
              <a:t>6. Reinstall the gland and torque the retainer bolts to 210 ft-lb in a star pattern [1].</a:t>
            </a:r>
            <a:endParaRPr lang="en-US" sz="1400" dirty="0"/>
          </a:p>
          <a:p>
            <a:pPr indent="0" marL="0">
              <a:spcAft>
                <a:spcPts val="600"/>
              </a:spcAft>
              <a:buNone/>
            </a:pPr>
            <a:r>
              <a:rPr lang="en-US" sz="1400" dirty="0">
                <a:solidFill>
                  <a:schemeClr val="tx1"/>
                </a:solidFill>
              </a:rPr>
              <a:t>7. Cycle the press 10 times at low pressure (500 psi) and inspect for leaks [1].</a:t>
            </a:r>
            <a:endParaRPr lang="en-US" sz="1400" dirty="0"/>
          </a:p>
        </p:txBody>
      </p:sp>
      <p:sp>
        <p:nvSpPr>
          <p:cNvPr id="26" name="Text 24"/>
          <p:cNvSpPr txBox="1"/>
          <p:nvPr/>
        </p:nvSpPr>
        <p:spPr>
          <a:xfrm>
            <a:off x="6629400" y="5303520"/>
            <a:ext cx="4754880" cy="594360"/>
          </a:xfrm>
          <a:prstGeom prst="rect">
            <a:avLst/>
          </a:prstGeom>
          <a:noFill/>
          <a:ln/>
        </p:spPr>
        <p:txBody>
          <a:bodyPr wrap="square" lIns="0" tIns="0" rIns="0" bIns="0" rtlCol="0" anchor="t"/>
          <a:lstStyle/>
          <a:p>
            <a:pPr indent="0" marL="0">
              <a:buNone/>
            </a:pPr>
            <a:r>
              <a:rPr lang="en-US" sz="1200" dirty="0">
                <a:solidFill>
                  <a:schemeClr val="accent5"/>
                </a:solidFill>
              </a:rPr>
              <a:t>[1] MM-HP-200 rev 4 &gt; Replacing the Main Cylinder Seal Kit</a:t>
            </a:r>
            <a:endParaRPr lang="en-US" sz="1200" dirty="0"/>
          </a:p>
          <a:p>
            <a:pPr indent="0" marL="0">
              <a:buNone/>
            </a:pPr>
            <a:r>
              <a:rPr lang="en-US" sz="1200" dirty="0">
                <a:solidFill>
                  <a:schemeClr val="accent5"/>
                </a:solidFill>
              </a:rPr>
              <a:t>[4] SOP-SAF-001 rev D &gt; Energy Isolation Steps</a:t>
            </a:r>
            <a:endParaRPr lang="en-US" sz="12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Guardrails: layered, deterministic first</a:t>
            </a:r>
            <a:endParaRPr lang="en-US" sz="3600" dirty="0"/>
          </a:p>
        </p:txBody>
      </p:sp>
      <p:sp>
        <p:nvSpPr>
          <p:cNvPr id="3" name="Shape 1"/>
          <p:cNvSpPr/>
          <p:nvPr/>
        </p:nvSpPr>
        <p:spPr>
          <a:xfrm>
            <a:off x="548640" y="1325880"/>
            <a:ext cx="2651760" cy="457200"/>
          </a:xfrm>
          <a:prstGeom prst="roundRect">
            <a:avLst>
              <a:gd name="adj" fmla="val 12000"/>
            </a:avLst>
          </a:prstGeom>
          <a:solidFill>
            <a:schemeClr val="accent2"/>
          </a:solidFill>
          <a:ln w="12700">
            <a:solidFill>
              <a:schemeClr val="accent2"/>
            </a:solidFill>
            <a:prstDash val="solid"/>
          </a:ln>
        </p:spPr>
      </p:sp>
      <p:sp>
        <p:nvSpPr>
          <p:cNvPr id="4" name="Text 2"/>
          <p:cNvSpPr txBox="1"/>
          <p:nvPr/>
        </p:nvSpPr>
        <p:spPr>
          <a:xfrm>
            <a:off x="548640" y="1325880"/>
            <a:ext cx="2651760" cy="457200"/>
          </a:xfrm>
          <a:prstGeom prst="rect">
            <a:avLst/>
          </a:prstGeom>
          <a:noFill/>
          <a:ln/>
        </p:spPr>
        <p:txBody>
          <a:bodyPr wrap="square" lIns="0" tIns="0" rIns="0" bIns="0" rtlCol="0" anchor="ctr"/>
          <a:lstStyle/>
          <a:p>
            <a:pPr algn="ctr" indent="0" marL="0">
              <a:buNone/>
            </a:pPr>
            <a:r>
              <a:rPr lang="en-US" sz="1500" b="1" dirty="0">
                <a:solidFill>
                  <a:schemeClr val="bg1"/>
                </a:solidFill>
              </a:rPr>
              <a:t>Input</a:t>
            </a:r>
            <a:endParaRPr lang="en-US" sz="1500" dirty="0"/>
          </a:p>
        </p:txBody>
      </p:sp>
      <p:sp>
        <p:nvSpPr>
          <p:cNvPr id="5" name="Shape 3"/>
          <p:cNvSpPr/>
          <p:nvPr/>
        </p:nvSpPr>
        <p:spPr>
          <a:xfrm>
            <a:off x="548640" y="1874520"/>
            <a:ext cx="2651760" cy="2423160"/>
          </a:xfrm>
          <a:prstGeom prst="roundRect">
            <a:avLst>
              <a:gd name="adj" fmla="val 3019"/>
            </a:avLst>
          </a:prstGeom>
          <a:solidFill>
            <a:schemeClr val="bg2"/>
          </a:solidFill>
          <a:ln w="12700">
            <a:solidFill>
              <a:schemeClr val="bg2"/>
            </a:solidFill>
            <a:prstDash val="solid"/>
          </a:ln>
        </p:spPr>
      </p:sp>
      <p:sp>
        <p:nvSpPr>
          <p:cNvPr id="6" name="Text 4"/>
          <p:cNvSpPr txBox="1"/>
          <p:nvPr/>
        </p:nvSpPr>
        <p:spPr>
          <a:xfrm>
            <a:off x="685800" y="2011680"/>
            <a:ext cx="2423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Prompt injection blocked</a:t>
            </a:r>
            <a:endParaRPr lang="en-US" sz="1400" dirty="0"/>
          </a:p>
          <a:p>
            <a:pPr marL="342900" indent="-342900">
              <a:spcAft>
                <a:spcPts val="600"/>
              </a:spcAft>
              <a:buSzPct val="100000"/>
              <a:buChar char="•"/>
            </a:pPr>
            <a:r>
              <a:rPr lang="en-US" sz="1400" dirty="0">
                <a:solidFill>
                  <a:schemeClr val="tx1"/>
                </a:solidFill>
              </a:rPr>
              <a:t>Requests to defeat a protection blocked - reports allowed</a:t>
            </a:r>
            <a:endParaRPr lang="en-US" sz="1400" dirty="0"/>
          </a:p>
          <a:p>
            <a:pPr marL="342900" indent="-342900">
              <a:spcAft>
                <a:spcPts val="600"/>
              </a:spcAft>
              <a:buSzPct val="100000"/>
              <a:buChar char="•"/>
            </a:pPr>
            <a:r>
              <a:rPr lang="en-US" sz="1400" dirty="0">
                <a:solidFill>
                  <a:schemeClr val="tx1"/>
                </a:solidFill>
              </a:rPr>
              <a:t>Emails and phone numbers redacted</a:t>
            </a:r>
            <a:endParaRPr lang="en-US" sz="1400" dirty="0"/>
          </a:p>
          <a:p>
            <a:pPr marL="342900" indent="-342900">
              <a:spcAft>
                <a:spcPts val="600"/>
              </a:spcAft>
              <a:buSzPct val="100000"/>
              <a:buChar char="•"/>
            </a:pPr>
            <a:r>
              <a:rPr lang="en-US" sz="1400" dirty="0">
                <a:solidFill>
                  <a:schemeClr val="tx1"/>
                </a:solidFill>
              </a:rPr>
              <a:t>Length limit</a:t>
            </a:r>
            <a:endParaRPr lang="en-US" sz="1400" dirty="0"/>
          </a:p>
        </p:txBody>
      </p:sp>
      <p:sp>
        <p:nvSpPr>
          <p:cNvPr id="7" name="Shape 5"/>
          <p:cNvSpPr/>
          <p:nvPr/>
        </p:nvSpPr>
        <p:spPr>
          <a:xfrm>
            <a:off x="3218688" y="1554480"/>
            <a:ext cx="128016" cy="914"/>
          </a:xfrm>
          <a:prstGeom prst="line">
            <a:avLst/>
          </a:prstGeom>
          <a:noFill/>
          <a:ln w="22225">
            <a:solidFill>
              <a:schemeClr val="accent5"/>
            </a:solidFill>
            <a:prstDash val="solid"/>
            <a:tailEnd type="triangle"/>
          </a:ln>
        </p:spPr>
      </p:sp>
      <p:sp>
        <p:nvSpPr>
          <p:cNvPr id="8" name="Shape 6"/>
          <p:cNvSpPr/>
          <p:nvPr/>
        </p:nvSpPr>
        <p:spPr>
          <a:xfrm>
            <a:off x="3364992" y="1325880"/>
            <a:ext cx="2651760" cy="457200"/>
          </a:xfrm>
          <a:prstGeom prst="roundRect">
            <a:avLst>
              <a:gd name="adj" fmla="val 12000"/>
            </a:avLst>
          </a:prstGeom>
          <a:solidFill>
            <a:schemeClr val="accent6"/>
          </a:solidFill>
          <a:ln w="12700">
            <a:solidFill>
              <a:schemeClr val="accent6"/>
            </a:solidFill>
            <a:prstDash val="solid"/>
          </a:ln>
        </p:spPr>
      </p:sp>
      <p:sp>
        <p:nvSpPr>
          <p:cNvPr id="9" name="Text 7"/>
          <p:cNvSpPr txBox="1"/>
          <p:nvPr/>
        </p:nvSpPr>
        <p:spPr>
          <a:xfrm>
            <a:off x="3364992" y="1325880"/>
            <a:ext cx="2651760" cy="457200"/>
          </a:xfrm>
          <a:prstGeom prst="rect">
            <a:avLst/>
          </a:prstGeom>
          <a:noFill/>
          <a:ln/>
        </p:spPr>
        <p:txBody>
          <a:bodyPr wrap="square" lIns="0" tIns="0" rIns="0" bIns="0" rtlCol="0" anchor="ctr"/>
          <a:lstStyle/>
          <a:p>
            <a:pPr algn="ctr" indent="0" marL="0">
              <a:buNone/>
            </a:pPr>
            <a:r>
              <a:rPr lang="en-US" sz="1500" b="1" dirty="0">
                <a:solidFill>
                  <a:schemeClr val="bg1"/>
                </a:solidFill>
              </a:rPr>
              <a:t>Routing + retrieval</a:t>
            </a:r>
            <a:endParaRPr lang="en-US" sz="1500" dirty="0"/>
          </a:p>
        </p:txBody>
      </p:sp>
      <p:sp>
        <p:nvSpPr>
          <p:cNvPr id="10" name="Shape 8"/>
          <p:cNvSpPr/>
          <p:nvPr/>
        </p:nvSpPr>
        <p:spPr>
          <a:xfrm>
            <a:off x="3364992" y="1874520"/>
            <a:ext cx="2651760" cy="2423160"/>
          </a:xfrm>
          <a:prstGeom prst="roundRect">
            <a:avLst>
              <a:gd name="adj" fmla="val 3019"/>
            </a:avLst>
          </a:prstGeom>
          <a:solidFill>
            <a:schemeClr val="bg2"/>
          </a:solidFill>
          <a:ln w="12700">
            <a:solidFill>
              <a:schemeClr val="bg2"/>
            </a:solidFill>
            <a:prstDash val="solid"/>
          </a:ln>
        </p:spPr>
      </p:sp>
      <p:sp>
        <p:nvSpPr>
          <p:cNvPr id="11" name="Text 9"/>
          <p:cNvSpPr txBox="1"/>
          <p:nvPr/>
        </p:nvSpPr>
        <p:spPr>
          <a:xfrm>
            <a:off x="3502152" y="2011680"/>
            <a:ext cx="2423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Confident off-topic declined</a:t>
            </a:r>
            <a:endParaRPr lang="en-US" sz="1400" dirty="0"/>
          </a:p>
          <a:p>
            <a:pPr marL="342900" indent="-342900">
              <a:spcAft>
                <a:spcPts val="600"/>
              </a:spcAft>
              <a:buSzPct val="100000"/>
              <a:buChar char="•"/>
            </a:pPr>
            <a:r>
              <a:rPr lang="en-US" sz="1400" dirty="0">
                <a:solidFill>
                  <a:schemeClr val="tx1"/>
                </a:solidFill>
              </a:rPr>
              <a:t>Hands-on work adds LOTO / PPE</a:t>
            </a:r>
            <a:endParaRPr lang="en-US" sz="1400" dirty="0"/>
          </a:p>
          <a:p>
            <a:pPr marL="342900" indent="-342900">
              <a:spcAft>
                <a:spcPts val="600"/>
              </a:spcAft>
              <a:buSzPct val="100000"/>
              <a:buChar char="•"/>
            </a:pPr>
            <a:r>
              <a:rPr lang="en-US" sz="1400" dirty="0">
                <a:solidFill>
                  <a:schemeClr val="tx1"/>
                </a:solidFill>
              </a:rPr>
              <a:t>Relevance gate 0.55; rewrite once, then escalate</a:t>
            </a:r>
            <a:endParaRPr lang="en-US" sz="1400" dirty="0"/>
          </a:p>
        </p:txBody>
      </p:sp>
      <p:sp>
        <p:nvSpPr>
          <p:cNvPr id="12" name="Shape 10"/>
          <p:cNvSpPr/>
          <p:nvPr/>
        </p:nvSpPr>
        <p:spPr>
          <a:xfrm>
            <a:off x="6035040" y="1554480"/>
            <a:ext cx="128016" cy="914"/>
          </a:xfrm>
          <a:prstGeom prst="line">
            <a:avLst/>
          </a:prstGeom>
          <a:noFill/>
          <a:ln w="22225">
            <a:solidFill>
              <a:schemeClr val="accent5"/>
            </a:solidFill>
            <a:prstDash val="solid"/>
            <a:tailEnd type="triangle"/>
          </a:ln>
        </p:spPr>
      </p:sp>
      <p:sp>
        <p:nvSpPr>
          <p:cNvPr id="13" name="Shape 11"/>
          <p:cNvSpPr/>
          <p:nvPr/>
        </p:nvSpPr>
        <p:spPr>
          <a:xfrm>
            <a:off x="6181344" y="1325880"/>
            <a:ext cx="2651760" cy="457200"/>
          </a:xfrm>
          <a:prstGeom prst="roundRect">
            <a:avLst>
              <a:gd name="adj" fmla="val 12000"/>
            </a:avLst>
          </a:prstGeom>
          <a:solidFill>
            <a:schemeClr val="accent3"/>
          </a:solidFill>
          <a:ln w="12700">
            <a:solidFill>
              <a:schemeClr val="accent3"/>
            </a:solidFill>
            <a:prstDash val="solid"/>
          </a:ln>
        </p:spPr>
      </p:sp>
      <p:sp>
        <p:nvSpPr>
          <p:cNvPr id="14" name="Text 12"/>
          <p:cNvSpPr txBox="1"/>
          <p:nvPr/>
        </p:nvSpPr>
        <p:spPr>
          <a:xfrm>
            <a:off x="6181344" y="1325880"/>
            <a:ext cx="2651760" cy="457200"/>
          </a:xfrm>
          <a:prstGeom prst="rect">
            <a:avLst/>
          </a:prstGeom>
          <a:noFill/>
          <a:ln/>
        </p:spPr>
        <p:txBody>
          <a:bodyPr wrap="square" lIns="0" tIns="0" rIns="0" bIns="0" rtlCol="0" anchor="ctr"/>
          <a:lstStyle/>
          <a:p>
            <a:pPr algn="ctr" indent="0" marL="0">
              <a:buNone/>
            </a:pPr>
            <a:r>
              <a:rPr lang="en-US" sz="1500" b="1" dirty="0">
                <a:solidFill>
                  <a:schemeClr val="bg1"/>
                </a:solidFill>
              </a:rPr>
              <a:t>Output</a:t>
            </a:r>
            <a:endParaRPr lang="en-US" sz="1500" dirty="0"/>
          </a:p>
        </p:txBody>
      </p:sp>
      <p:sp>
        <p:nvSpPr>
          <p:cNvPr id="15" name="Shape 13"/>
          <p:cNvSpPr/>
          <p:nvPr/>
        </p:nvSpPr>
        <p:spPr>
          <a:xfrm>
            <a:off x="6181344" y="1874520"/>
            <a:ext cx="2651760" cy="2423160"/>
          </a:xfrm>
          <a:prstGeom prst="roundRect">
            <a:avLst>
              <a:gd name="adj" fmla="val 3019"/>
            </a:avLst>
          </a:prstGeom>
          <a:solidFill>
            <a:schemeClr val="bg2"/>
          </a:solidFill>
          <a:ln w="12700">
            <a:solidFill>
              <a:schemeClr val="bg2"/>
            </a:solidFill>
            <a:prstDash val="solid"/>
          </a:ln>
        </p:spPr>
      </p:sp>
      <p:sp>
        <p:nvSpPr>
          <p:cNvPr id="16" name="Text 14"/>
          <p:cNvSpPr txBox="1"/>
          <p:nvPr/>
        </p:nvSpPr>
        <p:spPr>
          <a:xfrm>
            <a:off x="6318504" y="2011680"/>
            <a:ext cx="2423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Citations validated</a:t>
            </a:r>
            <a:endParaRPr lang="en-US" sz="1400" dirty="0"/>
          </a:p>
          <a:p>
            <a:pPr marL="342900" indent="-342900">
              <a:spcAft>
                <a:spcPts val="600"/>
              </a:spcAft>
              <a:buSzPct val="100000"/>
              <a:buChar char="•"/>
            </a:pPr>
            <a:r>
              <a:rPr lang="en-US" sz="1400" dirty="0">
                <a:solidFill>
                  <a:schemeClr val="tx1"/>
                </a:solidFill>
              </a:rPr>
              <a:t>Every number must appear in the excerpts</a:t>
            </a:r>
            <a:endParaRPr lang="en-US" sz="1400" dirty="0"/>
          </a:p>
          <a:p>
            <a:pPr marL="342900" indent="-342900">
              <a:spcAft>
                <a:spcPts val="600"/>
              </a:spcAft>
              <a:buSzPct val="100000"/>
              <a:buChar char="•"/>
            </a:pPr>
            <a:r>
              <a:rPr lang="en-US" sz="1400" dirty="0">
                <a:solidFill>
                  <a:schemeClr val="tx1"/>
                </a:solidFill>
              </a:rPr>
              <a:t>Unsafe advice withheld</a:t>
            </a:r>
            <a:endParaRPr lang="en-US" sz="1400" dirty="0"/>
          </a:p>
          <a:p>
            <a:pPr marL="342900" indent="-342900">
              <a:spcAft>
                <a:spcPts val="600"/>
              </a:spcAft>
              <a:buSzPct val="100000"/>
              <a:buChar char="•"/>
            </a:pPr>
            <a:r>
              <a:rPr lang="en-US" sz="1400" dirty="0">
                <a:solidFill>
                  <a:schemeClr val="tx1"/>
                </a:solidFill>
              </a:rPr>
              <a:t>LLM verifier (optional)</a:t>
            </a:r>
            <a:endParaRPr lang="en-US" sz="1400" dirty="0"/>
          </a:p>
        </p:txBody>
      </p:sp>
      <p:sp>
        <p:nvSpPr>
          <p:cNvPr id="17" name="Shape 15"/>
          <p:cNvSpPr/>
          <p:nvPr/>
        </p:nvSpPr>
        <p:spPr>
          <a:xfrm>
            <a:off x="8851392" y="1554480"/>
            <a:ext cx="128016" cy="914"/>
          </a:xfrm>
          <a:prstGeom prst="line">
            <a:avLst/>
          </a:prstGeom>
          <a:noFill/>
          <a:ln w="22225">
            <a:solidFill>
              <a:schemeClr val="accent5"/>
            </a:solidFill>
            <a:prstDash val="solid"/>
            <a:tailEnd type="triangle"/>
          </a:ln>
        </p:spPr>
      </p:sp>
      <p:sp>
        <p:nvSpPr>
          <p:cNvPr id="18" name="Shape 16"/>
          <p:cNvSpPr/>
          <p:nvPr/>
        </p:nvSpPr>
        <p:spPr>
          <a:xfrm>
            <a:off x="8997696" y="1325880"/>
            <a:ext cx="2651760" cy="457200"/>
          </a:xfrm>
          <a:prstGeom prst="roundRect">
            <a:avLst>
              <a:gd name="adj" fmla="val 12000"/>
            </a:avLst>
          </a:prstGeom>
          <a:solidFill>
            <a:schemeClr val="accent1"/>
          </a:solidFill>
          <a:ln w="12700">
            <a:solidFill>
              <a:schemeClr val="accent1"/>
            </a:solidFill>
            <a:prstDash val="solid"/>
          </a:ln>
        </p:spPr>
      </p:sp>
      <p:sp>
        <p:nvSpPr>
          <p:cNvPr id="19" name="Text 17"/>
          <p:cNvSpPr txBox="1"/>
          <p:nvPr/>
        </p:nvSpPr>
        <p:spPr>
          <a:xfrm>
            <a:off x="8997696" y="1325880"/>
            <a:ext cx="2651760" cy="457200"/>
          </a:xfrm>
          <a:prstGeom prst="rect">
            <a:avLst/>
          </a:prstGeom>
          <a:noFill/>
          <a:ln/>
        </p:spPr>
        <p:txBody>
          <a:bodyPr wrap="square" lIns="0" tIns="0" rIns="0" bIns="0" rtlCol="0" anchor="ctr"/>
          <a:lstStyle/>
          <a:p>
            <a:pPr algn="ctr" indent="0" marL="0">
              <a:buNone/>
            </a:pPr>
            <a:r>
              <a:rPr lang="en-US" sz="1500" b="1" dirty="0">
                <a:solidFill>
                  <a:schemeClr val="bg1"/>
                </a:solidFill>
              </a:rPr>
              <a:t>Response</a:t>
            </a:r>
            <a:endParaRPr lang="en-US" sz="1500" dirty="0"/>
          </a:p>
        </p:txBody>
      </p:sp>
      <p:sp>
        <p:nvSpPr>
          <p:cNvPr id="20" name="Shape 18"/>
          <p:cNvSpPr/>
          <p:nvPr/>
        </p:nvSpPr>
        <p:spPr>
          <a:xfrm>
            <a:off x="8997696" y="1874520"/>
            <a:ext cx="2651760" cy="2423160"/>
          </a:xfrm>
          <a:prstGeom prst="roundRect">
            <a:avLst>
              <a:gd name="adj" fmla="val 3019"/>
            </a:avLst>
          </a:prstGeom>
          <a:solidFill>
            <a:schemeClr val="bg2"/>
          </a:solidFill>
          <a:ln w="12700">
            <a:solidFill>
              <a:schemeClr val="bg2"/>
            </a:solidFill>
            <a:prstDash val="solid"/>
          </a:ln>
        </p:spPr>
      </p:sp>
      <p:sp>
        <p:nvSpPr>
          <p:cNvPr id="21" name="Text 19"/>
          <p:cNvSpPr txBox="1"/>
          <p:nvPr/>
        </p:nvSpPr>
        <p:spPr>
          <a:xfrm>
            <a:off x="9134856" y="2011680"/>
            <a:ext cx="2423160" cy="21945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Fixed emergency banner</a:t>
            </a:r>
            <a:endParaRPr lang="en-US" sz="1400" dirty="0"/>
          </a:p>
          <a:p>
            <a:pPr marL="342900" indent="-342900">
              <a:spcAft>
                <a:spcPts val="600"/>
              </a:spcAft>
              <a:buSzPct val="100000"/>
              <a:buChar char="•"/>
            </a:pPr>
            <a:r>
              <a:rPr lang="en-US" sz="1400" dirty="0">
                <a:solidFill>
                  <a:schemeClr val="tx1"/>
                </a:solidFill>
              </a:rPr>
              <a:t>Caveat if still unverified</a:t>
            </a:r>
            <a:endParaRPr lang="en-US" sz="1400" dirty="0"/>
          </a:p>
          <a:p>
            <a:pPr marL="342900" indent="-342900">
              <a:spcAft>
                <a:spcPts val="600"/>
              </a:spcAft>
              <a:buSzPct val="100000"/>
              <a:buChar char="•"/>
            </a:pPr>
            <a:r>
              <a:rPr lang="en-US" sz="1400" dirty="0">
                <a:solidFill>
                  <a:schemeClr val="tx1"/>
                </a:solidFill>
              </a:rPr>
              <a:t>Owner extension on escalation</a:t>
            </a:r>
            <a:endParaRPr lang="en-US" sz="1400" dirty="0"/>
          </a:p>
          <a:p>
            <a:pPr marL="342900" indent="-342900">
              <a:spcAft>
                <a:spcPts val="600"/>
              </a:spcAft>
              <a:buSzPct val="100000"/>
              <a:buChar char="•"/>
            </a:pPr>
            <a:r>
              <a:rPr lang="en-US" sz="1400" dirty="0">
                <a:solidFill>
                  <a:schemeClr val="tx1"/>
                </a:solidFill>
              </a:rPr>
              <a:t>Bedrock Guardrails on AWS</a:t>
            </a:r>
            <a:endParaRPr lang="en-US" sz="1400" dirty="0"/>
          </a:p>
        </p:txBody>
      </p:sp>
      <p:sp>
        <p:nvSpPr>
          <p:cNvPr id="22" name="Text 20"/>
          <p:cNvSpPr txBox="1"/>
          <p:nvPr/>
        </p:nvSpPr>
        <p:spPr>
          <a:xfrm>
            <a:off x="548640" y="4526280"/>
            <a:ext cx="3566160" cy="685800"/>
          </a:xfrm>
          <a:prstGeom prst="rect">
            <a:avLst/>
          </a:prstGeom>
          <a:noFill/>
          <a:ln/>
        </p:spPr>
        <p:txBody>
          <a:bodyPr wrap="square" lIns="0" tIns="0" rIns="0" bIns="0" rtlCol="0" anchor="t"/>
          <a:lstStyle/>
          <a:p>
            <a:pPr indent="0" marL="0">
              <a:buNone/>
            </a:pPr>
            <a:r>
              <a:rPr lang="en-US" sz="3600" b="1" dirty="0">
                <a:solidFill>
                  <a:schemeClr val="accent4"/>
                </a:solidFill>
                <a:latin typeface="Arial" pitchFamily="34" charset="0"/>
                <a:ea typeface="Arial" pitchFamily="34" charset="-122"/>
                <a:cs typeface="Arial" pitchFamily="34" charset="-120"/>
              </a:rPr>
              <a:t>16 / 16</a:t>
            </a:r>
            <a:endParaRPr lang="en-US" sz="3600" dirty="0"/>
          </a:p>
        </p:txBody>
      </p:sp>
      <p:sp>
        <p:nvSpPr>
          <p:cNvPr id="23" name="Text 21"/>
          <p:cNvSpPr txBox="1"/>
          <p:nvPr/>
        </p:nvSpPr>
        <p:spPr>
          <a:xfrm>
            <a:off x="548640" y="5212080"/>
            <a:ext cx="3474720" cy="731520"/>
          </a:xfrm>
          <a:prstGeom prst="rect">
            <a:avLst/>
          </a:prstGeom>
          <a:noFill/>
          <a:ln/>
        </p:spPr>
        <p:txBody>
          <a:bodyPr wrap="square" lIns="0" tIns="0" rIns="0" bIns="0" rtlCol="0" anchor="t"/>
          <a:lstStyle/>
          <a:p>
            <a:pPr indent="0" marL="0">
              <a:buNone/>
            </a:pPr>
            <a:r>
              <a:rPr lang="en-US" sz="1400" dirty="0">
                <a:solidFill>
                  <a:schemeClr val="tx1"/>
                </a:solidFill>
              </a:rPr>
              <a:t>guardrail eval cases correct (block precision 1.0, recall 1.0)</a:t>
            </a:r>
            <a:endParaRPr lang="en-US" sz="1400" dirty="0"/>
          </a:p>
        </p:txBody>
      </p:sp>
      <p:sp>
        <p:nvSpPr>
          <p:cNvPr id="24" name="Text 22"/>
          <p:cNvSpPr txBox="1"/>
          <p:nvPr/>
        </p:nvSpPr>
        <p:spPr>
          <a:xfrm>
            <a:off x="4297680" y="4526280"/>
            <a:ext cx="3566160" cy="685800"/>
          </a:xfrm>
          <a:prstGeom prst="rect">
            <a:avLst/>
          </a:prstGeom>
          <a:noFill/>
          <a:ln/>
        </p:spPr>
        <p:txBody>
          <a:bodyPr wrap="square" lIns="0" tIns="0" rIns="0" bIns="0" rtlCol="0" anchor="t"/>
          <a:lstStyle/>
          <a:p>
            <a:pPr indent="0" marL="0">
              <a:buNone/>
            </a:pPr>
            <a:r>
              <a:rPr lang="en-US" sz="3600" b="1" dirty="0">
                <a:solidFill>
                  <a:schemeClr val="accent2"/>
                </a:solidFill>
                <a:latin typeface="Arial" pitchFamily="34" charset="0"/>
                <a:ea typeface="Arial" pitchFamily="34" charset="-122"/>
                <a:cs typeface="Arial" pitchFamily="34" charset="-120"/>
              </a:rPr>
              <a:t>13 ms</a:t>
            </a:r>
            <a:endParaRPr lang="en-US" sz="3600" dirty="0"/>
          </a:p>
        </p:txBody>
      </p:sp>
      <p:sp>
        <p:nvSpPr>
          <p:cNvPr id="25" name="Text 23"/>
          <p:cNvSpPr txBox="1"/>
          <p:nvPr/>
        </p:nvSpPr>
        <p:spPr>
          <a:xfrm>
            <a:off x="4297680" y="5212080"/>
            <a:ext cx="3474720" cy="731520"/>
          </a:xfrm>
          <a:prstGeom prst="rect">
            <a:avLst/>
          </a:prstGeom>
          <a:noFill/>
          <a:ln/>
        </p:spPr>
        <p:txBody>
          <a:bodyPr wrap="square" lIns="0" tIns="0" rIns="0" bIns="0" rtlCol="0" anchor="t"/>
          <a:lstStyle/>
          <a:p>
            <a:pPr indent="0" marL="0">
              <a:buNone/>
            </a:pPr>
            <a:r>
              <a:rPr lang="en-US" sz="1400" dirty="0">
                <a:solidFill>
                  <a:schemeClr val="tx1"/>
                </a:solidFill>
              </a:rPr>
              <a:t>to refuse an unsafe request - no LLM or retrieval call</a:t>
            </a:r>
            <a:endParaRPr lang="en-US" sz="1400" dirty="0"/>
          </a:p>
        </p:txBody>
      </p:sp>
      <p:sp>
        <p:nvSpPr>
          <p:cNvPr id="26" name="Text 24"/>
          <p:cNvSpPr txBox="1"/>
          <p:nvPr/>
        </p:nvSpPr>
        <p:spPr>
          <a:xfrm>
            <a:off x="8046720" y="4526280"/>
            <a:ext cx="3566160" cy="685800"/>
          </a:xfrm>
          <a:prstGeom prst="rect">
            <a:avLst/>
          </a:prstGeom>
          <a:noFill/>
          <a:ln/>
        </p:spPr>
        <p:txBody>
          <a:bodyPr wrap="square" lIns="0" tIns="0" rIns="0" bIns="0" rtlCol="0" anchor="t"/>
          <a:lstStyle/>
          <a:p>
            <a:pPr indent="0" marL="0">
              <a:buNone/>
            </a:pPr>
            <a:r>
              <a:rPr lang="en-US" sz="3600" b="1" dirty="0">
                <a:solidFill>
                  <a:schemeClr val="accent3"/>
                </a:solidFill>
                <a:latin typeface="Arial" pitchFamily="34" charset="0"/>
                <a:ea typeface="Arial" pitchFamily="34" charset="-122"/>
                <a:cs typeface="Arial" pitchFamily="34" charset="-120"/>
              </a:rPr>
              <a:t>Exact</a:t>
            </a:r>
            <a:endParaRPr lang="en-US" sz="3600" dirty="0"/>
          </a:p>
        </p:txBody>
      </p:sp>
      <p:sp>
        <p:nvSpPr>
          <p:cNvPr id="27" name="Text 25"/>
          <p:cNvSpPr txBox="1"/>
          <p:nvPr/>
        </p:nvSpPr>
        <p:spPr>
          <a:xfrm>
            <a:off x="8046720" y="5212080"/>
            <a:ext cx="3474720" cy="731520"/>
          </a:xfrm>
          <a:prstGeom prst="rect">
            <a:avLst/>
          </a:prstGeom>
          <a:noFill/>
          <a:ln/>
        </p:spPr>
        <p:txBody>
          <a:bodyPr wrap="square" lIns="0" tIns="0" rIns="0" bIns="0" rtlCol="0" anchor="t"/>
          <a:lstStyle/>
          <a:p>
            <a:pPr indent="0" marL="0">
              <a:buNone/>
            </a:pPr>
            <a:r>
              <a:rPr lang="en-US" sz="1400" dirty="0">
                <a:solidFill>
                  <a:schemeClr val="tx1"/>
                </a:solidFill>
              </a:rPr>
              <a:t>number check: an invented torque or pressure triggers regeneration, then a visible caveat</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Live run: four questions, four right routes</a:t>
            </a:r>
            <a:endParaRPr lang="en-US" sz="36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3291840"/>
                <a:gridCol w="2651760"/>
                <a:gridCol w="4023360"/>
                <a:gridCol w="1097280"/>
              </a:tblGrid>
              <a:tr h="457200">
                <a:tc>
                  <a:txBody>
                    <a:bodyPr/>
                    <a:lstStyle/>
                    <a:p>
                      <a:pPr indent="0" marL="0">
                        <a:buNone/>
                      </a:pPr>
                      <a:r>
                        <a:rPr lang="en-US" sz="1400" b="1" dirty="0">
                          <a:solidFill>
                            <a:srgbClr val="FFFFFF"/>
                          </a:solidFill>
                        </a:rPr>
                        <a:t>Question</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Routed to</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Outcome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Time, CPU</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r>
              <a:tr h="457200">
                <a:tc>
                  <a:txBody>
                    <a:bodyPr/>
                    <a:lstStyle/>
                    <a:p>
                      <a:pPr indent="0" marL="0">
                        <a:buNone/>
                      </a:pPr>
                      <a:r>
                        <a:rPr lang="en-US" sz="1400" dirty="0">
                          <a:solidFill>
                            <a:srgbClr val="1B2430"/>
                          </a:solidFill>
                        </a:rPr>
                        <a:t>Replace the HP-200 cylinder seal</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maintenance + safety (policy)</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Answered; LOTO first, 210 ft-lb torque cited</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243 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10 gallons of solvent spilled</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safety (emergency)</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Banner + major-spill steps, ext. 5555</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150 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8 points above the X-bar center line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quality</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Correct verdict, thin explanation</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132 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400" dirty="0">
                          <a:solidFill>
                            <a:srgbClr val="1B2430"/>
                          </a:solidFill>
                        </a:rPr>
                        <a:t>What's on the cafeteria menu?</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out of scope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Declined before retrieval</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&lt; 10 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4069080"/>
            <a:ext cx="3566160" cy="822960"/>
          </a:xfrm>
          <a:prstGeom prst="rect">
            <a:avLst/>
          </a:prstGeom>
          <a:noFill/>
          <a:ln/>
        </p:spPr>
        <p:txBody>
          <a:bodyPr wrap="square" lIns="0" tIns="0" rIns="0" bIns="0" rtlCol="0" anchor="t"/>
          <a:lstStyle/>
          <a:p>
            <a:pPr indent="0" marL="0">
              <a:buNone/>
            </a:pPr>
            <a:r>
              <a:rPr lang="en-US" sz="4800" b="1" dirty="0">
                <a:solidFill>
                  <a:schemeClr val="accent4"/>
                </a:solidFill>
                <a:latin typeface="Arial" pitchFamily="34" charset="0"/>
                <a:ea typeface="Arial" pitchFamily="34" charset="-122"/>
                <a:cs typeface="Arial" pitchFamily="34" charset="-120"/>
              </a:rPr>
              <a:t>4 / 4</a:t>
            </a:r>
            <a:endParaRPr lang="en-US" sz="4800" dirty="0"/>
          </a:p>
        </p:txBody>
      </p:sp>
      <p:sp>
        <p:nvSpPr>
          <p:cNvPr id="5" name="Text 2"/>
          <p:cNvSpPr txBox="1"/>
          <p:nvPr/>
        </p:nvSpPr>
        <p:spPr>
          <a:xfrm>
            <a:off x="548640" y="4892040"/>
            <a:ext cx="3383280" cy="822960"/>
          </a:xfrm>
          <a:prstGeom prst="rect">
            <a:avLst/>
          </a:prstGeom>
          <a:noFill/>
          <a:ln/>
        </p:spPr>
        <p:txBody>
          <a:bodyPr wrap="square" lIns="0" tIns="0" rIns="0" bIns="0" rtlCol="0" anchor="t"/>
          <a:lstStyle/>
          <a:p>
            <a:pPr indent="0" marL="0">
              <a:buNone/>
            </a:pPr>
            <a:r>
              <a:rPr lang="en-US" sz="1400" dirty="0">
                <a:solidFill>
                  <a:schemeClr val="tx1"/>
                </a:solidFill>
              </a:rPr>
              <a:t>questions routed to the right source</a:t>
            </a:r>
            <a:endParaRPr lang="en-US" sz="1400" dirty="0"/>
          </a:p>
        </p:txBody>
      </p:sp>
      <p:sp>
        <p:nvSpPr>
          <p:cNvPr id="6" name="Text 3"/>
          <p:cNvSpPr txBox="1"/>
          <p:nvPr/>
        </p:nvSpPr>
        <p:spPr>
          <a:xfrm>
            <a:off x="4297680" y="4069080"/>
            <a:ext cx="3566160" cy="822960"/>
          </a:xfrm>
          <a:prstGeom prst="rect">
            <a:avLst/>
          </a:prstGeom>
          <a:noFill/>
          <a:ln/>
        </p:spPr>
        <p:txBody>
          <a:bodyPr wrap="square" lIns="0" tIns="0" rIns="0" bIns="0" rtlCol="0" anchor="t"/>
          <a:lstStyle/>
          <a:p>
            <a:pPr indent="0" marL="0">
              <a:buNone/>
            </a:pPr>
            <a:r>
              <a:rPr lang="en-US" sz="4800" b="1" dirty="0">
                <a:solidFill>
                  <a:schemeClr val="accent2"/>
                </a:solidFill>
                <a:latin typeface="Arial" pitchFamily="34" charset="0"/>
                <a:ea typeface="Arial" pitchFamily="34" charset="-122"/>
                <a:cs typeface="Arial" pitchFamily="34" charset="-120"/>
              </a:rPr>
              <a:t>4 / 4</a:t>
            </a:r>
            <a:endParaRPr lang="en-US" sz="4800" dirty="0"/>
          </a:p>
        </p:txBody>
      </p:sp>
      <p:sp>
        <p:nvSpPr>
          <p:cNvPr id="7" name="Text 4"/>
          <p:cNvSpPr txBox="1"/>
          <p:nvPr/>
        </p:nvSpPr>
        <p:spPr>
          <a:xfrm>
            <a:off x="4297680" y="4892040"/>
            <a:ext cx="3383280" cy="822960"/>
          </a:xfrm>
          <a:prstGeom prst="rect">
            <a:avLst/>
          </a:prstGeom>
          <a:noFill/>
          <a:ln/>
        </p:spPr>
        <p:txBody>
          <a:bodyPr wrap="square" lIns="0" tIns="0" rIns="0" bIns="0" rtlCol="0" anchor="t"/>
          <a:lstStyle/>
          <a:p>
            <a:pPr indent="0" marL="0">
              <a:buNone/>
            </a:pPr>
            <a:r>
              <a:rPr lang="en-US" sz="1400" dirty="0">
                <a:solidFill>
                  <a:schemeClr val="tx1"/>
                </a:solidFill>
              </a:rPr>
              <a:t>answers flagged by the 3B grounding checker - too strict; off locally, on with Claude</a:t>
            </a:r>
            <a:endParaRPr lang="en-US" sz="1400" dirty="0"/>
          </a:p>
        </p:txBody>
      </p:sp>
      <p:sp>
        <p:nvSpPr>
          <p:cNvPr id="8" name="Text 5"/>
          <p:cNvSpPr txBox="1"/>
          <p:nvPr/>
        </p:nvSpPr>
        <p:spPr>
          <a:xfrm>
            <a:off x="8046720" y="4069080"/>
            <a:ext cx="3566160" cy="822960"/>
          </a:xfrm>
          <a:prstGeom prst="rect">
            <a:avLst/>
          </a:prstGeom>
          <a:noFill/>
          <a:ln/>
        </p:spPr>
        <p:txBody>
          <a:bodyPr wrap="square" lIns="0" tIns="0" rIns="0" bIns="0" rtlCol="0" anchor="t"/>
          <a:lstStyle/>
          <a:p>
            <a:pPr indent="0" marL="0">
              <a:buNone/>
            </a:pPr>
            <a:r>
              <a:rPr lang="en-US" sz="4800" b="1" dirty="0">
                <a:solidFill>
                  <a:schemeClr val="accent1"/>
                </a:solidFill>
                <a:latin typeface="Arial" pitchFamily="34" charset="0"/>
                <a:ea typeface="Arial" pitchFamily="34" charset="-122"/>
                <a:cs typeface="Arial" pitchFamily="34" charset="-120"/>
              </a:rPr>
              <a:t>50%</a:t>
            </a:r>
            <a:endParaRPr lang="en-US" sz="4800" dirty="0"/>
          </a:p>
        </p:txBody>
      </p:sp>
      <p:sp>
        <p:nvSpPr>
          <p:cNvPr id="9" name="Text 6"/>
          <p:cNvSpPr txBox="1"/>
          <p:nvPr/>
        </p:nvSpPr>
        <p:spPr>
          <a:xfrm>
            <a:off x="8046720" y="4892040"/>
            <a:ext cx="3383280" cy="822960"/>
          </a:xfrm>
          <a:prstGeom prst="rect">
            <a:avLst/>
          </a:prstGeom>
          <a:noFill/>
          <a:ln/>
        </p:spPr>
        <p:txBody>
          <a:bodyPr wrap="square" lIns="0" tIns="0" rIns="0" bIns="0" rtlCol="0" anchor="t"/>
          <a:lstStyle/>
          <a:p>
            <a:pPr indent="0" marL="0">
              <a:buNone/>
            </a:pPr>
            <a:r>
              <a:rPr lang="en-US" sz="1400" dirty="0">
                <a:solidFill>
                  <a:schemeClr val="tx1"/>
                </a:solidFill>
              </a:rPr>
              <a:t>CPU cap on Ollama (OLLAMA_NUM_THREAD=2); model memory freed 60 s after use</a:t>
            </a:r>
            <a:endParaRPr lang="en-US" sz="1400" dirty="0"/>
          </a:p>
        </p:txBody>
      </p:sp>
      <p:sp>
        <p:nvSpPr>
          <p:cNvPr id="10" name="Text 7"/>
          <p:cNvSpPr txBox="1"/>
          <p:nvPr/>
        </p:nvSpPr>
        <p:spPr>
          <a:xfrm>
            <a:off x="548640" y="6035040"/>
            <a:ext cx="11064240" cy="274320"/>
          </a:xfrm>
          <a:prstGeom prst="rect">
            <a:avLst/>
          </a:prstGeom>
          <a:noFill/>
          <a:ln/>
        </p:spPr>
        <p:txBody>
          <a:bodyPr wrap="square" lIns="0" tIns="0" rIns="0" bIns="0" rtlCol="0" anchor="t"/>
          <a:lstStyle/>
          <a:p>
            <a:pPr indent="0" marL="0">
              <a:buNone/>
            </a:pPr>
            <a:r>
              <a:rPr lang="en-US" sz="1100" dirty="0">
                <a:solidFill>
                  <a:schemeClr val="accent5"/>
                </a:solidFill>
              </a:rPr>
              <a:t>Live run on llama3.2 (3B) on a 4-core CPU with grounding check on (before the guardrail and chunking upgrades).</a:t>
            </a:r>
            <a:endParaRPr lang="en-US" sz="11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Evaluation: what we measure and current results</a:t>
            </a:r>
            <a:endParaRPr lang="en-US" sz="36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6949440" cy="914400"/>
        </p:xfrm>
        <a:graphic>
          <a:graphicData uri="http://schemas.openxmlformats.org/drawingml/2006/table">
            <a:tbl>
              <a:tblPr/>
              <a:tblGrid>
                <a:gridCol w="1280160"/>
                <a:gridCol w="3566160"/>
                <a:gridCol w="2103120"/>
              </a:tblGrid>
              <a:tr h="502920">
                <a:tc>
                  <a:txBody>
                    <a:bodyPr/>
                    <a:lstStyle/>
                    <a:p>
                      <a:pPr indent="0" marL="0">
                        <a:buNone/>
                      </a:pPr>
                      <a:r>
                        <a:rPr lang="en-US" sz="1400" b="1" dirty="0">
                          <a:solidFill>
                            <a:srgbClr val="FFFFFF"/>
                          </a:solidFill>
                        </a:rPr>
                        <a:t>Area</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Metric</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Current</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r>
              <a:tr h="502920">
                <a:tc>
                  <a:txBody>
                    <a:bodyPr/>
                    <a:lstStyle/>
                    <a:p>
                      <a:pPr indent="0" marL="0">
                        <a:buNone/>
                      </a:pPr>
                      <a:r>
                        <a:rPr lang="en-US" sz="1300" b="1" dirty="0">
                          <a:solidFill>
                            <a:srgbClr val="1B2430"/>
                          </a:solidFill>
                        </a:rPr>
                        <a:t>Retrieval</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Hit@5: expected document retrieved</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100% (26 in-scope)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Retrieval</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MRR: 1 / rank of first expected document</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0.974</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Guardrails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Block precision / recall (16 cases)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1.0 / 1.0</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Routing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Keyword fallback accuracy (28 questions)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82%</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Routing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LLM router accuracy</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4 / 4 live; full set: run_eval</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300" b="1" dirty="0">
                          <a:solidFill>
                            <a:srgbClr val="1B2430"/>
                          </a:solidFill>
                        </a:rPr>
                        <a:t>Answers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Fact recall, expected doc cited, numeric grounding, latency p50/p95</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b="1" dirty="0">
                          <a:solidFill>
                            <a:srgbClr val="1B2430"/>
                          </a:solidFill>
                        </a:rPr>
                        <a:t>run_eval --full / LangSmith</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4" name="Shape 1"/>
          <p:cNvSpPr/>
          <p:nvPr/>
        </p:nvSpPr>
        <p:spPr>
          <a:xfrm>
            <a:off x="7772400" y="1325880"/>
            <a:ext cx="3840480" cy="3108960"/>
          </a:xfrm>
          <a:prstGeom prst="roundRect">
            <a:avLst>
              <a:gd name="adj" fmla="val 2353"/>
            </a:avLst>
          </a:prstGeom>
          <a:solidFill>
            <a:schemeClr val="tx2"/>
          </a:solidFill>
          <a:ln w="12700">
            <a:solidFill>
              <a:schemeClr val="tx2"/>
            </a:solidFill>
            <a:prstDash val="solid"/>
          </a:ln>
        </p:spPr>
      </p:sp>
      <p:sp>
        <p:nvSpPr>
          <p:cNvPr id="5" name="Text 2"/>
          <p:cNvSpPr txBox="1"/>
          <p:nvPr/>
        </p:nvSpPr>
        <p:spPr>
          <a:xfrm>
            <a:off x="8001000" y="1508760"/>
            <a:ext cx="3383280" cy="27432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 no chat-model calls, ~20 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 -m eval.run_eval --no-llm</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LLM router accuracy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 -m eval.run_eval</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end-to-end answers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 -m eval.run_eval --full</a:t>
            </a:r>
            <a:endParaRPr lang="en-US" sz="1200" dirty="0"/>
          </a:p>
          <a:p>
            <a:pPr indent="0" marL="0">
              <a:buNone/>
            </a:pP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LangSmith experiment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python -m eval.langsmith_eval</a:t>
            </a:r>
            <a:endParaRPr lang="en-US" sz="1200" dirty="0"/>
          </a:p>
        </p:txBody>
      </p:sp>
      <p:sp>
        <p:nvSpPr>
          <p:cNvPr id="6" name="Text 3"/>
          <p:cNvSpPr txBox="1"/>
          <p:nvPr/>
        </p:nvSpPr>
        <p:spPr>
          <a:xfrm>
            <a:off x="548640" y="5074920"/>
            <a:ext cx="11064240" cy="822960"/>
          </a:xfrm>
          <a:prstGeom prst="rect">
            <a:avLst/>
          </a:prstGeom>
          <a:noFill/>
          <a:ln/>
        </p:spPr>
        <p:txBody>
          <a:bodyPr wrap="square" lIns="0" tIns="0" rIns="0" bIns="0" rtlCol="0" anchor="t"/>
          <a:lstStyle/>
          <a:p>
            <a:pPr indent="0" marL="0">
              <a:buNone/>
            </a:pPr>
            <a:r>
              <a:rPr lang="en-US" sz="1400" dirty="0">
                <a:solidFill>
                  <a:schemeClr val="tx1"/>
                </a:solidFill>
              </a:rPr>
              <a:t>Keyword fallback misses still retrieve the right document: low confidence widens the search to every source. Run --no-llm in CI as a fast regression gate; run --full before changing models, prompts or thresholds.</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Monitoring: LangSmith traces, feedback, audit log</a:t>
            </a:r>
            <a:endParaRPr lang="en-US" sz="3600" dirty="0"/>
          </a:p>
        </p:txBody>
      </p:sp>
      <p:sp>
        <p:nvSpPr>
          <p:cNvPr id="3" name="Shape 1"/>
          <p:cNvSpPr/>
          <p:nvPr/>
        </p:nvSpPr>
        <p:spPr>
          <a:xfrm>
            <a:off x="548640" y="1371600"/>
            <a:ext cx="457200" cy="457200"/>
          </a:xfrm>
          <a:prstGeom prst="ellipse">
            <a:avLst/>
          </a:prstGeom>
          <a:solidFill>
            <a:schemeClr val="accent6"/>
          </a:solidFill>
          <a:ln w="12700">
            <a:solidFill>
              <a:schemeClr val="accent6"/>
            </a:solidFill>
            <a:prstDash val="solid"/>
          </a:ln>
        </p:spPr>
      </p:sp>
      <p:sp>
        <p:nvSpPr>
          <p:cNvPr id="4" name="Text 2"/>
          <p:cNvSpPr txBox="1"/>
          <p:nvPr/>
        </p:nvSpPr>
        <p:spPr>
          <a:xfrm>
            <a:off x="548640" y="1371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5" name="Text 3"/>
          <p:cNvSpPr txBox="1"/>
          <p:nvPr/>
        </p:nvSpPr>
        <p:spPr>
          <a:xfrm>
            <a:off x="1143000" y="1325880"/>
            <a:ext cx="5120640" cy="841248"/>
          </a:xfrm>
          <a:prstGeom prst="rect">
            <a:avLst/>
          </a:prstGeom>
          <a:noFill/>
          <a:ln/>
        </p:spPr>
        <p:txBody>
          <a:bodyPr wrap="square" lIns="0" tIns="0" rIns="0" bIns="0" rtlCol="0" anchor="t"/>
          <a:lstStyle/>
          <a:p>
            <a:pPr indent="0" marL="0">
              <a:buNone/>
            </a:pPr>
            <a:r>
              <a:rPr lang="en-US" sz="1500" b="1" dirty="0">
                <a:solidFill>
                  <a:schemeClr val="tx1"/>
                </a:solidFill>
              </a:rPr>
              <a:t>Tracing</a:t>
            </a:r>
            <a:endParaRPr lang="en-US" sz="1400" dirty="0"/>
          </a:p>
          <a:p>
            <a:pPr indent="0" marL="0">
              <a:buNone/>
            </a:pPr>
            <a:r>
              <a:rPr lang="en-US" sz="1300" dirty="0">
                <a:solidFill>
                  <a:schemeClr val="tx1"/>
                </a:solidFill>
              </a:rPr>
              <a:t>Every node, router output, retriever call, prompt, tokens and latency - automatic once LANGSMITH_TRACING=true.</a:t>
            </a:r>
            <a:endParaRPr lang="en-US" sz="1400" dirty="0"/>
          </a:p>
        </p:txBody>
      </p:sp>
      <p:sp>
        <p:nvSpPr>
          <p:cNvPr id="6" name="Shape 4"/>
          <p:cNvSpPr/>
          <p:nvPr/>
        </p:nvSpPr>
        <p:spPr>
          <a:xfrm>
            <a:off x="548640" y="2267712"/>
            <a:ext cx="457200" cy="457200"/>
          </a:xfrm>
          <a:prstGeom prst="ellipse">
            <a:avLst/>
          </a:prstGeom>
          <a:solidFill>
            <a:schemeClr val="accent6"/>
          </a:solidFill>
          <a:ln w="12700">
            <a:solidFill>
              <a:schemeClr val="accent6"/>
            </a:solidFill>
            <a:prstDash val="solid"/>
          </a:ln>
        </p:spPr>
      </p:sp>
      <p:sp>
        <p:nvSpPr>
          <p:cNvPr id="7" name="Text 5"/>
          <p:cNvSpPr txBox="1"/>
          <p:nvPr/>
        </p:nvSpPr>
        <p:spPr>
          <a:xfrm>
            <a:off x="548640" y="2267712"/>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8" name="Text 6"/>
          <p:cNvSpPr txBox="1"/>
          <p:nvPr/>
        </p:nvSpPr>
        <p:spPr>
          <a:xfrm>
            <a:off x="1143000" y="2221992"/>
            <a:ext cx="5120640" cy="841248"/>
          </a:xfrm>
          <a:prstGeom prst="rect">
            <a:avLst/>
          </a:prstGeom>
          <a:noFill/>
          <a:ln/>
        </p:spPr>
        <p:txBody>
          <a:bodyPr wrap="square" lIns="0" tIns="0" rIns="0" bIns="0" rtlCol="0" anchor="t"/>
          <a:lstStyle/>
          <a:p>
            <a:pPr indent="0" marL="0">
              <a:buNone/>
            </a:pPr>
            <a:r>
              <a:rPr lang="en-US" sz="1500" b="1" dirty="0">
                <a:solidFill>
                  <a:schemeClr val="tx1"/>
                </a:solidFill>
              </a:rPr>
              <a:t>Run metadata</a:t>
            </a:r>
            <a:endParaRPr lang="en-US" sz="1400" dirty="0"/>
          </a:p>
          <a:p>
            <a:pPr indent="0" marL="0">
              <a:buNone/>
            </a:pPr>
            <a:r>
              <a:rPr lang="en-US" sz="1300" dirty="0">
                <a:solidFill>
                  <a:schemeClr val="tx1"/>
                </a:solidFill>
              </a:rPr>
              <a:t>Tags for provider and channel (api, streamlit, cli, eval); a run_id per question is returned to the client.</a:t>
            </a:r>
            <a:endParaRPr lang="en-US" sz="1400" dirty="0"/>
          </a:p>
        </p:txBody>
      </p:sp>
      <p:sp>
        <p:nvSpPr>
          <p:cNvPr id="9" name="Shape 7"/>
          <p:cNvSpPr/>
          <p:nvPr/>
        </p:nvSpPr>
        <p:spPr>
          <a:xfrm>
            <a:off x="548640" y="3163824"/>
            <a:ext cx="457200" cy="457200"/>
          </a:xfrm>
          <a:prstGeom prst="ellipse">
            <a:avLst/>
          </a:prstGeom>
          <a:solidFill>
            <a:schemeClr val="accent6"/>
          </a:solidFill>
          <a:ln w="12700">
            <a:solidFill>
              <a:schemeClr val="accent6"/>
            </a:solidFill>
            <a:prstDash val="solid"/>
          </a:ln>
        </p:spPr>
      </p:sp>
      <p:sp>
        <p:nvSpPr>
          <p:cNvPr id="10" name="Text 8"/>
          <p:cNvSpPr txBox="1"/>
          <p:nvPr/>
        </p:nvSpPr>
        <p:spPr>
          <a:xfrm>
            <a:off x="548640" y="3163824"/>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1" name="Text 9"/>
          <p:cNvSpPr txBox="1"/>
          <p:nvPr/>
        </p:nvSpPr>
        <p:spPr>
          <a:xfrm>
            <a:off x="1143000" y="3118104"/>
            <a:ext cx="5120640" cy="841248"/>
          </a:xfrm>
          <a:prstGeom prst="rect">
            <a:avLst/>
          </a:prstGeom>
          <a:noFill/>
          <a:ln/>
        </p:spPr>
        <p:txBody>
          <a:bodyPr wrap="square" lIns="0" tIns="0" rIns="0" bIns="0" rtlCol="0" anchor="t"/>
          <a:lstStyle/>
          <a:p>
            <a:pPr indent="0" marL="0">
              <a:buNone/>
            </a:pPr>
            <a:r>
              <a:rPr lang="en-US" sz="1500" b="1" dirty="0">
                <a:solidFill>
                  <a:schemeClr val="tx1"/>
                </a:solidFill>
              </a:rPr>
              <a:t>Feedback</a:t>
            </a:r>
            <a:endParaRPr lang="en-US" sz="1400" dirty="0"/>
          </a:p>
          <a:p>
            <a:pPr indent="0" marL="0">
              <a:buNone/>
            </a:pPr>
            <a:r>
              <a:rPr lang="en-US" sz="1300" dirty="0">
                <a:solidFill>
                  <a:schemeClr val="tx1"/>
                </a:solidFill>
              </a:rPr>
              <a:t>Helpful / Not helpful in the UI or POST /feedback becomes supervisor_rating on the run.</a:t>
            </a:r>
            <a:endParaRPr lang="en-US" sz="1400" dirty="0"/>
          </a:p>
        </p:txBody>
      </p:sp>
      <p:sp>
        <p:nvSpPr>
          <p:cNvPr id="12" name="Shape 10"/>
          <p:cNvSpPr/>
          <p:nvPr/>
        </p:nvSpPr>
        <p:spPr>
          <a:xfrm>
            <a:off x="548640" y="4059936"/>
            <a:ext cx="457200" cy="457200"/>
          </a:xfrm>
          <a:prstGeom prst="ellipse">
            <a:avLst/>
          </a:prstGeom>
          <a:solidFill>
            <a:schemeClr val="accent6"/>
          </a:solidFill>
          <a:ln w="12700">
            <a:solidFill>
              <a:schemeClr val="accent6"/>
            </a:solidFill>
            <a:prstDash val="solid"/>
          </a:ln>
        </p:spPr>
      </p:sp>
      <p:sp>
        <p:nvSpPr>
          <p:cNvPr id="13" name="Text 11"/>
          <p:cNvSpPr txBox="1"/>
          <p:nvPr/>
        </p:nvSpPr>
        <p:spPr>
          <a:xfrm>
            <a:off x="548640" y="4059936"/>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4" name="Text 12"/>
          <p:cNvSpPr txBox="1"/>
          <p:nvPr/>
        </p:nvSpPr>
        <p:spPr>
          <a:xfrm>
            <a:off x="1143000" y="4014216"/>
            <a:ext cx="5120640" cy="841248"/>
          </a:xfrm>
          <a:prstGeom prst="rect">
            <a:avLst/>
          </a:prstGeom>
          <a:noFill/>
          <a:ln/>
        </p:spPr>
        <p:txBody>
          <a:bodyPr wrap="square" lIns="0" tIns="0" rIns="0" bIns="0" rtlCol="0" anchor="t"/>
          <a:lstStyle/>
          <a:p>
            <a:pPr indent="0" marL="0">
              <a:buNone/>
            </a:pPr>
            <a:r>
              <a:rPr lang="en-US" sz="1500" b="1" dirty="0">
                <a:solidFill>
                  <a:schemeClr val="tx1"/>
                </a:solidFill>
              </a:rPr>
              <a:t>Experiments</a:t>
            </a:r>
            <a:endParaRPr lang="en-US" sz="1400" dirty="0"/>
          </a:p>
          <a:p>
            <a:pPr indent="0" marL="0">
              <a:buNone/>
            </a:pPr>
            <a:r>
              <a:rPr lang="en-US" sz="1300" dirty="0">
                <a:solidFill>
                  <a:schemeClr val="tx1"/>
                </a:solidFill>
              </a:rPr>
              <a:t>eval/langsmith_eval.py scores route, cited document, fact recall and numeric grounding.</a:t>
            </a:r>
            <a:endParaRPr lang="en-US" sz="1400" dirty="0"/>
          </a:p>
        </p:txBody>
      </p:sp>
      <p:sp>
        <p:nvSpPr>
          <p:cNvPr id="15" name="Shape 13"/>
          <p:cNvSpPr/>
          <p:nvPr/>
        </p:nvSpPr>
        <p:spPr>
          <a:xfrm>
            <a:off x="548640" y="4956048"/>
            <a:ext cx="457200" cy="457200"/>
          </a:xfrm>
          <a:prstGeom prst="ellipse">
            <a:avLst/>
          </a:prstGeom>
          <a:solidFill>
            <a:schemeClr val="accent6"/>
          </a:solidFill>
          <a:ln w="12700">
            <a:solidFill>
              <a:schemeClr val="accent6"/>
            </a:solidFill>
            <a:prstDash val="solid"/>
          </a:ln>
        </p:spPr>
      </p:sp>
      <p:sp>
        <p:nvSpPr>
          <p:cNvPr id="16" name="Text 14"/>
          <p:cNvSpPr txBox="1"/>
          <p:nvPr/>
        </p:nvSpPr>
        <p:spPr>
          <a:xfrm>
            <a:off x="548640" y="4956048"/>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17" name="Text 15"/>
          <p:cNvSpPr txBox="1"/>
          <p:nvPr/>
        </p:nvSpPr>
        <p:spPr>
          <a:xfrm>
            <a:off x="1143000" y="4910328"/>
            <a:ext cx="5120640" cy="841248"/>
          </a:xfrm>
          <a:prstGeom prst="rect">
            <a:avLst/>
          </a:prstGeom>
          <a:noFill/>
          <a:ln/>
        </p:spPr>
        <p:txBody>
          <a:bodyPr wrap="square" lIns="0" tIns="0" rIns="0" bIns="0" rtlCol="0" anchor="t"/>
          <a:lstStyle/>
          <a:p>
            <a:pPr indent="0" marL="0">
              <a:buNone/>
            </a:pPr>
            <a:r>
              <a:rPr lang="en-US" sz="1500" b="1" dirty="0">
                <a:solidFill>
                  <a:schemeClr val="tx1"/>
                </a:solidFill>
              </a:rPr>
              <a:t>Privacy</a:t>
            </a:r>
            <a:endParaRPr lang="en-US" sz="1400" dirty="0"/>
          </a:p>
          <a:p>
            <a:pPr indent="0" marL="0">
              <a:buNone/>
            </a:pPr>
            <a:r>
              <a:rPr lang="en-US" sz="1300" dirty="0">
                <a:solidFill>
                  <a:schemeClr val="tx1"/>
                </a:solidFill>
              </a:rPr>
              <a:t>PII redacted first; LANGSMITH_HIDE_INPUTS / HIDE_OUTPUTS keep document text out.</a:t>
            </a:r>
            <a:endParaRPr lang="en-US" sz="1400" dirty="0"/>
          </a:p>
        </p:txBody>
      </p:sp>
      <p:sp>
        <p:nvSpPr>
          <p:cNvPr id="18" name="Text 16"/>
          <p:cNvSpPr txBox="1"/>
          <p:nvPr/>
        </p:nvSpPr>
        <p:spPr>
          <a:xfrm>
            <a:off x="6583680" y="1280160"/>
            <a:ext cx="5029200" cy="365760"/>
          </a:xfrm>
          <a:prstGeom prst="rect">
            <a:avLst/>
          </a:prstGeom>
          <a:noFill/>
          <a:ln/>
        </p:spPr>
        <p:txBody>
          <a:bodyPr wrap="square" lIns="0" tIns="0" rIns="0" bIns="0" rtlCol="0" anchor="t"/>
          <a:lstStyle/>
          <a:p>
            <a:pPr indent="0" marL="0">
              <a:buNone/>
            </a:pPr>
            <a:r>
              <a:rPr lang="en-US" sz="1500" b="1" dirty="0">
                <a:solidFill>
                  <a:schemeClr val="accent5"/>
                </a:solidFill>
              </a:rPr>
              <a:t>Local audit log - logs/audit.jsonl (one line per question)</a:t>
            </a:r>
            <a:endParaRPr lang="en-US" sz="1500" dirty="0"/>
          </a:p>
        </p:txBody>
      </p:sp>
      <p:sp>
        <p:nvSpPr>
          <p:cNvPr id="19" name="Shape 17"/>
          <p:cNvSpPr/>
          <p:nvPr/>
        </p:nvSpPr>
        <p:spPr>
          <a:xfrm>
            <a:off x="6583680" y="1691640"/>
            <a:ext cx="5029200" cy="2514600"/>
          </a:xfrm>
          <a:prstGeom prst="roundRect">
            <a:avLst>
              <a:gd name="adj" fmla="val 2909"/>
            </a:avLst>
          </a:prstGeom>
          <a:solidFill>
            <a:schemeClr val="tx2"/>
          </a:solidFill>
          <a:ln w="12700">
            <a:solidFill>
              <a:schemeClr val="tx2"/>
            </a:solidFill>
            <a:prstDash val="solid"/>
          </a:ln>
        </p:spPr>
      </p:sp>
      <p:sp>
        <p:nvSpPr>
          <p:cNvPr id="20" name="Text 18"/>
          <p:cNvSpPr txBox="1"/>
          <p:nvPr/>
        </p:nvSpPr>
        <p:spPr>
          <a:xfrm>
            <a:off x="6812280" y="1874520"/>
            <a:ext cx="4572000" cy="214884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{"run_id": "19e6c7e0-...",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"question": "How do I bypass the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light curtain on the HP-200?",</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"outcome": "blocked",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"guardrail": {"input_category":</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"unsafe_request"},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"cited_docs": [],</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"latency_ms": 13}</a:t>
            </a:r>
            <a:endParaRPr lang="en-US" sz="1200" dirty="0"/>
          </a:p>
        </p:txBody>
      </p:sp>
      <p:sp>
        <p:nvSpPr>
          <p:cNvPr id="21" name="Text 19"/>
          <p:cNvSpPr txBox="1"/>
          <p:nvPr/>
        </p:nvSpPr>
        <p:spPr>
          <a:xfrm>
            <a:off x="6583680" y="4434840"/>
            <a:ext cx="5029200" cy="822960"/>
          </a:xfrm>
          <a:prstGeom prst="rect">
            <a:avLst/>
          </a:prstGeom>
          <a:noFill/>
          <a:ln/>
        </p:spPr>
        <p:txBody>
          <a:bodyPr wrap="square" lIns="0" tIns="0" rIns="0" bIns="0" rtlCol="0" anchor="t"/>
          <a:lstStyle/>
          <a:p>
            <a:pPr indent="0" marL="0">
              <a:buNone/>
            </a:pPr>
            <a:r>
              <a:rPr lang="en-US" sz="1300" dirty="0">
                <a:solidFill>
                  <a:schemeClr val="tx1"/>
                </a:solidFill>
              </a:rPr>
              <a:t>Alert on: p95 latency, rate of no_answer / blocked / unverified answers, negative feedback per source, router fallback rate.</a:t>
            </a:r>
            <a:endParaRPr lang="en-US" sz="13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Tech stack</a:t>
            </a:r>
            <a:endParaRPr lang="en-US" sz="3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920240"/>
                <a:gridCol w="4480560"/>
                <a:gridCol w="4663440"/>
              </a:tblGrid>
              <a:tr h="457200">
                <a:tc>
                  <a:txBody>
                    <a:bodyPr/>
                    <a:lstStyle/>
                    <a:p>
                      <a:pPr indent="0" marL="0">
                        <a:buNone/>
                      </a:pPr>
                      <a:r>
                        <a:rPr lang="en-US" sz="1400" b="1" dirty="0">
                          <a:solidFill>
                            <a:srgbClr val="FFFFFF"/>
                          </a:solidFill>
                        </a:rPr>
                        <a:t>Layer</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Technology</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Why</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r>
              <a:tr h="457200">
                <a:tc>
                  <a:txBody>
                    <a:bodyPr/>
                    <a:lstStyle/>
                    <a:p>
                      <a:pPr indent="0" marL="0">
                        <a:buNone/>
                      </a:pPr>
                      <a:r>
                        <a:rPr lang="en-US" sz="1300" b="1" dirty="0">
                          <a:solidFill>
                            <a:srgbClr val="1B2430"/>
                          </a:solidFill>
                        </a:rPr>
                        <a:t>Orchestration</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LangGraph 1.2, LangChain core 1.6</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State machine: conditional edges, parallel Send(), reducers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Models (local)</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Ollama 0.40: llama3.2 3B, nomic-embed-text</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Free, private, runs on a laptop CPU</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Models (AWS)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Bedrock: Claude, Titan Embeddings v2, Guardrails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Managed; data stays in the AWS account</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Retrieval</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Chroma 1.5 + in-process BM25</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Embedded vector store; exact-term matching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Extraction</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PyYAML, python-docx 1.2, pdfplumber 0.11</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Front matter, Word structure, PDF tables</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Serving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FastAPI 0.143, Streamlit 1.65, AgentCore 1.24</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REST, supervisor UI, managed agent runtime</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Monitoring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LangSmith 0.14 + JSONL audit log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Traces, feedback, experiments; offline record</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Quality</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pytest 9 (44 unit tests), ruff</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Fake LLM + retrievers: no model needed</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1B2430"/>
                          </a:solidFill>
                        </a:rPr>
                        <a:t>Language / config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1B2430"/>
                          </a:solidFill>
                        </a:rPr>
                        <a:t>Python 3.12, pydantic-settings, .env</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300" dirty="0">
                          <a:solidFill>
                            <a:srgbClr val="6B7785"/>
                          </a:solidFill>
                        </a:rPr>
                        <a:t>Typed settings; provider switch by config</a:t>
                      </a:r>
                      <a:endParaRPr lang="en-US" sz="13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600" b="1" dirty="0">
                <a:solidFill>
                  <a:schemeClr val="tx1"/>
                </a:solidFill>
              </a:rPr>
              <a:t>From laptop to AWS Bedrock by config</a:t>
            </a:r>
            <a:endParaRPr lang="en-US" sz="36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64240" cy="914400"/>
        </p:xfrm>
        <a:graphic>
          <a:graphicData uri="http://schemas.openxmlformats.org/drawingml/2006/table">
            <a:tbl>
              <a:tblPr/>
              <a:tblGrid>
                <a:gridCol w="1828800"/>
                <a:gridCol w="3291840"/>
                <a:gridCol w="5943600"/>
              </a:tblGrid>
              <a:tr h="502920">
                <a:tc>
                  <a:txBody>
                    <a:bodyPr/>
                    <a:lstStyle/>
                    <a:p>
                      <a:pPr indent="0" marL="0">
                        <a:buNone/>
                      </a:pPr>
                      <a:r>
                        <a:rPr lang="en-US" sz="1400" b="1" dirty="0">
                          <a:solidFill>
                            <a:srgbClr val="FFFFFF"/>
                          </a:solidFill>
                        </a:rPr>
                        <a:t>Layer</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Local prototype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c>
                  <a:txBody>
                    <a:bodyPr/>
                    <a:lstStyle/>
                    <a:p>
                      <a:pPr indent="0" marL="0">
                        <a:buNone/>
                      </a:pPr>
                      <a:r>
                        <a:rPr lang="en-US" sz="1400" b="1" dirty="0">
                          <a:solidFill>
                            <a:srgbClr val="FFFFFF"/>
                          </a:solidFill>
                        </a:rPr>
                        <a:t>AWS production path</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24303D"/>
                    </a:solidFill>
                  </a:tcPr>
                </a:tc>
              </a:tr>
              <a:tr h="502920">
                <a:tc>
                  <a:txBody>
                    <a:bodyPr/>
                    <a:lstStyle/>
                    <a:p>
                      <a:pPr indent="0" marL="0">
                        <a:buNone/>
                      </a:pPr>
                      <a:r>
                        <a:rPr lang="en-US" sz="1400" b="1" dirty="0">
                          <a:solidFill>
                            <a:srgbClr val="1B2430"/>
                          </a:solidFill>
                        </a:rPr>
                        <a:t>Chat model</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Ollama llama3.2 (3B, CPU)</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Claude on Amazon Bedrock (ChatBedrockConverse)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430"/>
                          </a:solidFill>
                        </a:rPr>
                        <a:t>Embeddings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nomic-embed-text</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Amazon Titan Text Embeddings v2</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430"/>
                          </a:solidFill>
                        </a:rPr>
                        <a:t>Vector store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Chroma on disk</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Chroma in container (pilot) -&gt; OpenSearch Serverless or Bedrock Knowledge Bases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430"/>
                          </a:solidFill>
                        </a:rPr>
                        <a:t>Runtime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CLI, FastAPI, Streamlit</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Bedrock AgentCore Runtime, or ECS Fargate / App Runner</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r h="502920">
                <a:tc>
                  <a:txBody>
                    <a:bodyPr/>
                    <a:lstStyle/>
                    <a:p>
                      <a:pPr indent="0" marL="0">
                        <a:buNone/>
                      </a:pPr>
                      <a:r>
                        <a:rPr lang="en-US" sz="1400" b="1" dirty="0">
                          <a:solidFill>
                            <a:srgbClr val="1B2430"/>
                          </a:solidFill>
                        </a:rPr>
                        <a:t>Ops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Graph trace in every response</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c>
                  <a:txBody>
                    <a:bodyPr/>
                    <a:lstStyle/>
                    <a:p>
                      <a:pPr indent="0" marL="0">
                        <a:buNone/>
                      </a:pPr>
                      <a:r>
                        <a:rPr lang="en-US" sz="1400" dirty="0">
                          <a:solidFill>
                            <a:srgbClr val="1B2430"/>
                          </a:solidFill>
                        </a:rPr>
                        <a:t>IAM role, CloudWatch logs, LangSmith tracing, Bedrock Guardrails</a:t>
                      </a:r>
                      <a:endParaRPr lang="en-US" sz="1400" dirty="0"/>
                    </a:p>
                  </a:txBody>
                  <a:tcPr marL="91440" marR="91440" marT="45720" marB="45720" anchor="ctr">
                    <a:lnL w="9525" cap="flat" cmpd="sng" algn="ctr">
                      <a:solidFill>
                        <a:srgbClr val="D9DEE4"/>
                      </a:solidFill>
                      <a:prstDash val="solid"/>
                      <a:round/>
                      <a:headEnd type="none" w="med" len="med"/>
                      <a:tailEnd type="none" w="med" len="med"/>
                    </a:lnL>
                    <a:lnR w="9525" cap="flat" cmpd="sng" algn="ctr">
                      <a:solidFill>
                        <a:srgbClr val="D9DEE4"/>
                      </a:solidFill>
                      <a:prstDash val="solid"/>
                      <a:round/>
                      <a:headEnd type="none" w="med" len="med"/>
                      <a:tailEnd type="none" w="med" len="med"/>
                    </a:lnR>
                    <a:lnT w="9525" cap="flat" cmpd="sng" algn="ctr">
                      <a:solidFill>
                        <a:srgbClr val="D9DEE4"/>
                      </a:solidFill>
                      <a:prstDash val="solid"/>
                      <a:round/>
                      <a:headEnd type="none" w="med" len="med"/>
                      <a:tailEnd type="none" w="med" len="med"/>
                    </a:lnT>
                    <a:lnB w="9525" cap="flat" cmpd="sng" algn="ctr">
                      <a:solidFill>
                        <a:srgbClr val="D9DEE4"/>
                      </a:solidFill>
                      <a:prstDash val="solid"/>
                      <a:round/>
                      <a:headEnd type="none" w="med" len="med"/>
                      <a:tailEnd type="none" w="med" len="med"/>
                    </a:lnB>
                    <a:solidFill>
                      <a:srgbClr val="FFFFFF"/>
                    </a:solidFill>
                  </a:tcPr>
                </a:tc>
              </a:tr>
            </a:tbl>
          </a:graphicData>
        </a:graphic>
      </p:graphicFrame>
      <p:sp>
        <p:nvSpPr>
          <p:cNvPr id="4" name="Shape 1"/>
          <p:cNvSpPr/>
          <p:nvPr/>
        </p:nvSpPr>
        <p:spPr>
          <a:xfrm>
            <a:off x="548640" y="4709160"/>
            <a:ext cx="11064240" cy="1234440"/>
          </a:xfrm>
          <a:prstGeom prst="roundRect">
            <a:avLst>
              <a:gd name="adj" fmla="val 5926"/>
            </a:avLst>
          </a:prstGeom>
          <a:solidFill>
            <a:schemeClr val="tx2"/>
          </a:solidFill>
          <a:ln w="12700">
            <a:solidFill>
              <a:schemeClr val="tx2"/>
            </a:solidFill>
            <a:prstDash val="solid"/>
          </a:ln>
        </p:spPr>
      </p:sp>
      <p:sp>
        <p:nvSpPr>
          <p:cNvPr id="5" name="Text 2"/>
          <p:cNvSpPr txBox="1"/>
          <p:nvPr/>
        </p:nvSpPr>
        <p:spPr>
          <a:xfrm>
            <a:off x="777240" y="4818888"/>
            <a:ext cx="10607040" cy="320040"/>
          </a:xfrm>
          <a:prstGeom prst="rect">
            <a:avLst/>
          </a:prstGeom>
          <a:noFill/>
          <a:ln/>
        </p:spPr>
        <p:txBody>
          <a:bodyPr wrap="square" lIns="0" tIns="0" rIns="0" bIns="0" rtlCol="0" anchor="t"/>
          <a:lstStyle/>
          <a:p>
            <a:pPr indent="0" marL="0">
              <a:buNone/>
            </a:pPr>
            <a:r>
              <a:rPr lang="en-US" sz="1400" b="1" dirty="0">
                <a:solidFill>
                  <a:schemeClr val="accent1"/>
                </a:solidFill>
              </a:rPr>
              <a:t>The switch is environment only - no code changes:</a:t>
            </a:r>
            <a:endParaRPr lang="en-US" sz="1400" dirty="0"/>
          </a:p>
        </p:txBody>
      </p:sp>
      <p:sp>
        <p:nvSpPr>
          <p:cNvPr id="6" name="Text 3"/>
          <p:cNvSpPr txBox="1"/>
          <p:nvPr/>
        </p:nvSpPr>
        <p:spPr>
          <a:xfrm>
            <a:off x="777240" y="5184648"/>
            <a:ext cx="10607040" cy="77724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LLM_PROVIDER=bedrock   EMBEDDING_PROVIDER=bedrock   AWS_REGION=us-east-1</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BEDROCK_MODEL_ID=&lt;Claude model or inference-profile ID&gt;   -&gt;   index rebuilds automatically</a:t>
            </a:r>
            <a:endParaRPr lang="en-US" sz="14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731520" y="640080"/>
            <a:ext cx="10698480" cy="1005840"/>
          </a:xfrm>
          <a:prstGeom prst="rect">
            <a:avLst/>
          </a:prstGeom>
          <a:noFill/>
          <a:ln/>
        </p:spPr>
        <p:txBody>
          <a:bodyPr wrap="square" lIns="0" tIns="0" rIns="0" bIns="0" rtlCol="0" anchor="b"/>
          <a:lstStyle/>
          <a:p>
            <a:pPr algn="l" indent="0" marL="0">
              <a:buNone/>
            </a:pPr>
            <a:r>
              <a:rPr lang="en-US" sz="4800" b="1" dirty="0">
                <a:solidFill>
                  <a:schemeClr val="bg1"/>
                </a:solidFill>
              </a:rPr>
              <a:t>Next steps</a:t>
            </a:r>
            <a:endParaRPr lang="en-US" sz="4800" dirty="0"/>
          </a:p>
        </p:txBody>
      </p:sp>
      <p:sp>
        <p:nvSpPr>
          <p:cNvPr id="3" name="Text 0"/>
          <p:cNvSpPr/>
          <p:nvPr>
            <p:ph idx="101" type="body" hasCustomPrompt="1"/>
          </p:nvPr>
        </p:nvSpPr>
        <p:spPr>
          <a:xfrm>
            <a:off x="731520" y="1737360"/>
            <a:ext cx="10698480" cy="548640"/>
          </a:xfrm>
          <a:prstGeom prst="rect">
            <a:avLst/>
          </a:prstGeom>
          <a:noFill/>
          <a:ln/>
        </p:spPr>
        <p:txBody>
          <a:bodyPr wrap="square" lIns="0" tIns="0" rIns="0" bIns="0" rtlCol="0" anchor="t"/>
          <a:lstStyle/>
          <a:p>
            <a:pPr algn="l" indent="0" marL="0">
              <a:buNone/>
            </a:pPr>
            <a:r>
              <a:rPr lang="en-US" sz="2200" dirty="0">
                <a:solidFill>
                  <a:schemeClr val="accent1"/>
                </a:solidFill>
              </a:rPr>
              <a:t>From prototype to a one-line pilot</a:t>
            </a:r>
            <a:endParaRPr lang="en-US" sz="2200" dirty="0"/>
          </a:p>
        </p:txBody>
      </p:sp>
      <p:sp>
        <p:nvSpPr>
          <p:cNvPr id="4" name="Shape 2"/>
          <p:cNvSpPr/>
          <p:nvPr/>
        </p:nvSpPr>
        <p:spPr>
          <a:xfrm>
            <a:off x="731520" y="2743200"/>
            <a:ext cx="502920" cy="502920"/>
          </a:xfrm>
          <a:prstGeom prst="ellipse">
            <a:avLst/>
          </a:prstGeom>
          <a:solidFill>
            <a:schemeClr val="accent1"/>
          </a:solidFill>
          <a:ln w="12700">
            <a:solidFill>
              <a:schemeClr val="accent1"/>
            </a:solidFill>
            <a:prstDash val="solid"/>
          </a:ln>
        </p:spPr>
      </p:sp>
      <p:sp>
        <p:nvSpPr>
          <p:cNvPr id="5" name="Text 3"/>
          <p:cNvSpPr txBox="1"/>
          <p:nvPr/>
        </p:nvSpPr>
        <p:spPr>
          <a:xfrm>
            <a:off x="731520" y="274320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 4"/>
          <p:cNvSpPr txBox="1"/>
          <p:nvPr/>
        </p:nvSpPr>
        <p:spPr>
          <a:xfrm>
            <a:off x="1463040" y="2743200"/>
            <a:ext cx="9966960" cy="502920"/>
          </a:xfrm>
          <a:prstGeom prst="rect">
            <a:avLst/>
          </a:prstGeom>
          <a:noFill/>
          <a:ln/>
        </p:spPr>
        <p:txBody>
          <a:bodyPr wrap="square" lIns="0" tIns="0" rIns="0" bIns="0" rtlCol="0" anchor="ctr"/>
          <a:lstStyle/>
          <a:p>
            <a:pPr indent="0" marL="0">
              <a:buNone/>
            </a:pPr>
            <a:r>
              <a:rPr lang="en-US" sz="1800" dirty="0">
                <a:solidFill>
                  <a:schemeClr val="bg1"/>
                </a:solidFill>
              </a:rPr>
              <a:t>Pilot on one production line with real SOPs synced from the document management system</a:t>
            </a:r>
            <a:endParaRPr lang="en-US" sz="1800" dirty="0"/>
          </a:p>
        </p:txBody>
      </p:sp>
      <p:sp>
        <p:nvSpPr>
          <p:cNvPr id="7" name="Shape 5"/>
          <p:cNvSpPr/>
          <p:nvPr/>
        </p:nvSpPr>
        <p:spPr>
          <a:xfrm>
            <a:off x="731520" y="3493008"/>
            <a:ext cx="502920" cy="502920"/>
          </a:xfrm>
          <a:prstGeom prst="ellipse">
            <a:avLst/>
          </a:prstGeom>
          <a:solidFill>
            <a:schemeClr val="accent1"/>
          </a:solidFill>
          <a:ln w="12700">
            <a:solidFill>
              <a:schemeClr val="accent1"/>
            </a:solidFill>
            <a:prstDash val="solid"/>
          </a:ln>
        </p:spPr>
      </p:sp>
      <p:sp>
        <p:nvSpPr>
          <p:cNvPr id="8" name="Text 6"/>
          <p:cNvSpPr txBox="1"/>
          <p:nvPr/>
        </p:nvSpPr>
        <p:spPr>
          <a:xfrm>
            <a:off x="731520" y="349300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 7"/>
          <p:cNvSpPr txBox="1"/>
          <p:nvPr/>
        </p:nvSpPr>
        <p:spPr>
          <a:xfrm>
            <a:off x="1463040" y="3493008"/>
            <a:ext cx="9966960" cy="502920"/>
          </a:xfrm>
          <a:prstGeom prst="rect">
            <a:avLst/>
          </a:prstGeom>
          <a:noFill/>
          <a:ln/>
        </p:spPr>
        <p:txBody>
          <a:bodyPr wrap="square" lIns="0" tIns="0" rIns="0" bIns="0" rtlCol="0" anchor="ctr"/>
          <a:lstStyle/>
          <a:p>
            <a:pPr indent="0" marL="0">
              <a:buNone/>
            </a:pPr>
            <a:r>
              <a:rPr lang="en-US" sz="1800" dirty="0">
                <a:solidFill>
                  <a:schemeClr val="bg1"/>
                </a:solidFill>
              </a:rPr>
              <a:t>Move retrieval to OpenSearch Serverless or Bedrock Knowledge Bases with revision-aware sync</a:t>
            </a:r>
            <a:endParaRPr lang="en-US" sz="1800" dirty="0"/>
          </a:p>
        </p:txBody>
      </p:sp>
      <p:sp>
        <p:nvSpPr>
          <p:cNvPr id="10" name="Shape 8"/>
          <p:cNvSpPr/>
          <p:nvPr/>
        </p:nvSpPr>
        <p:spPr>
          <a:xfrm>
            <a:off x="731520" y="4242816"/>
            <a:ext cx="502920" cy="502920"/>
          </a:xfrm>
          <a:prstGeom prst="ellipse">
            <a:avLst/>
          </a:prstGeom>
          <a:solidFill>
            <a:schemeClr val="accent1"/>
          </a:solidFill>
          <a:ln w="12700">
            <a:solidFill>
              <a:schemeClr val="accent1"/>
            </a:solidFill>
            <a:prstDash val="solid"/>
          </a:ln>
        </p:spPr>
      </p:sp>
      <p:sp>
        <p:nvSpPr>
          <p:cNvPr id="11" name="Text 9"/>
          <p:cNvSpPr txBox="1"/>
          <p:nvPr/>
        </p:nvSpPr>
        <p:spPr>
          <a:xfrm>
            <a:off x="731520" y="424281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2" name="Text 10"/>
          <p:cNvSpPr txBox="1"/>
          <p:nvPr/>
        </p:nvSpPr>
        <p:spPr>
          <a:xfrm>
            <a:off x="1463040" y="4242816"/>
            <a:ext cx="9966960" cy="502920"/>
          </a:xfrm>
          <a:prstGeom prst="rect">
            <a:avLst/>
          </a:prstGeom>
          <a:noFill/>
          <a:ln/>
        </p:spPr>
        <p:txBody>
          <a:bodyPr wrap="square" lIns="0" tIns="0" rIns="0" bIns="0" rtlCol="0" anchor="ctr"/>
          <a:lstStyle/>
          <a:p>
            <a:pPr indent="0" marL="0">
              <a:buNone/>
            </a:pPr>
            <a:r>
              <a:rPr lang="en-US" sz="1800" dirty="0">
                <a:solidFill>
                  <a:schemeClr val="bg1"/>
                </a:solidFill>
              </a:rPr>
              <a:t>Multi-turn follow-ups (LangGraph checkpointer); domain sub-agents with CMMS / MES tools</a:t>
            </a:r>
            <a:endParaRPr lang="en-US" sz="1800" dirty="0"/>
          </a:p>
        </p:txBody>
      </p:sp>
      <p:sp>
        <p:nvSpPr>
          <p:cNvPr id="13" name="Shape 11"/>
          <p:cNvSpPr/>
          <p:nvPr/>
        </p:nvSpPr>
        <p:spPr>
          <a:xfrm>
            <a:off x="731520" y="4992624"/>
            <a:ext cx="502920" cy="502920"/>
          </a:xfrm>
          <a:prstGeom prst="ellipse">
            <a:avLst/>
          </a:prstGeom>
          <a:solidFill>
            <a:schemeClr val="accent1"/>
          </a:solidFill>
          <a:ln w="12700">
            <a:solidFill>
              <a:schemeClr val="accent1"/>
            </a:solidFill>
            <a:prstDash val="solid"/>
          </a:ln>
        </p:spPr>
      </p:sp>
      <p:sp>
        <p:nvSpPr>
          <p:cNvPr id="14" name="Text 12"/>
          <p:cNvSpPr txBox="1"/>
          <p:nvPr/>
        </p:nvSpPr>
        <p:spPr>
          <a:xfrm>
            <a:off x="731520" y="499262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5" name="Text 13"/>
          <p:cNvSpPr txBox="1"/>
          <p:nvPr/>
        </p:nvSpPr>
        <p:spPr>
          <a:xfrm>
            <a:off x="1463040" y="4992624"/>
            <a:ext cx="9966960" cy="502920"/>
          </a:xfrm>
          <a:prstGeom prst="rect">
            <a:avLst/>
          </a:prstGeom>
          <a:noFill/>
          <a:ln/>
        </p:spPr>
        <p:txBody>
          <a:bodyPr wrap="square" lIns="0" tIns="0" rIns="0" bIns="0" rtlCol="0" anchor="ctr"/>
          <a:lstStyle/>
          <a:p>
            <a:pPr indent="0" marL="0">
              <a:buNone/>
            </a:pPr>
            <a:r>
              <a:rPr lang="en-US" sz="1800" dirty="0">
                <a:solidFill>
                  <a:schemeClr val="bg1"/>
                </a:solidFill>
              </a:rPr>
              <a:t>Supervisor thumbs-up/down feeding LangSmith evaluations in CI</a:t>
            </a:r>
            <a:endParaRPr lang="en-US" sz="1800" dirty="0"/>
          </a:p>
        </p:txBody>
      </p:sp>
      <p:sp>
        <p:nvSpPr>
          <p:cNvPr id="16" name="Shape 14"/>
          <p:cNvSpPr/>
          <p:nvPr/>
        </p:nvSpPr>
        <p:spPr>
          <a:xfrm>
            <a:off x="731520" y="5742432"/>
            <a:ext cx="502920" cy="502920"/>
          </a:xfrm>
          <a:prstGeom prst="ellipse">
            <a:avLst/>
          </a:prstGeom>
          <a:solidFill>
            <a:schemeClr val="accent1"/>
          </a:solidFill>
          <a:ln w="12700">
            <a:solidFill>
              <a:schemeClr val="accent1"/>
            </a:solidFill>
            <a:prstDash val="solid"/>
          </a:ln>
        </p:spPr>
      </p:sp>
      <p:sp>
        <p:nvSpPr>
          <p:cNvPr id="17" name="Text 15"/>
          <p:cNvSpPr txBox="1"/>
          <p:nvPr/>
        </p:nvSpPr>
        <p:spPr>
          <a:xfrm>
            <a:off x="731520" y="574243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8" name="Text 16"/>
          <p:cNvSpPr txBox="1"/>
          <p:nvPr/>
        </p:nvSpPr>
        <p:spPr>
          <a:xfrm>
            <a:off x="1463040" y="5742432"/>
            <a:ext cx="9966960" cy="502920"/>
          </a:xfrm>
          <a:prstGeom prst="rect">
            <a:avLst/>
          </a:prstGeom>
          <a:noFill/>
          <a:ln/>
        </p:spPr>
        <p:txBody>
          <a:bodyPr wrap="square" lIns="0" tIns="0" rIns="0" bIns="0" rtlCol="0" anchor="ctr"/>
          <a:lstStyle/>
          <a:p>
            <a:pPr indent="0" marL="0">
              <a:buNone/>
            </a:pPr>
            <a:r>
              <a:rPr lang="en-US" sz="1800" dirty="0">
                <a:solidFill>
                  <a:schemeClr val="bg1"/>
                </a:solidFill>
              </a:rPr>
              <a:t>SSO, role-based document access and Bedrock Guardrails</a:t>
            </a:r>
            <a:endParaRPr lang="en-US" sz="1800" dirty="0"/>
          </a:p>
        </p:txBody>
      </p:sp>
    </p:spTree>
  </p:cSld>
  <p:clrMapOvr>
    <a:masterClrMapping/>
  </p:clrMapOvr>
</p:sld>
</file>

<file path=ppt/theme/theme1.xml><?xml version="1.0" encoding="utf-8"?>
<a:theme xmlns:a="http://schemas.openxmlformats.org/drawingml/2006/main" name="PlantAssist Industrial">
  <a:themeElements>
    <a:clrScheme name="PlantAssist Industrial">
      <a:dk1>
        <a:srgbClr val="1B2430"/>
      </a:dk1>
      <a:lt1>
        <a:srgbClr val="FFFFFF"/>
      </a:lt1>
      <a:dk2>
        <a:srgbClr val="24303D"/>
      </a:dk2>
      <a:lt2>
        <a:srgbClr val="EEF1F4"/>
      </a:lt2>
      <a:accent1>
        <a:srgbClr val="F2A900"/>
      </a:accent1>
      <a:accent2>
        <a:srgbClr val="D64933"/>
      </a:accent2>
      <a:accent3>
        <a:srgbClr val="2D7DD2"/>
      </a:accent3>
      <a:accent4>
        <a:srgbClr val="2E9E6B"/>
      </a:accent4>
      <a:accent5>
        <a:srgbClr val="6B7785"/>
      </a:accent5>
      <a:accent6>
        <a:srgbClr val="7A5CC4"/>
      </a:accent6>
      <a:hlink>
        <a:srgbClr val="2D7DD2"/>
      </a:hlink>
      <a:folHlink>
        <a:srgbClr val="7A5CC4"/>
      </a:folHlink>
    </a:clrScheme>
    <a:fontScheme name="PlantAssist Industria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PlantAssist - Architecture and Flow</dc:title>
  <dc:subject>PptxGenJS Presentation</dc:subject>
  <dc:creator>PlantAssist prototype</dc:creator>
  <cp:lastModifiedBy>PlantAssist prototype</cp:lastModifiedBy>
  <cp:revision>1</cp:revision>
  <dcterms:created xsi:type="dcterms:W3CDTF">2026-10-11T05:10:34Z</dcterms:created>
  <dcterms:modified xsi:type="dcterms:W3CDTF">2026-10-11T05:10:34Z</dcterms:modified>
</cp:coreProperties>
</file>